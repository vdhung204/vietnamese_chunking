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0"/>
  </p:normalViewPr>
  <p:slideViewPr>
    <p:cSldViewPr snapToGrid="0" snapToObjects="1">
      <p:cViewPr>
        <p:scale>
          <a:sx n="125" d="100"/>
          <a:sy n="125" d="100"/>
        </p:scale>
        <p:origin x="3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47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F766E"/>
          </a:solidFill>
          <a:ln w="12700">
            <a:solidFill>
              <a:srgbClr val="0F766E"/>
            </a:solidFill>
            <a:prstDash val="solid"/>
          </a:ln>
        </p:spPr>
      </p:sp>
      <p:sp>
        <p:nvSpPr>
          <p:cNvPr id="3" name="Text 1"/>
          <p:cNvSpPr/>
          <p:nvPr/>
        </p:nvSpPr>
        <p:spPr>
          <a:xfrm>
            <a:off x="502920" y="6492240"/>
            <a:ext cx="5303520" cy="164592"/>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Vietnamese Semantic Chunking for RAG</a:t>
            </a:r>
            <a:endParaRPr lang="en-US" sz="900" dirty="0"/>
          </a:p>
        </p:txBody>
      </p:sp>
      <p:sp>
        <p:nvSpPr>
          <p:cNvPr id="4" name="Text 2"/>
          <p:cNvSpPr/>
          <p:nvPr/>
        </p:nvSpPr>
        <p:spPr>
          <a:xfrm>
            <a:off x="10607040" y="6492240"/>
            <a:ext cx="1051560" cy="164592"/>
          </a:xfrm>
          <a:prstGeom prst="rect">
            <a:avLst/>
          </a:prstGeom>
          <a:noFill/>
          <a:ln/>
        </p:spPr>
        <p:txBody>
          <a:bodyPr wrap="square" lIns="0" tIns="0" rIns="0" bIns="0" rtlCol="0" anchor="ctr"/>
          <a:lstStyle/>
          <a:p>
            <a:pPr marL="0" indent="0" algn="r">
              <a:buNone/>
            </a:pPr>
            <a:r>
              <a:rPr lang="en-US" sz="900" dirty="0">
                <a:solidFill>
                  <a:srgbClr val="9CA3AF"/>
                </a:solidFill>
                <a:latin typeface="Arial" pitchFamily="34" charset="0"/>
                <a:ea typeface="Arial" pitchFamily="34" charset="-122"/>
                <a:cs typeface="Arial" pitchFamily="34" charset="-120"/>
              </a:rPr>
              <a:t>BTL NLP</a:t>
            </a:r>
            <a:endParaRPr lang="en-US" sz="900"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46304"/>
          </a:xfrm>
          <a:prstGeom prst="rect">
            <a:avLst/>
          </a:prstGeom>
          <a:solidFill>
            <a:srgbClr val="0F766E"/>
          </a:solidFill>
          <a:ln w="12700">
            <a:solidFill>
              <a:srgbClr val="0F766E"/>
            </a:solidFill>
            <a:prstDash val="solid"/>
          </a:ln>
        </p:spPr>
      </p:sp>
      <p:sp>
        <p:nvSpPr>
          <p:cNvPr id="4" name="Text 2"/>
          <p:cNvSpPr/>
          <p:nvPr/>
        </p:nvSpPr>
        <p:spPr>
          <a:xfrm>
            <a:off x="731520" y="1234440"/>
            <a:ext cx="10744200" cy="1280160"/>
          </a:xfrm>
          <a:prstGeom prst="rect">
            <a:avLst/>
          </a:prstGeom>
          <a:noFill/>
          <a:ln/>
        </p:spPr>
        <p:txBody>
          <a:bodyPr wrap="square" lIns="0" tIns="0" rIns="0" bIns="0" rtlCol="0" anchor="ctr"/>
          <a:lstStyle/>
          <a:p>
            <a:pPr marL="0" indent="0" algn="ctr">
              <a:buNone/>
            </a:pPr>
            <a:r>
              <a:rPr lang="en-US" sz="3000" b="1" dirty="0">
                <a:solidFill>
                  <a:srgbClr val="0F172A"/>
                </a:solidFill>
              </a:rPr>
              <a:t>CẢI TIẾN PHÂN ĐOẠN VĂN BẢN TIẾNG VIỆT</a:t>
            </a:r>
            <a:endParaRPr lang="en-US" sz="3000" dirty="0"/>
          </a:p>
          <a:p>
            <a:pPr marL="0" indent="0" algn="ctr">
              <a:buNone/>
            </a:pPr>
            <a:r>
              <a:rPr lang="en-US" sz="3000" b="1" dirty="0">
                <a:solidFill>
                  <a:srgbClr val="0F172A"/>
                </a:solidFill>
              </a:rPr>
              <a:t>DỰA TRÊN NGỮ NGHĨA</a:t>
            </a:r>
            <a:endParaRPr lang="en-US" sz="3000" dirty="0"/>
          </a:p>
        </p:txBody>
      </p:sp>
      <p:sp>
        <p:nvSpPr>
          <p:cNvPr id="5" name="Text 3"/>
          <p:cNvSpPr/>
          <p:nvPr/>
        </p:nvSpPr>
        <p:spPr>
          <a:xfrm>
            <a:off x="1097280" y="2788920"/>
            <a:ext cx="10012680" cy="502920"/>
          </a:xfrm>
          <a:prstGeom prst="rect">
            <a:avLst/>
          </a:prstGeom>
          <a:noFill/>
          <a:ln/>
        </p:spPr>
        <p:txBody>
          <a:bodyPr wrap="square" lIns="0" tIns="0" rIns="0" bIns="0" rtlCol="0" anchor="ctr"/>
          <a:lstStyle/>
          <a:p>
            <a:pPr marL="0" indent="0" algn="ctr">
              <a:buNone/>
            </a:pPr>
            <a:r>
              <a:rPr lang="en-US" sz="2000" dirty="0">
                <a:solidFill>
                  <a:srgbClr val="0F766E"/>
                </a:solidFill>
              </a:rPr>
              <a:t>Nhằm hạn chế mất thông tin tại ranh giới chunk trong truy xuất RAG</a:t>
            </a:r>
            <a:endParaRPr lang="en-US" sz="2000" dirty="0"/>
          </a:p>
        </p:txBody>
      </p:sp>
      <p:sp>
        <p:nvSpPr>
          <p:cNvPr id="6" name="Shape 4"/>
          <p:cNvSpPr/>
          <p:nvPr/>
        </p:nvSpPr>
        <p:spPr>
          <a:xfrm>
            <a:off x="3566160" y="3611880"/>
            <a:ext cx="5074920" cy="0"/>
          </a:xfrm>
          <a:prstGeom prst="line">
            <a:avLst/>
          </a:prstGeom>
          <a:noFill/>
          <a:ln w="25400">
            <a:solidFill>
              <a:srgbClr val="99F6E4"/>
            </a:solidFill>
            <a:prstDash val="solid"/>
          </a:ln>
        </p:spPr>
      </p:sp>
      <p:sp>
        <p:nvSpPr>
          <p:cNvPr id="7" name="Text 5"/>
          <p:cNvSpPr/>
          <p:nvPr/>
        </p:nvSpPr>
        <p:spPr>
          <a:xfrm>
            <a:off x="1417320" y="3977640"/>
            <a:ext cx="9326880" cy="822960"/>
          </a:xfrm>
          <a:prstGeom prst="rect">
            <a:avLst/>
          </a:prstGeom>
          <a:noFill/>
          <a:ln/>
        </p:spPr>
        <p:txBody>
          <a:bodyPr wrap="square" lIns="0" tIns="0" rIns="0" bIns="0" rtlCol="0" anchor="ctr"/>
          <a:lstStyle/>
          <a:p>
            <a:pPr marL="0" indent="0" algn="ctr">
              <a:buNone/>
            </a:pPr>
            <a:r>
              <a:rPr lang="en-US" sz="1600" dirty="0">
                <a:solidFill>
                  <a:srgbClr val="1F2937"/>
                </a:solidFill>
              </a:rPr>
              <a:t>So sánh với Max–Min Semantic Chunking (Kiss, Nagy &amp; Szilágyi, 2025)</a:t>
            </a:r>
            <a:endParaRPr lang="en-US" sz="1600" dirty="0"/>
          </a:p>
          <a:p>
            <a:pPr marL="0" indent="0" algn="ctr">
              <a:buNone/>
            </a:pPr>
            <a:r>
              <a:rPr lang="en-US" sz="1600" dirty="0">
                <a:solidFill>
                  <a:srgbClr val="1F2937"/>
                </a:solidFill>
              </a:rPr>
              <a:t>Đánh giá trên XQuAD tiếng Việt</a:t>
            </a:r>
            <a:endParaRPr lang="en-US" sz="1600" dirty="0"/>
          </a:p>
        </p:txBody>
      </p:sp>
      <p:sp>
        <p:nvSpPr>
          <p:cNvPr id="8" name="Text 6"/>
          <p:cNvSpPr/>
          <p:nvPr/>
        </p:nvSpPr>
        <p:spPr>
          <a:xfrm>
            <a:off x="4297680" y="5806440"/>
            <a:ext cx="3566160" cy="274320"/>
          </a:xfrm>
          <a:prstGeom prst="rect">
            <a:avLst/>
          </a:prstGeom>
          <a:noFill/>
          <a:ln/>
        </p:spPr>
        <p:txBody>
          <a:bodyPr wrap="square" lIns="0" tIns="0" rIns="0" bIns="0" rtlCol="0" anchor="ctr"/>
          <a:lstStyle/>
          <a:p>
            <a:pPr marL="0" indent="0" algn="ctr">
              <a:buNone/>
            </a:pPr>
            <a:r>
              <a:rPr lang="en-US" sz="1200" b="1" dirty="0">
                <a:solidFill>
                  <a:srgbClr val="6B7280"/>
                </a:solidFill>
              </a:rPr>
              <a:t>BÁO CÁO BTL NLP</a:t>
            </a:r>
            <a:endParaRPr lang="en-US" sz="1200"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Nội dung trình bày</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Tóm tắt toàn bộ báo cáo theo 5 phần chính</a:t>
            </a:r>
            <a:endParaRPr lang="en-US" sz="1300" dirty="0"/>
          </a:p>
        </p:txBody>
      </p:sp>
      <p:sp>
        <p:nvSpPr>
          <p:cNvPr id="4" name="Shape 2"/>
          <p:cNvSpPr/>
          <p:nvPr/>
        </p:nvSpPr>
        <p:spPr>
          <a:xfrm>
            <a:off x="822960" y="1417320"/>
            <a:ext cx="10515600" cy="749808"/>
          </a:xfrm>
          <a:prstGeom prst="roundRect">
            <a:avLst>
              <a:gd name="adj" fmla="val 4878"/>
            </a:avLst>
          </a:prstGeom>
          <a:solidFill>
            <a:srgbClr val="F8FAFC"/>
          </a:solidFill>
          <a:ln w="12700">
            <a:solidFill>
              <a:srgbClr val="E5E7EB"/>
            </a:solidFill>
            <a:prstDash val="solid"/>
          </a:ln>
        </p:spPr>
        <p:txBody>
          <a:bodyPr/>
          <a:lstStyle/>
          <a:p>
            <a:endParaRPr dirty="0"/>
          </a:p>
        </p:txBody>
      </p:sp>
      <p:sp>
        <p:nvSpPr>
          <p:cNvPr id="5" name="Text 3"/>
          <p:cNvSpPr/>
          <p:nvPr/>
        </p:nvSpPr>
        <p:spPr>
          <a:xfrm>
            <a:off x="1051560" y="1554480"/>
            <a:ext cx="594360" cy="310896"/>
          </a:xfrm>
          <a:prstGeom prst="rect">
            <a:avLst/>
          </a:prstGeom>
          <a:noFill/>
          <a:ln/>
        </p:spPr>
        <p:txBody>
          <a:bodyPr wrap="square" lIns="0" tIns="0" rIns="0" bIns="0" rtlCol="0" anchor="ctr"/>
          <a:lstStyle/>
          <a:p>
            <a:pPr marL="0" indent="0" algn="ctr">
              <a:buNone/>
            </a:pPr>
            <a:r>
              <a:rPr lang="en-US" sz="2000" b="1" dirty="0">
                <a:solidFill>
                  <a:srgbClr val="0F766E"/>
                </a:solidFill>
              </a:rPr>
              <a:t>01</a:t>
            </a:r>
            <a:endParaRPr lang="en-US" sz="2000" dirty="0"/>
          </a:p>
        </p:txBody>
      </p:sp>
      <p:sp>
        <p:nvSpPr>
          <p:cNvPr id="6" name="Text 4"/>
          <p:cNvSpPr/>
          <p:nvPr/>
        </p:nvSpPr>
        <p:spPr>
          <a:xfrm>
            <a:off x="1828800" y="1536192"/>
            <a:ext cx="3017520" cy="256032"/>
          </a:xfrm>
          <a:prstGeom prst="rect">
            <a:avLst/>
          </a:prstGeom>
          <a:noFill/>
          <a:ln/>
        </p:spPr>
        <p:txBody>
          <a:bodyPr wrap="square" lIns="0" tIns="0" rIns="0" bIns="0" rtlCol="0" anchor="ctr"/>
          <a:lstStyle/>
          <a:p>
            <a:pPr marL="0" indent="0">
              <a:buNone/>
            </a:pPr>
            <a:r>
              <a:rPr lang="en-US" sz="1700" b="1" dirty="0">
                <a:solidFill>
                  <a:srgbClr val="0F172A"/>
                </a:solidFill>
              </a:rPr>
              <a:t>Bài toán &amp; mục tiêu</a:t>
            </a:r>
            <a:endParaRPr lang="en-US" sz="1700" dirty="0"/>
          </a:p>
        </p:txBody>
      </p:sp>
      <p:sp>
        <p:nvSpPr>
          <p:cNvPr id="7" name="Text 5"/>
          <p:cNvSpPr/>
          <p:nvPr/>
        </p:nvSpPr>
        <p:spPr>
          <a:xfrm>
            <a:off x="5029200" y="1536192"/>
            <a:ext cx="5897880" cy="384048"/>
          </a:xfrm>
          <a:prstGeom prst="rect">
            <a:avLst/>
          </a:prstGeom>
          <a:noFill/>
          <a:ln/>
        </p:spPr>
        <p:txBody>
          <a:bodyPr wrap="square" lIns="0" tIns="0" rIns="0" bIns="0" rtlCol="0" anchor="ctr"/>
          <a:lstStyle/>
          <a:p>
            <a:pPr marL="0" indent="0">
              <a:buNone/>
            </a:pPr>
            <a:r>
              <a:rPr lang="en-US" dirty="0">
                <a:solidFill>
                  <a:srgbClr val="1F2937"/>
                </a:solidFill>
              </a:rPr>
              <a:t>Vì sao chunking ảnh hưởng retrieval trong RAG?</a:t>
            </a:r>
            <a:endParaRPr lang="en-US" dirty="0"/>
          </a:p>
        </p:txBody>
      </p:sp>
      <p:sp>
        <p:nvSpPr>
          <p:cNvPr id="8" name="Shape 6"/>
          <p:cNvSpPr/>
          <p:nvPr/>
        </p:nvSpPr>
        <p:spPr>
          <a:xfrm>
            <a:off x="822960" y="2286000"/>
            <a:ext cx="10515600" cy="749808"/>
          </a:xfrm>
          <a:prstGeom prst="roundRect">
            <a:avLst>
              <a:gd name="adj" fmla="val 4878"/>
            </a:avLst>
          </a:prstGeom>
          <a:solidFill>
            <a:srgbClr val="FFFFFF"/>
          </a:solidFill>
          <a:ln w="12700">
            <a:solidFill>
              <a:srgbClr val="E5E7EB"/>
            </a:solidFill>
            <a:prstDash val="solid"/>
          </a:ln>
        </p:spPr>
        <p:txBody>
          <a:bodyPr/>
          <a:lstStyle/>
          <a:p>
            <a:endParaRPr/>
          </a:p>
        </p:txBody>
      </p:sp>
      <p:sp>
        <p:nvSpPr>
          <p:cNvPr id="9" name="Text 7"/>
          <p:cNvSpPr/>
          <p:nvPr/>
        </p:nvSpPr>
        <p:spPr>
          <a:xfrm>
            <a:off x="1051560" y="2423160"/>
            <a:ext cx="594360" cy="310896"/>
          </a:xfrm>
          <a:prstGeom prst="rect">
            <a:avLst/>
          </a:prstGeom>
          <a:noFill/>
          <a:ln/>
        </p:spPr>
        <p:txBody>
          <a:bodyPr wrap="square" lIns="0" tIns="0" rIns="0" bIns="0" rtlCol="0" anchor="ctr"/>
          <a:lstStyle/>
          <a:p>
            <a:pPr marL="0" indent="0" algn="ctr">
              <a:buNone/>
            </a:pPr>
            <a:r>
              <a:rPr lang="en-US" sz="2000" b="1" dirty="0">
                <a:solidFill>
                  <a:srgbClr val="0F766E"/>
                </a:solidFill>
              </a:rPr>
              <a:t>02</a:t>
            </a:r>
            <a:endParaRPr lang="en-US" sz="2000" dirty="0"/>
          </a:p>
        </p:txBody>
      </p:sp>
      <p:sp>
        <p:nvSpPr>
          <p:cNvPr id="10" name="Text 8"/>
          <p:cNvSpPr/>
          <p:nvPr/>
        </p:nvSpPr>
        <p:spPr>
          <a:xfrm>
            <a:off x="1828800" y="2404872"/>
            <a:ext cx="3017520" cy="256032"/>
          </a:xfrm>
          <a:prstGeom prst="rect">
            <a:avLst/>
          </a:prstGeom>
          <a:noFill/>
          <a:ln/>
        </p:spPr>
        <p:txBody>
          <a:bodyPr wrap="square" lIns="0" tIns="0" rIns="0" bIns="0" rtlCol="0" anchor="ctr"/>
          <a:lstStyle/>
          <a:p>
            <a:pPr marL="0" indent="0">
              <a:buNone/>
            </a:pPr>
            <a:r>
              <a:rPr lang="en-US" sz="1700" b="1" dirty="0">
                <a:solidFill>
                  <a:srgbClr val="0F172A"/>
                </a:solidFill>
              </a:rPr>
              <a:t>Phương pháp đề xuất</a:t>
            </a:r>
            <a:endParaRPr lang="en-US" sz="1700" dirty="0"/>
          </a:p>
        </p:txBody>
      </p:sp>
      <p:sp>
        <p:nvSpPr>
          <p:cNvPr id="11" name="Text 9"/>
          <p:cNvSpPr/>
          <p:nvPr/>
        </p:nvSpPr>
        <p:spPr>
          <a:xfrm>
            <a:off x="5029200" y="2404872"/>
            <a:ext cx="5897880" cy="384048"/>
          </a:xfrm>
          <a:prstGeom prst="rect">
            <a:avLst/>
          </a:prstGeom>
          <a:noFill/>
          <a:ln/>
        </p:spPr>
        <p:txBody>
          <a:bodyPr wrap="square" lIns="0" tIns="0" rIns="0" bIns="0" rtlCol="0" anchor="ctr"/>
          <a:lstStyle/>
          <a:p>
            <a:pPr marL="0" indent="0">
              <a:buNone/>
            </a:pPr>
            <a:r>
              <a:rPr lang="en-US" dirty="0">
                <a:solidFill>
                  <a:srgbClr val="1F2937"/>
                </a:solidFill>
              </a:rPr>
              <a:t>Semantic drop + size + dependency + overlap động</a:t>
            </a:r>
            <a:endParaRPr lang="en-US" dirty="0"/>
          </a:p>
        </p:txBody>
      </p:sp>
      <p:sp>
        <p:nvSpPr>
          <p:cNvPr id="12" name="Shape 10"/>
          <p:cNvSpPr/>
          <p:nvPr/>
        </p:nvSpPr>
        <p:spPr>
          <a:xfrm>
            <a:off x="822960" y="3154680"/>
            <a:ext cx="10515600" cy="749808"/>
          </a:xfrm>
          <a:prstGeom prst="roundRect">
            <a:avLst>
              <a:gd name="adj" fmla="val 4878"/>
            </a:avLst>
          </a:prstGeom>
          <a:solidFill>
            <a:srgbClr val="F8FAFC"/>
          </a:solidFill>
          <a:ln w="12700">
            <a:solidFill>
              <a:srgbClr val="E5E7EB"/>
            </a:solidFill>
            <a:prstDash val="solid"/>
          </a:ln>
        </p:spPr>
        <p:txBody>
          <a:bodyPr/>
          <a:lstStyle/>
          <a:p>
            <a:endParaRPr/>
          </a:p>
        </p:txBody>
      </p:sp>
      <p:sp>
        <p:nvSpPr>
          <p:cNvPr id="13" name="Text 11"/>
          <p:cNvSpPr/>
          <p:nvPr/>
        </p:nvSpPr>
        <p:spPr>
          <a:xfrm>
            <a:off x="1051560" y="3291840"/>
            <a:ext cx="594360" cy="310896"/>
          </a:xfrm>
          <a:prstGeom prst="rect">
            <a:avLst/>
          </a:prstGeom>
          <a:noFill/>
          <a:ln/>
        </p:spPr>
        <p:txBody>
          <a:bodyPr wrap="square" lIns="0" tIns="0" rIns="0" bIns="0" rtlCol="0" anchor="ctr"/>
          <a:lstStyle/>
          <a:p>
            <a:pPr marL="0" indent="0" algn="ctr">
              <a:buNone/>
            </a:pPr>
            <a:r>
              <a:rPr lang="en-US" sz="2000" b="1" dirty="0">
                <a:solidFill>
                  <a:srgbClr val="0F766E"/>
                </a:solidFill>
              </a:rPr>
              <a:t>03</a:t>
            </a:r>
            <a:endParaRPr lang="en-US" sz="2000" dirty="0"/>
          </a:p>
        </p:txBody>
      </p:sp>
      <p:sp>
        <p:nvSpPr>
          <p:cNvPr id="14" name="Text 12"/>
          <p:cNvSpPr/>
          <p:nvPr/>
        </p:nvSpPr>
        <p:spPr>
          <a:xfrm>
            <a:off x="1828800" y="3273552"/>
            <a:ext cx="3017520" cy="256032"/>
          </a:xfrm>
          <a:prstGeom prst="rect">
            <a:avLst/>
          </a:prstGeom>
          <a:noFill/>
          <a:ln/>
        </p:spPr>
        <p:txBody>
          <a:bodyPr wrap="square" lIns="0" tIns="0" rIns="0" bIns="0" rtlCol="0" anchor="ctr"/>
          <a:lstStyle/>
          <a:p>
            <a:pPr marL="0" indent="0">
              <a:buNone/>
            </a:pPr>
            <a:r>
              <a:rPr lang="en-US" sz="1700" b="1" dirty="0">
                <a:solidFill>
                  <a:srgbClr val="0F172A"/>
                </a:solidFill>
              </a:rPr>
              <a:t>Baseline &amp; thiết kế thực nghiệm</a:t>
            </a:r>
            <a:endParaRPr lang="en-US" sz="1700" dirty="0"/>
          </a:p>
        </p:txBody>
      </p:sp>
      <p:sp>
        <p:nvSpPr>
          <p:cNvPr id="15" name="Text 13"/>
          <p:cNvSpPr/>
          <p:nvPr/>
        </p:nvSpPr>
        <p:spPr>
          <a:xfrm>
            <a:off x="5029200" y="3273552"/>
            <a:ext cx="5897880" cy="384048"/>
          </a:xfrm>
          <a:prstGeom prst="rect">
            <a:avLst/>
          </a:prstGeom>
          <a:noFill/>
          <a:ln/>
        </p:spPr>
        <p:txBody>
          <a:bodyPr wrap="square" lIns="0" tIns="0" rIns="0" bIns="0" rtlCol="0" anchor="ctr"/>
          <a:lstStyle/>
          <a:p>
            <a:r>
              <a:rPr dirty="0" err="1"/>
              <a:t>Bài</a:t>
            </a:r>
            <a:r>
              <a:rPr dirty="0"/>
              <a:t> </a:t>
            </a:r>
            <a:r>
              <a:rPr dirty="0" err="1"/>
              <a:t>báo</a:t>
            </a:r>
            <a:r>
              <a:rPr dirty="0"/>
              <a:t> Max–Min 2025, </a:t>
            </a:r>
            <a:r>
              <a:rPr dirty="0" err="1"/>
              <a:t>XQuAD</a:t>
            </a:r>
            <a:r>
              <a:rPr dirty="0"/>
              <a:t> </a:t>
            </a:r>
            <a:r>
              <a:rPr dirty="0" err="1"/>
              <a:t>tiếng</a:t>
            </a:r>
            <a:r>
              <a:rPr dirty="0"/>
              <a:t> Việt </a:t>
            </a:r>
            <a:r>
              <a:rPr dirty="0" err="1"/>
              <a:t>và</a:t>
            </a:r>
            <a:r>
              <a:rPr dirty="0"/>
              <a:t> </a:t>
            </a:r>
            <a:r>
              <a:rPr dirty="0" err="1"/>
              <a:t>cách</a:t>
            </a:r>
            <a:r>
              <a:rPr dirty="0"/>
              <a:t> so </a:t>
            </a:r>
            <a:r>
              <a:rPr dirty="0" err="1"/>
              <a:t>sánh</a:t>
            </a:r>
            <a:r>
              <a:rPr dirty="0"/>
              <a:t> </a:t>
            </a:r>
            <a:r>
              <a:rPr dirty="0" err="1"/>
              <a:t>công</a:t>
            </a:r>
            <a:r>
              <a:rPr dirty="0"/>
              <a:t> </a:t>
            </a:r>
            <a:r>
              <a:rPr dirty="0" err="1"/>
              <a:t>bằng</a:t>
            </a:r>
            <a:endParaRPr dirty="0"/>
          </a:p>
        </p:txBody>
      </p:sp>
      <p:sp>
        <p:nvSpPr>
          <p:cNvPr id="16" name="Shape 14"/>
          <p:cNvSpPr/>
          <p:nvPr/>
        </p:nvSpPr>
        <p:spPr>
          <a:xfrm>
            <a:off x="822960" y="4023360"/>
            <a:ext cx="10515600" cy="749808"/>
          </a:xfrm>
          <a:prstGeom prst="roundRect">
            <a:avLst>
              <a:gd name="adj" fmla="val 4878"/>
            </a:avLst>
          </a:prstGeom>
          <a:solidFill>
            <a:srgbClr val="FFFFFF"/>
          </a:solidFill>
          <a:ln w="12700">
            <a:solidFill>
              <a:srgbClr val="E5E7EB"/>
            </a:solidFill>
            <a:prstDash val="solid"/>
          </a:ln>
        </p:spPr>
        <p:txBody>
          <a:bodyPr/>
          <a:lstStyle/>
          <a:p>
            <a:endParaRPr/>
          </a:p>
        </p:txBody>
      </p:sp>
      <p:sp>
        <p:nvSpPr>
          <p:cNvPr id="17" name="Text 15"/>
          <p:cNvSpPr/>
          <p:nvPr/>
        </p:nvSpPr>
        <p:spPr>
          <a:xfrm>
            <a:off x="1051560" y="4160520"/>
            <a:ext cx="594360" cy="310896"/>
          </a:xfrm>
          <a:prstGeom prst="rect">
            <a:avLst/>
          </a:prstGeom>
          <a:noFill/>
          <a:ln/>
        </p:spPr>
        <p:txBody>
          <a:bodyPr wrap="square" lIns="0" tIns="0" rIns="0" bIns="0" rtlCol="0" anchor="ctr"/>
          <a:lstStyle/>
          <a:p>
            <a:pPr marL="0" indent="0" algn="ctr">
              <a:buNone/>
            </a:pPr>
            <a:r>
              <a:rPr lang="en-US" sz="2000" b="1" dirty="0">
                <a:solidFill>
                  <a:srgbClr val="0F766E"/>
                </a:solidFill>
              </a:rPr>
              <a:t>04</a:t>
            </a:r>
            <a:endParaRPr lang="en-US" sz="2000" dirty="0"/>
          </a:p>
        </p:txBody>
      </p:sp>
      <p:sp>
        <p:nvSpPr>
          <p:cNvPr id="18" name="Text 16"/>
          <p:cNvSpPr/>
          <p:nvPr/>
        </p:nvSpPr>
        <p:spPr>
          <a:xfrm>
            <a:off x="1828800" y="4142232"/>
            <a:ext cx="3017520" cy="256032"/>
          </a:xfrm>
          <a:prstGeom prst="rect">
            <a:avLst/>
          </a:prstGeom>
          <a:noFill/>
          <a:ln/>
        </p:spPr>
        <p:txBody>
          <a:bodyPr wrap="square" lIns="0" tIns="0" rIns="0" bIns="0" rtlCol="0" anchor="ctr"/>
          <a:lstStyle/>
          <a:p>
            <a:pPr marL="0" indent="0">
              <a:buNone/>
            </a:pPr>
            <a:r>
              <a:rPr lang="en-US" sz="1700" b="1" dirty="0">
                <a:solidFill>
                  <a:srgbClr val="0F172A"/>
                </a:solidFill>
              </a:rPr>
              <a:t>Kết quả &amp; phân tích</a:t>
            </a:r>
            <a:endParaRPr lang="en-US" sz="1700" dirty="0"/>
          </a:p>
        </p:txBody>
      </p:sp>
      <p:sp>
        <p:nvSpPr>
          <p:cNvPr id="19" name="Text 17"/>
          <p:cNvSpPr/>
          <p:nvPr/>
        </p:nvSpPr>
        <p:spPr>
          <a:xfrm>
            <a:off x="5029200" y="4142232"/>
            <a:ext cx="5897880" cy="384048"/>
          </a:xfrm>
          <a:prstGeom prst="rect">
            <a:avLst/>
          </a:prstGeom>
          <a:noFill/>
          <a:ln/>
        </p:spPr>
        <p:txBody>
          <a:bodyPr wrap="square" lIns="0" tIns="0" rIns="0" bIns="0" rtlCol="0" anchor="ctr"/>
          <a:lstStyle/>
          <a:p>
            <a:r>
              <a:t>Kết</a:t>
            </a:r>
            <a:r>
              <a:rPr dirty="0"/>
              <a:t> </a:t>
            </a:r>
            <a:r>
              <a:rPr dirty="0" err="1"/>
              <a:t>quả</a:t>
            </a:r>
            <a:r>
              <a:rPr dirty="0"/>
              <a:t> </a:t>
            </a:r>
            <a:r>
              <a:rPr dirty="0" err="1"/>
              <a:t>chính</a:t>
            </a:r>
            <a:r>
              <a:rPr dirty="0"/>
              <a:t>, </a:t>
            </a:r>
            <a:r>
              <a:rPr dirty="0" err="1"/>
              <a:t>lý</a:t>
            </a:r>
            <a:r>
              <a:rPr dirty="0"/>
              <a:t> do </a:t>
            </a:r>
            <a:r>
              <a:rPr dirty="0" err="1"/>
              <a:t>khác</a:t>
            </a:r>
            <a:r>
              <a:rPr dirty="0"/>
              <a:t> </a:t>
            </a:r>
            <a:r>
              <a:rPr dirty="0" err="1"/>
              <a:t>biệt</a:t>
            </a:r>
            <a:r>
              <a:rPr dirty="0"/>
              <a:t> </a:t>
            </a:r>
            <a:r>
              <a:rPr dirty="0" err="1"/>
              <a:t>và</a:t>
            </a:r>
            <a:r>
              <a:rPr dirty="0"/>
              <a:t> </a:t>
            </a:r>
            <a:r>
              <a:rPr dirty="0" err="1"/>
              <a:t>giới</a:t>
            </a:r>
            <a:r>
              <a:rPr dirty="0"/>
              <a:t> </a:t>
            </a:r>
            <a:r>
              <a:rPr dirty="0" err="1"/>
              <a:t>hạn</a:t>
            </a:r>
            <a:r>
              <a:rPr dirty="0"/>
              <a:t> </a:t>
            </a:r>
            <a:r>
              <a:rPr dirty="0" err="1"/>
              <a:t>của</a:t>
            </a:r>
            <a:r>
              <a:rPr dirty="0"/>
              <a:t> </a:t>
            </a:r>
            <a:r>
              <a:rPr dirty="0" err="1"/>
              <a:t>phương</a:t>
            </a:r>
            <a:r>
              <a:rPr dirty="0"/>
              <a:t> </a:t>
            </a:r>
            <a:r>
              <a:rPr dirty="0" err="1"/>
              <a:t>pháp</a:t>
            </a:r>
            <a:endParaRPr dirty="0"/>
          </a:p>
        </p:txBody>
      </p:sp>
      <p:sp>
        <p:nvSpPr>
          <p:cNvPr id="20" name="Shape 18"/>
          <p:cNvSpPr/>
          <p:nvPr/>
        </p:nvSpPr>
        <p:spPr>
          <a:xfrm>
            <a:off x="822960" y="4892040"/>
            <a:ext cx="10515600" cy="749808"/>
          </a:xfrm>
          <a:prstGeom prst="roundRect">
            <a:avLst>
              <a:gd name="adj" fmla="val 4878"/>
            </a:avLst>
          </a:prstGeom>
          <a:solidFill>
            <a:srgbClr val="F8FAFC"/>
          </a:solidFill>
          <a:ln w="12700">
            <a:solidFill>
              <a:srgbClr val="E5E7EB"/>
            </a:solidFill>
            <a:prstDash val="solid"/>
          </a:ln>
        </p:spPr>
        <p:txBody>
          <a:bodyPr/>
          <a:lstStyle/>
          <a:p>
            <a:endParaRPr/>
          </a:p>
        </p:txBody>
      </p:sp>
      <p:sp>
        <p:nvSpPr>
          <p:cNvPr id="21" name="Text 19"/>
          <p:cNvSpPr/>
          <p:nvPr/>
        </p:nvSpPr>
        <p:spPr>
          <a:xfrm>
            <a:off x="1051560" y="5029200"/>
            <a:ext cx="594360" cy="310896"/>
          </a:xfrm>
          <a:prstGeom prst="rect">
            <a:avLst/>
          </a:prstGeom>
          <a:noFill/>
          <a:ln/>
        </p:spPr>
        <p:txBody>
          <a:bodyPr wrap="square" lIns="0" tIns="0" rIns="0" bIns="0" rtlCol="0" anchor="ctr"/>
          <a:lstStyle/>
          <a:p>
            <a:pPr marL="0" indent="0" algn="ctr">
              <a:buNone/>
            </a:pPr>
            <a:r>
              <a:rPr lang="en-US" sz="2000" b="1" dirty="0">
                <a:solidFill>
                  <a:srgbClr val="0F766E"/>
                </a:solidFill>
              </a:rPr>
              <a:t>05</a:t>
            </a:r>
            <a:endParaRPr lang="en-US" sz="2000" dirty="0"/>
          </a:p>
        </p:txBody>
      </p:sp>
      <p:sp>
        <p:nvSpPr>
          <p:cNvPr id="22" name="Text 20"/>
          <p:cNvSpPr/>
          <p:nvPr/>
        </p:nvSpPr>
        <p:spPr>
          <a:xfrm>
            <a:off x="1828800" y="5010912"/>
            <a:ext cx="3017520" cy="256032"/>
          </a:xfrm>
          <a:prstGeom prst="rect">
            <a:avLst/>
          </a:prstGeom>
          <a:noFill/>
          <a:ln/>
        </p:spPr>
        <p:txBody>
          <a:bodyPr wrap="square" lIns="0" tIns="0" rIns="0" bIns="0" rtlCol="0" anchor="ctr"/>
          <a:lstStyle/>
          <a:p>
            <a:pPr marL="0" indent="0">
              <a:buNone/>
            </a:pPr>
            <a:r>
              <a:rPr lang="en-US" sz="1700" b="1" dirty="0">
                <a:solidFill>
                  <a:srgbClr val="0F172A"/>
                </a:solidFill>
              </a:rPr>
              <a:t>Kết luận &amp; hạn chế</a:t>
            </a:r>
            <a:endParaRPr lang="en-US" sz="1700" dirty="0"/>
          </a:p>
        </p:txBody>
      </p:sp>
      <p:sp>
        <p:nvSpPr>
          <p:cNvPr id="23" name="Text 21"/>
          <p:cNvSpPr/>
          <p:nvPr/>
        </p:nvSpPr>
        <p:spPr>
          <a:xfrm>
            <a:off x="5029200" y="5010912"/>
            <a:ext cx="5897880" cy="384048"/>
          </a:xfrm>
          <a:prstGeom prst="rect">
            <a:avLst/>
          </a:prstGeom>
          <a:noFill/>
          <a:ln/>
        </p:spPr>
        <p:txBody>
          <a:bodyPr wrap="square" lIns="0" tIns="0" rIns="0" bIns="0" rtlCol="0" anchor="ctr"/>
          <a:lstStyle/>
          <a:p>
            <a:pPr marL="0" indent="0">
              <a:buNone/>
            </a:pPr>
            <a:r>
              <a:rPr lang="en-US" dirty="0">
                <a:solidFill>
                  <a:srgbClr val="1F2937"/>
                </a:solidFill>
              </a:rPr>
              <a:t>Khi nào Ours tốt hơn? Khi nào chưa?</a:t>
            </a:r>
            <a:endParaRPr lang="en-US"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1. Bài toán nghiên cứu</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Chunking là bước quyết định chất lượng context trước khi retrieval</a:t>
            </a:r>
            <a:endParaRPr lang="en-US" sz="1300" dirty="0"/>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BÀI TOÁN</a:t>
            </a:r>
            <a:endParaRPr lang="en-US" sz="1100" dirty="0"/>
          </a:p>
        </p:txBody>
      </p:sp>
      <p:sp>
        <p:nvSpPr>
          <p:cNvPr id="6" name="Text 4"/>
          <p:cNvSpPr/>
          <p:nvPr/>
        </p:nvSpPr>
        <p:spPr>
          <a:xfrm>
            <a:off x="685800" y="1508760"/>
            <a:ext cx="5212080" cy="310896"/>
          </a:xfrm>
          <a:prstGeom prst="rect">
            <a:avLst/>
          </a:prstGeom>
          <a:noFill/>
          <a:ln/>
        </p:spPr>
        <p:txBody>
          <a:bodyPr wrap="square" lIns="0" tIns="0" rIns="0" bIns="0" rtlCol="0" anchor="ctr"/>
          <a:lstStyle/>
          <a:p>
            <a:pPr marL="0" indent="0" algn="ctr">
              <a:buNone/>
            </a:pPr>
            <a:r>
              <a:rPr lang="en-US" sz="1800" b="1" dirty="0">
                <a:solidFill>
                  <a:srgbClr val="0F172A"/>
                </a:solidFill>
              </a:rPr>
              <a:t>Rủi ro của chunking</a:t>
            </a:r>
            <a:endParaRPr lang="en-US" sz="1800" dirty="0"/>
          </a:p>
        </p:txBody>
      </p:sp>
      <p:sp>
        <p:nvSpPr>
          <p:cNvPr id="7" name="Text 5"/>
          <p:cNvSpPr/>
          <p:nvPr/>
        </p:nvSpPr>
        <p:spPr>
          <a:xfrm>
            <a:off x="6263640" y="1508760"/>
            <a:ext cx="5212080" cy="310896"/>
          </a:xfrm>
          <a:prstGeom prst="rect">
            <a:avLst/>
          </a:prstGeom>
          <a:noFill/>
          <a:ln/>
        </p:spPr>
        <p:txBody>
          <a:bodyPr wrap="square" lIns="0" tIns="0" rIns="0" bIns="0" rtlCol="0" anchor="ctr"/>
          <a:lstStyle/>
          <a:p>
            <a:pPr marL="0" indent="0" algn="ctr">
              <a:buNone/>
            </a:pPr>
            <a:r>
              <a:rPr lang="en-US" sz="1800" b="1" dirty="0">
                <a:solidFill>
                  <a:srgbClr val="0F766E"/>
                </a:solidFill>
              </a:rPr>
              <a:t>Đặc thù tiếng Việt</a:t>
            </a:r>
            <a:endParaRPr lang="en-US" sz="1800" dirty="0"/>
          </a:p>
        </p:txBody>
      </p:sp>
      <p:sp>
        <p:nvSpPr>
          <p:cNvPr id="8" name="Shape 6"/>
          <p:cNvSpPr/>
          <p:nvPr/>
        </p:nvSpPr>
        <p:spPr>
          <a:xfrm>
            <a:off x="6080760" y="1463040"/>
            <a:ext cx="0" cy="4480560"/>
          </a:xfrm>
          <a:prstGeom prst="line">
            <a:avLst/>
          </a:prstGeom>
          <a:noFill/>
          <a:ln w="12700">
            <a:solidFill>
              <a:srgbClr val="E5E7EB"/>
            </a:solidFill>
            <a:prstDash val="solid"/>
          </a:ln>
        </p:spPr>
      </p:sp>
      <p:sp>
        <p:nvSpPr>
          <p:cNvPr id="9" name="Shape 7"/>
          <p:cNvSpPr/>
          <p:nvPr/>
        </p:nvSpPr>
        <p:spPr>
          <a:xfrm>
            <a:off x="731520" y="1965960"/>
            <a:ext cx="5029200" cy="1234440"/>
          </a:xfrm>
          <a:prstGeom prst="roundRect">
            <a:avLst>
              <a:gd name="adj" fmla="val 3704"/>
            </a:avLst>
          </a:prstGeom>
          <a:solidFill>
            <a:srgbClr val="FFF7ED"/>
          </a:solidFill>
          <a:ln w="12700">
            <a:solidFill>
              <a:srgbClr val="FED7AA"/>
            </a:solidFill>
            <a:prstDash val="solid"/>
          </a:ln>
          <a:effectLst>
            <a:outerShdw blurRad="12700" dist="50800" dir="2700000" algn="bl" rotWithShape="0">
              <a:srgbClr val="D1D5DB">
                <a:alpha val="18000"/>
              </a:srgbClr>
            </a:outerShdw>
          </a:effectLst>
        </p:spPr>
      </p:sp>
      <p:sp>
        <p:nvSpPr>
          <p:cNvPr id="10" name="Text 8"/>
          <p:cNvSpPr/>
          <p:nvPr/>
        </p:nvSpPr>
        <p:spPr>
          <a:xfrm>
            <a:off x="896112" y="2103120"/>
            <a:ext cx="4700016" cy="310896"/>
          </a:xfrm>
          <a:prstGeom prst="rect">
            <a:avLst/>
          </a:prstGeom>
          <a:noFill/>
          <a:ln/>
        </p:spPr>
        <p:txBody>
          <a:bodyPr wrap="square" lIns="0" tIns="0" rIns="0" bIns="0" rtlCol="0" anchor="ctr"/>
          <a:lstStyle/>
          <a:p>
            <a:pPr marL="0" indent="0">
              <a:buNone/>
            </a:pPr>
            <a:r>
              <a:rPr lang="en-US" sz="1800" b="1" dirty="0">
                <a:solidFill>
                  <a:srgbClr val="B45309"/>
                </a:solidFill>
              </a:rPr>
              <a:t>Chunk quá nhỏ</a:t>
            </a:r>
            <a:endParaRPr lang="en-US" sz="1800" dirty="0"/>
          </a:p>
        </p:txBody>
      </p:sp>
      <p:sp>
        <p:nvSpPr>
          <p:cNvPr id="11" name="Text 9"/>
          <p:cNvSpPr/>
          <p:nvPr/>
        </p:nvSpPr>
        <p:spPr>
          <a:xfrm>
            <a:off x="896112" y="2478024"/>
            <a:ext cx="4700016" cy="612648"/>
          </a:xfrm>
          <a:prstGeom prst="rect">
            <a:avLst/>
          </a:prstGeom>
          <a:noFill/>
          <a:ln/>
        </p:spPr>
        <p:txBody>
          <a:bodyPr wrap="square" lIns="0" tIns="0" rIns="0" bIns="0" rtlCol="0" anchor="t"/>
          <a:lstStyle/>
          <a:p>
            <a:pPr marL="0" indent="0">
              <a:buNone/>
            </a:pPr>
            <a:r>
              <a:rPr lang="en-US" sz="1400" dirty="0">
                <a:solidFill>
                  <a:srgbClr val="1F2937"/>
                </a:solidFill>
              </a:rPr>
              <a:t>Có thể tách rời bằng chứng hoặc phá mối liên hệ giữa các câu.</a:t>
            </a:r>
            <a:endParaRPr lang="en-US" sz="1400" dirty="0"/>
          </a:p>
        </p:txBody>
      </p:sp>
      <p:sp>
        <p:nvSpPr>
          <p:cNvPr id="12" name="Shape 10"/>
          <p:cNvSpPr/>
          <p:nvPr/>
        </p:nvSpPr>
        <p:spPr>
          <a:xfrm>
            <a:off x="731520" y="3401568"/>
            <a:ext cx="5029200" cy="1234440"/>
          </a:xfrm>
          <a:prstGeom prst="roundRect">
            <a:avLst>
              <a:gd name="adj" fmla="val 3704"/>
            </a:avLst>
          </a:prstGeom>
          <a:solidFill>
            <a:srgbClr val="EFF6FF"/>
          </a:solidFill>
          <a:ln w="12700">
            <a:solidFill>
              <a:srgbClr val="BFDBFE"/>
            </a:solidFill>
            <a:prstDash val="solid"/>
          </a:ln>
          <a:effectLst>
            <a:outerShdw blurRad="12700" dist="50800" dir="2700000" algn="bl" rotWithShape="0">
              <a:srgbClr val="D1D5DB">
                <a:alpha val="18000"/>
              </a:srgbClr>
            </a:outerShdw>
          </a:effectLst>
        </p:spPr>
      </p:sp>
      <p:sp>
        <p:nvSpPr>
          <p:cNvPr id="13" name="Text 11"/>
          <p:cNvSpPr/>
          <p:nvPr/>
        </p:nvSpPr>
        <p:spPr>
          <a:xfrm>
            <a:off x="896112" y="3538728"/>
            <a:ext cx="4700016" cy="310896"/>
          </a:xfrm>
          <a:prstGeom prst="rect">
            <a:avLst/>
          </a:prstGeom>
          <a:noFill/>
          <a:ln/>
        </p:spPr>
        <p:txBody>
          <a:bodyPr wrap="square" lIns="0" tIns="0" rIns="0" bIns="0" rtlCol="0" anchor="ctr"/>
          <a:lstStyle/>
          <a:p>
            <a:pPr marL="0" indent="0">
              <a:buNone/>
            </a:pPr>
            <a:r>
              <a:rPr lang="en-US" sz="1800" b="1" dirty="0">
                <a:solidFill>
                  <a:srgbClr val="1D4ED8"/>
                </a:solidFill>
              </a:rPr>
              <a:t>Chunk quá lớn</a:t>
            </a:r>
            <a:endParaRPr lang="en-US" sz="1800" dirty="0"/>
          </a:p>
        </p:txBody>
      </p:sp>
      <p:sp>
        <p:nvSpPr>
          <p:cNvPr id="14" name="Text 12"/>
          <p:cNvSpPr/>
          <p:nvPr/>
        </p:nvSpPr>
        <p:spPr>
          <a:xfrm>
            <a:off x="896112" y="3913632"/>
            <a:ext cx="4700016" cy="612648"/>
          </a:xfrm>
          <a:prstGeom prst="rect">
            <a:avLst/>
          </a:prstGeom>
          <a:noFill/>
          <a:ln/>
        </p:spPr>
        <p:txBody>
          <a:bodyPr wrap="square" lIns="0" tIns="0" rIns="0" bIns="0" rtlCol="0" anchor="t"/>
          <a:lstStyle/>
          <a:p>
            <a:pPr marL="0" indent="0">
              <a:buNone/>
            </a:pPr>
            <a:r>
              <a:rPr lang="en-US" sz="1400" dirty="0">
                <a:solidFill>
                  <a:srgbClr val="1F2937"/>
                </a:solidFill>
              </a:rPr>
              <a:t>Vector embedding có thể bị “loãng”, chứa nhiều ý và làm retrieval kém tập trung.</a:t>
            </a:r>
            <a:endParaRPr lang="en-US" sz="1400" dirty="0"/>
          </a:p>
        </p:txBody>
      </p:sp>
      <p:sp>
        <p:nvSpPr>
          <p:cNvPr id="15" name="Shape 13"/>
          <p:cNvSpPr/>
          <p:nvPr/>
        </p:nvSpPr>
        <p:spPr>
          <a:xfrm>
            <a:off x="6446520" y="1965960"/>
            <a:ext cx="4937760" cy="1234440"/>
          </a:xfrm>
          <a:prstGeom prst="roundRect">
            <a:avLst>
              <a:gd name="adj" fmla="val 3704"/>
            </a:avLst>
          </a:prstGeom>
          <a:solidFill>
            <a:srgbClr val="ECFDF5"/>
          </a:solidFill>
          <a:ln w="12700">
            <a:solidFill>
              <a:srgbClr val="A7F3D0"/>
            </a:solidFill>
            <a:prstDash val="solid"/>
          </a:ln>
          <a:effectLst>
            <a:outerShdw blurRad="12700" dist="50800" dir="2700000" algn="bl" rotWithShape="0">
              <a:srgbClr val="D1D5DB">
                <a:alpha val="18000"/>
              </a:srgbClr>
            </a:outerShdw>
          </a:effectLst>
        </p:spPr>
      </p:sp>
      <p:sp>
        <p:nvSpPr>
          <p:cNvPr id="16" name="Text 14"/>
          <p:cNvSpPr/>
          <p:nvPr/>
        </p:nvSpPr>
        <p:spPr>
          <a:xfrm>
            <a:off x="6611112" y="2103120"/>
            <a:ext cx="4608576" cy="310896"/>
          </a:xfrm>
          <a:prstGeom prst="rect">
            <a:avLst/>
          </a:prstGeom>
          <a:noFill/>
          <a:ln/>
        </p:spPr>
        <p:txBody>
          <a:bodyPr wrap="square" lIns="0" tIns="0" rIns="0" bIns="0" rtlCol="0" anchor="ctr"/>
          <a:lstStyle/>
          <a:p>
            <a:pPr marL="0" indent="0">
              <a:buNone/>
            </a:pPr>
            <a:r>
              <a:rPr lang="en-US" sz="1800" b="1" dirty="0">
                <a:solidFill>
                  <a:srgbClr val="166534"/>
                </a:solidFill>
              </a:rPr>
              <a:t>Quan hệ liên câu</a:t>
            </a:r>
            <a:endParaRPr lang="en-US" sz="1800" dirty="0"/>
          </a:p>
        </p:txBody>
      </p:sp>
      <p:sp>
        <p:nvSpPr>
          <p:cNvPr id="17" name="Text 15"/>
          <p:cNvSpPr/>
          <p:nvPr/>
        </p:nvSpPr>
        <p:spPr>
          <a:xfrm>
            <a:off x="6611112" y="2478024"/>
            <a:ext cx="4608576" cy="612648"/>
          </a:xfrm>
          <a:prstGeom prst="rect">
            <a:avLst/>
          </a:prstGeom>
          <a:noFill/>
          <a:ln/>
        </p:spPr>
        <p:txBody>
          <a:bodyPr wrap="square" lIns="0" tIns="0" rIns="0" bIns="0" rtlCol="0" anchor="t"/>
          <a:lstStyle/>
          <a:p>
            <a:pPr marL="0" indent="0">
              <a:buNone/>
            </a:pPr>
            <a:r>
              <a:rPr lang="en-US" sz="1400" dirty="0">
                <a:solidFill>
                  <a:srgbClr val="1F2937"/>
                </a:solidFill>
              </a:rPr>
              <a:t>“nếu–thì”, “tuy–nhưng”, “vì–nên”, “không những–mà còn”… có thể bị cắt sai.</a:t>
            </a:r>
            <a:endParaRPr lang="en-US" sz="1400" dirty="0"/>
          </a:p>
        </p:txBody>
      </p:sp>
      <p:sp>
        <p:nvSpPr>
          <p:cNvPr id="18" name="Shape 16"/>
          <p:cNvSpPr/>
          <p:nvPr/>
        </p:nvSpPr>
        <p:spPr>
          <a:xfrm>
            <a:off x="6446520" y="3401568"/>
            <a:ext cx="4937760" cy="1234440"/>
          </a:xfrm>
          <a:prstGeom prst="roundRect">
            <a:avLst>
              <a:gd name="adj" fmla="val 3704"/>
            </a:avLst>
          </a:prstGeom>
          <a:solidFill>
            <a:srgbClr val="F8FAFC"/>
          </a:solidFill>
          <a:ln w="12700">
            <a:solidFill>
              <a:srgbClr val="CBD5E1"/>
            </a:solidFill>
            <a:prstDash val="solid"/>
          </a:ln>
          <a:effectLst>
            <a:outerShdw blurRad="12700" dist="50800" dir="2700000" algn="bl" rotWithShape="0">
              <a:srgbClr val="D1D5DB">
                <a:alpha val="18000"/>
              </a:srgbClr>
            </a:outerShdw>
          </a:effectLst>
        </p:spPr>
      </p:sp>
      <p:sp>
        <p:nvSpPr>
          <p:cNvPr id="19" name="Text 17"/>
          <p:cNvSpPr/>
          <p:nvPr/>
        </p:nvSpPr>
        <p:spPr>
          <a:xfrm>
            <a:off x="6611112" y="3538728"/>
            <a:ext cx="4608576" cy="310896"/>
          </a:xfrm>
          <a:prstGeom prst="rect">
            <a:avLst/>
          </a:prstGeom>
          <a:noFill/>
          <a:ln/>
        </p:spPr>
        <p:txBody>
          <a:bodyPr wrap="square" lIns="0" tIns="0" rIns="0" bIns="0" rtlCol="0" anchor="ctr"/>
          <a:lstStyle/>
          <a:p>
            <a:pPr marL="0" indent="0">
              <a:buNone/>
            </a:pPr>
            <a:r>
              <a:rPr lang="en-US" sz="1800" b="1" dirty="0">
                <a:solidFill>
                  <a:srgbClr val="0F766E"/>
                </a:solidFill>
              </a:rPr>
              <a:t>Mục tiêu</a:t>
            </a:r>
            <a:endParaRPr lang="en-US" sz="1800" dirty="0"/>
          </a:p>
        </p:txBody>
      </p:sp>
      <p:sp>
        <p:nvSpPr>
          <p:cNvPr id="20" name="Text 18"/>
          <p:cNvSpPr/>
          <p:nvPr/>
        </p:nvSpPr>
        <p:spPr>
          <a:xfrm>
            <a:off x="6611112" y="3913632"/>
            <a:ext cx="4608576" cy="612648"/>
          </a:xfrm>
          <a:prstGeom prst="rect">
            <a:avLst/>
          </a:prstGeom>
          <a:noFill/>
          <a:ln/>
        </p:spPr>
        <p:txBody>
          <a:bodyPr wrap="square" lIns="0" tIns="0" rIns="0" bIns="0" rtlCol="0" anchor="t"/>
          <a:lstStyle/>
          <a:p>
            <a:pPr marL="0" indent="0">
              <a:buNone/>
            </a:pPr>
            <a:r>
              <a:rPr lang="en-US" sz="1400" dirty="0">
                <a:solidFill>
                  <a:srgbClr val="1F2937"/>
                </a:solidFill>
              </a:rPr>
              <a:t>Giữ ranh giới hợp lý về ngữ nghĩa, độ dài và liên kết câu để hỗ trợ retrieval đúng evidence.</a:t>
            </a:r>
            <a:endParaRPr lang="en-US" sz="1400" dirty="0"/>
          </a:p>
        </p:txBody>
      </p:sp>
      <p:sp>
        <p:nvSpPr>
          <p:cNvPr id="21" name="Shape 19"/>
          <p:cNvSpPr/>
          <p:nvPr/>
        </p:nvSpPr>
        <p:spPr>
          <a:xfrm>
            <a:off x="1097280" y="5074920"/>
            <a:ext cx="9966960" cy="658368"/>
          </a:xfrm>
          <a:prstGeom prst="roundRect">
            <a:avLst>
              <a:gd name="adj" fmla="val 5556"/>
            </a:avLst>
          </a:prstGeom>
          <a:solidFill>
            <a:srgbClr val="E6FFFB"/>
          </a:solidFill>
          <a:ln w="12700">
            <a:solidFill>
              <a:srgbClr val="E6FFFB"/>
            </a:solidFill>
            <a:prstDash val="solid"/>
          </a:ln>
        </p:spPr>
      </p:sp>
      <p:sp>
        <p:nvSpPr>
          <p:cNvPr id="22" name="Text 20"/>
          <p:cNvSpPr/>
          <p:nvPr/>
        </p:nvSpPr>
        <p:spPr>
          <a:xfrm>
            <a:off x="1261872" y="5202936"/>
            <a:ext cx="9637776" cy="429768"/>
          </a:xfrm>
          <a:prstGeom prst="rect">
            <a:avLst/>
          </a:prstGeom>
          <a:noFill/>
          <a:ln/>
        </p:spPr>
        <p:txBody>
          <a:bodyPr wrap="square" lIns="0" tIns="0" rIns="0" bIns="0" rtlCol="0" anchor="ctr"/>
          <a:lstStyle/>
          <a:p>
            <a:pPr marL="0" indent="0" algn="ctr">
              <a:buNone/>
            </a:pPr>
            <a:r>
              <a:rPr lang="en-US" sz="1400" b="1" dirty="0">
                <a:solidFill>
                  <a:srgbClr val="0F766E"/>
                </a:solidFill>
              </a:rPr>
              <a:t>Câu hỏi nghiên cứu: Ours có bảo toàn bằng chứng và truy xuất tốt hơn Max–Min trong cùng pipeline tiếng Việt không?</a:t>
            </a:r>
            <a:endParaRPr lang="en-US" sz="1400"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Mục tiêu và đóng góp của đề tài</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Không huấn luyện embedding/LLM mới — tập trung vào chiến lược chunking</a:t>
            </a:r>
            <a:endParaRPr lang="en-US" sz="1300" dirty="0"/>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ĐÓNG GÓP</a:t>
            </a:r>
            <a:endParaRPr lang="en-US" sz="1100" dirty="0"/>
          </a:p>
        </p:txBody>
      </p:sp>
      <p:sp>
        <p:nvSpPr>
          <p:cNvPr id="6" name="Shape 4"/>
          <p:cNvSpPr/>
          <p:nvPr/>
        </p:nvSpPr>
        <p:spPr>
          <a:xfrm>
            <a:off x="731520" y="1600200"/>
            <a:ext cx="5257800" cy="1417320"/>
          </a:xfrm>
          <a:prstGeom prst="roundRect">
            <a:avLst>
              <a:gd name="adj" fmla="val 3226"/>
            </a:avLst>
          </a:prstGeom>
          <a:solidFill>
            <a:srgbClr val="F8FAFC"/>
          </a:solidFill>
          <a:ln w="12700">
            <a:solidFill>
              <a:srgbClr val="D1D5DB"/>
            </a:solidFill>
            <a:prstDash val="solid"/>
          </a:ln>
          <a:effectLst>
            <a:outerShdw blurRad="12700" dist="50800" dir="2700000" algn="bl" rotWithShape="0">
              <a:srgbClr val="D1D5DB">
                <a:alpha val="18000"/>
              </a:srgbClr>
            </a:outerShdw>
          </a:effectLst>
        </p:spPr>
      </p:sp>
      <p:sp>
        <p:nvSpPr>
          <p:cNvPr id="7" name="Text 5"/>
          <p:cNvSpPr/>
          <p:nvPr/>
        </p:nvSpPr>
        <p:spPr>
          <a:xfrm>
            <a:off x="896112" y="1737360"/>
            <a:ext cx="4928616" cy="310896"/>
          </a:xfrm>
          <a:prstGeom prst="rect">
            <a:avLst/>
          </a:prstGeom>
          <a:noFill/>
          <a:ln/>
        </p:spPr>
        <p:txBody>
          <a:bodyPr wrap="square" lIns="0" tIns="0" rIns="0" bIns="0" rtlCol="0" anchor="ctr"/>
          <a:lstStyle/>
          <a:p>
            <a:pPr marL="0" indent="0">
              <a:buNone/>
            </a:pPr>
            <a:r>
              <a:rPr lang="en-US" sz="1800" b="1" dirty="0">
                <a:solidFill>
                  <a:srgbClr val="0F766E"/>
                </a:solidFill>
              </a:rPr>
              <a:t>Relative semantic drop</a:t>
            </a:r>
            <a:endParaRPr lang="en-US" sz="1800" dirty="0"/>
          </a:p>
        </p:txBody>
      </p:sp>
      <p:sp>
        <p:nvSpPr>
          <p:cNvPr id="8" name="Text 6"/>
          <p:cNvSpPr/>
          <p:nvPr/>
        </p:nvSpPr>
        <p:spPr>
          <a:xfrm>
            <a:off x="896112" y="2112264"/>
            <a:ext cx="4928616" cy="795528"/>
          </a:xfrm>
          <a:prstGeom prst="rect">
            <a:avLst/>
          </a:prstGeom>
          <a:noFill/>
          <a:ln/>
        </p:spPr>
        <p:txBody>
          <a:bodyPr wrap="square" lIns="0" tIns="0" rIns="0" bIns="0" rtlCol="0" anchor="t"/>
          <a:lstStyle/>
          <a:p>
            <a:pPr marL="0" indent="0">
              <a:buNone/>
            </a:pPr>
            <a:r>
              <a:rPr lang="en-US" sz="1600" dirty="0">
                <a:solidFill>
                  <a:srgbClr val="1F2937"/>
                </a:solidFill>
              </a:rPr>
              <a:t>Đánh giá ranh giới bằng mức suy giảm liên kết trước–qua–sau boundary, thay vì chỉ nhìn một cặp câu</a:t>
            </a:r>
            <a:r>
              <a:rPr lang="en-US" sz="1320" dirty="0">
                <a:solidFill>
                  <a:srgbClr val="1F2937"/>
                </a:solidFill>
              </a:rPr>
              <a:t>.</a:t>
            </a:r>
            <a:endParaRPr lang="en-US" sz="1320" dirty="0"/>
          </a:p>
        </p:txBody>
      </p:sp>
      <p:sp>
        <p:nvSpPr>
          <p:cNvPr id="9" name="Shape 7"/>
          <p:cNvSpPr/>
          <p:nvPr/>
        </p:nvSpPr>
        <p:spPr>
          <a:xfrm>
            <a:off x="6217920" y="1600200"/>
            <a:ext cx="5257800" cy="1417320"/>
          </a:xfrm>
          <a:prstGeom prst="roundRect">
            <a:avLst>
              <a:gd name="adj" fmla="val 3226"/>
            </a:avLst>
          </a:prstGeom>
          <a:solidFill>
            <a:srgbClr val="F8FAFC"/>
          </a:solidFill>
          <a:ln w="12700">
            <a:solidFill>
              <a:srgbClr val="D1D5DB"/>
            </a:solidFill>
            <a:prstDash val="solid"/>
          </a:ln>
          <a:effectLst>
            <a:outerShdw blurRad="12700" dist="50800" dir="2700000" algn="bl" rotWithShape="0">
              <a:srgbClr val="D1D5DB">
                <a:alpha val="18000"/>
              </a:srgbClr>
            </a:outerShdw>
          </a:effectLst>
        </p:spPr>
      </p:sp>
      <p:sp>
        <p:nvSpPr>
          <p:cNvPr id="10" name="Text 8"/>
          <p:cNvSpPr/>
          <p:nvPr/>
        </p:nvSpPr>
        <p:spPr>
          <a:xfrm>
            <a:off x="6382512" y="1737360"/>
            <a:ext cx="4928616" cy="310896"/>
          </a:xfrm>
          <a:prstGeom prst="rect">
            <a:avLst/>
          </a:prstGeom>
          <a:noFill/>
          <a:ln/>
        </p:spPr>
        <p:txBody>
          <a:bodyPr wrap="square" lIns="0" tIns="0" rIns="0" bIns="0" rtlCol="0" anchor="ctr"/>
          <a:lstStyle/>
          <a:p>
            <a:pPr marL="0" indent="0">
              <a:buNone/>
            </a:pPr>
            <a:r>
              <a:rPr lang="en-US" sz="1800" b="1" dirty="0">
                <a:solidFill>
                  <a:srgbClr val="0F172A"/>
                </a:solidFill>
              </a:rPr>
              <a:t>Size-aware boundary</a:t>
            </a:r>
            <a:endParaRPr lang="en-US" sz="1800" dirty="0"/>
          </a:p>
        </p:txBody>
      </p:sp>
      <p:sp>
        <p:nvSpPr>
          <p:cNvPr id="11" name="Text 9"/>
          <p:cNvSpPr/>
          <p:nvPr/>
        </p:nvSpPr>
        <p:spPr>
          <a:xfrm>
            <a:off x="6382512" y="2112264"/>
            <a:ext cx="4928616" cy="795528"/>
          </a:xfrm>
          <a:prstGeom prst="rect">
            <a:avLst/>
          </a:prstGeom>
          <a:noFill/>
          <a:ln/>
        </p:spPr>
        <p:txBody>
          <a:bodyPr wrap="square" lIns="0" tIns="0" rIns="0" bIns="0" rtlCol="0" anchor="t"/>
          <a:lstStyle/>
          <a:p>
            <a:pPr marL="0" indent="0">
              <a:buNone/>
            </a:pPr>
            <a:r>
              <a:rPr lang="en-US" sz="1600" dirty="0">
                <a:solidFill>
                  <a:srgbClr val="1F2937"/>
                </a:solidFill>
              </a:rPr>
              <a:t>Ưu tiên chunk quanh TARGET=180, giới hạn ứng viên trong khoảng 120–240 ở nhánh bắt buộc cắt.</a:t>
            </a:r>
            <a:endParaRPr lang="en-US" sz="1600" dirty="0"/>
          </a:p>
        </p:txBody>
      </p:sp>
      <p:sp>
        <p:nvSpPr>
          <p:cNvPr id="12" name="Shape 10"/>
          <p:cNvSpPr/>
          <p:nvPr/>
        </p:nvSpPr>
        <p:spPr>
          <a:xfrm>
            <a:off x="731520" y="3264408"/>
            <a:ext cx="5257800" cy="1417320"/>
          </a:xfrm>
          <a:prstGeom prst="roundRect">
            <a:avLst>
              <a:gd name="adj" fmla="val 3226"/>
            </a:avLst>
          </a:prstGeom>
          <a:solidFill>
            <a:srgbClr val="FFFFFF"/>
          </a:solidFill>
          <a:ln w="12700">
            <a:solidFill>
              <a:srgbClr val="D1D5DB"/>
            </a:solidFill>
            <a:prstDash val="solid"/>
          </a:ln>
          <a:effectLst>
            <a:outerShdw blurRad="12700" dist="50800" dir="2700000" algn="bl" rotWithShape="0">
              <a:srgbClr val="D1D5DB">
                <a:alpha val="18000"/>
              </a:srgbClr>
            </a:outerShdw>
          </a:effectLst>
        </p:spPr>
      </p:sp>
      <p:sp>
        <p:nvSpPr>
          <p:cNvPr id="13" name="Text 11"/>
          <p:cNvSpPr/>
          <p:nvPr/>
        </p:nvSpPr>
        <p:spPr>
          <a:xfrm>
            <a:off x="896112" y="3401568"/>
            <a:ext cx="4928616" cy="310896"/>
          </a:xfrm>
          <a:prstGeom prst="rect">
            <a:avLst/>
          </a:prstGeom>
          <a:noFill/>
          <a:ln/>
        </p:spPr>
        <p:txBody>
          <a:bodyPr wrap="square" lIns="0" tIns="0" rIns="0" bIns="0" rtlCol="0" anchor="ctr"/>
          <a:lstStyle/>
          <a:p>
            <a:pPr marL="0" indent="0">
              <a:buNone/>
            </a:pPr>
            <a:r>
              <a:rPr lang="en-US" sz="1800" b="1" dirty="0">
                <a:solidFill>
                  <a:srgbClr val="0F766E"/>
                </a:solidFill>
              </a:rPr>
              <a:t>Dependency-aware penalty</a:t>
            </a:r>
            <a:endParaRPr lang="en-US" sz="1800" dirty="0"/>
          </a:p>
        </p:txBody>
      </p:sp>
      <p:sp>
        <p:nvSpPr>
          <p:cNvPr id="14" name="Text 12"/>
          <p:cNvSpPr/>
          <p:nvPr/>
        </p:nvSpPr>
        <p:spPr>
          <a:xfrm>
            <a:off x="896112" y="3776472"/>
            <a:ext cx="4928616" cy="795528"/>
          </a:xfrm>
          <a:prstGeom prst="rect">
            <a:avLst/>
          </a:prstGeom>
          <a:noFill/>
          <a:ln/>
        </p:spPr>
        <p:txBody>
          <a:bodyPr wrap="square" lIns="0" tIns="0" rIns="0" bIns="0" rtlCol="0" anchor="t"/>
          <a:lstStyle/>
          <a:p>
            <a:pPr marL="0" indent="0">
              <a:buNone/>
            </a:pPr>
            <a:r>
              <a:rPr lang="en-US" sz="1600" dirty="0">
                <a:solidFill>
                  <a:srgbClr val="1F2937"/>
                </a:solidFill>
              </a:rPr>
              <a:t>Giảm điểm các boundary có dấu hiệu phá liên kết câu tiếng Việt trong nhánh &gt; MAX.</a:t>
            </a:r>
            <a:endParaRPr lang="en-US" sz="1600" dirty="0"/>
          </a:p>
        </p:txBody>
      </p:sp>
      <p:sp>
        <p:nvSpPr>
          <p:cNvPr id="15" name="Shape 13"/>
          <p:cNvSpPr/>
          <p:nvPr/>
        </p:nvSpPr>
        <p:spPr>
          <a:xfrm>
            <a:off x="6217920" y="3264408"/>
            <a:ext cx="5257800" cy="1417320"/>
          </a:xfrm>
          <a:prstGeom prst="roundRect">
            <a:avLst>
              <a:gd name="adj" fmla="val 3226"/>
            </a:avLst>
          </a:prstGeom>
          <a:solidFill>
            <a:srgbClr val="FFFFFF"/>
          </a:solidFill>
          <a:ln w="12700">
            <a:solidFill>
              <a:srgbClr val="D1D5DB"/>
            </a:solidFill>
            <a:prstDash val="solid"/>
          </a:ln>
          <a:effectLst>
            <a:outerShdw blurRad="12700" dist="50800" dir="2700000" algn="bl" rotWithShape="0">
              <a:srgbClr val="D1D5DB">
                <a:alpha val="18000"/>
              </a:srgbClr>
            </a:outerShdw>
          </a:effectLst>
        </p:spPr>
      </p:sp>
      <p:sp>
        <p:nvSpPr>
          <p:cNvPr id="16" name="Text 14"/>
          <p:cNvSpPr/>
          <p:nvPr/>
        </p:nvSpPr>
        <p:spPr>
          <a:xfrm>
            <a:off x="6382512" y="3401568"/>
            <a:ext cx="4928616" cy="310896"/>
          </a:xfrm>
          <a:prstGeom prst="rect">
            <a:avLst/>
          </a:prstGeom>
          <a:noFill/>
          <a:ln/>
        </p:spPr>
        <p:txBody>
          <a:bodyPr wrap="square" lIns="0" tIns="0" rIns="0" bIns="0" rtlCol="0" anchor="ctr"/>
          <a:lstStyle/>
          <a:p>
            <a:pPr marL="0" indent="0">
              <a:buNone/>
            </a:pPr>
            <a:r>
              <a:rPr lang="en-US" sz="1800" b="1" dirty="0">
                <a:solidFill>
                  <a:srgbClr val="0F172A"/>
                </a:solidFill>
              </a:rPr>
              <a:t>Dynamic overlap</a:t>
            </a:r>
            <a:endParaRPr lang="en-US" sz="1800" dirty="0"/>
          </a:p>
        </p:txBody>
      </p:sp>
      <p:sp>
        <p:nvSpPr>
          <p:cNvPr id="17" name="Text 15"/>
          <p:cNvSpPr/>
          <p:nvPr/>
        </p:nvSpPr>
        <p:spPr>
          <a:xfrm>
            <a:off x="6382512" y="3776472"/>
            <a:ext cx="4928616" cy="795528"/>
          </a:xfrm>
          <a:prstGeom prst="rect">
            <a:avLst/>
          </a:prstGeom>
          <a:noFill/>
          <a:ln/>
        </p:spPr>
        <p:txBody>
          <a:bodyPr wrap="square" lIns="0" tIns="0" rIns="0" bIns="0" rtlCol="0" anchor="t"/>
          <a:lstStyle/>
          <a:p>
            <a:pPr marL="0" indent="0">
              <a:buNone/>
            </a:pPr>
            <a:r>
              <a:rPr lang="en-US" sz="1600" dirty="0">
                <a:solidFill>
                  <a:srgbClr val="1F2937"/>
                </a:solidFill>
              </a:rPr>
              <a:t>Giữ lại 0–2 câu tùy độ tương đồng tại boundary để bảo toàn ngữ cảnh.</a:t>
            </a:r>
            <a:endParaRPr lang="en-US" sz="1600" dirty="0"/>
          </a:p>
        </p:txBody>
      </p:sp>
      <p:sp>
        <p:nvSpPr>
          <p:cNvPr id="18" name="Shape 16"/>
          <p:cNvSpPr/>
          <p:nvPr/>
        </p:nvSpPr>
        <p:spPr>
          <a:xfrm>
            <a:off x="1005840" y="5166360"/>
            <a:ext cx="10149840" cy="640080"/>
          </a:xfrm>
          <a:prstGeom prst="roundRect">
            <a:avLst>
              <a:gd name="adj" fmla="val 5714"/>
            </a:avLst>
          </a:prstGeom>
          <a:solidFill>
            <a:srgbClr val="F8FAFC"/>
          </a:solidFill>
          <a:ln w="12700">
            <a:solidFill>
              <a:srgbClr val="F8FAFC"/>
            </a:solidFill>
            <a:prstDash val="solid"/>
          </a:ln>
        </p:spPr>
      </p:sp>
      <p:sp>
        <p:nvSpPr>
          <p:cNvPr id="19" name="Text 17"/>
          <p:cNvSpPr/>
          <p:nvPr/>
        </p:nvSpPr>
        <p:spPr>
          <a:xfrm>
            <a:off x="1170432" y="5294376"/>
            <a:ext cx="9820656" cy="411480"/>
          </a:xfrm>
          <a:prstGeom prst="rect">
            <a:avLst/>
          </a:prstGeom>
          <a:noFill/>
          <a:ln/>
        </p:spPr>
        <p:txBody>
          <a:bodyPr wrap="square" lIns="0" tIns="0" rIns="0" bIns="0" rtlCol="0" anchor="ctr"/>
          <a:lstStyle/>
          <a:p>
            <a:pPr marL="0" indent="0" algn="ctr">
              <a:buNone/>
            </a:pPr>
            <a:r>
              <a:rPr lang="en-US" sz="1400" b="1" dirty="0">
                <a:solidFill>
                  <a:srgbClr val="0F172A"/>
                </a:solidFill>
              </a:rPr>
              <a:t>Đóng góp được đánh giá có đối chứng; báo cáo không tuyên bố “state-of-the-art” hay ưu thế tổng quát.</a:t>
            </a:r>
            <a:endParaRPr lang="en-US" sz="1400"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0D69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20040"/>
            <a:ext cx="10972800" cy="530352"/>
          </a:xfrm>
          <a:prstGeom prst="rect">
            <a:avLst/>
          </a:prstGeom>
          <a:noFill/>
        </p:spPr>
        <p:txBody>
          <a:bodyPr wrap="square" lIns="27432" tIns="18288" rIns="27432" bIns="18288">
            <a:spAutoFit/>
          </a:bodyPr>
          <a:lstStyle/>
          <a:p>
            <a:pPr algn="l"/>
            <a:r>
              <a:rPr sz="2800" b="1">
                <a:solidFill>
                  <a:srgbClr val="0F172A"/>
                </a:solidFill>
                <a:latin typeface="Aptos"/>
              </a:rPr>
              <a:t>2. Công trình liên quan — Bài báo đối chứng chính</a:t>
            </a:r>
          </a:p>
        </p:txBody>
      </p:sp>
      <p:sp>
        <p:nvSpPr>
          <p:cNvPr id="4" name="TextBox 3"/>
          <p:cNvSpPr txBox="1"/>
          <p:nvPr/>
        </p:nvSpPr>
        <p:spPr>
          <a:xfrm>
            <a:off x="548640" y="850392"/>
            <a:ext cx="10789920" cy="292608"/>
          </a:xfrm>
          <a:prstGeom prst="rect">
            <a:avLst/>
          </a:prstGeom>
          <a:noFill/>
        </p:spPr>
        <p:txBody>
          <a:bodyPr wrap="square" lIns="27432" tIns="18288" rIns="27432" bIns="18288">
            <a:spAutoFit/>
          </a:bodyPr>
          <a:lstStyle/>
          <a:p>
            <a:pPr algn="l"/>
            <a:r>
              <a:rPr sz="1500" b="0" dirty="0" err="1">
                <a:solidFill>
                  <a:srgbClr val="6B7280"/>
                </a:solidFill>
                <a:latin typeface="Aptos"/>
              </a:rPr>
              <a:t>Bắt</a:t>
            </a:r>
            <a:r>
              <a:rPr sz="1500" b="0" dirty="0">
                <a:solidFill>
                  <a:srgbClr val="6B7280"/>
                </a:solidFill>
                <a:latin typeface="Aptos"/>
              </a:rPr>
              <a:t> </a:t>
            </a:r>
            <a:r>
              <a:rPr sz="1500" b="0" dirty="0" err="1">
                <a:solidFill>
                  <a:srgbClr val="6B7280"/>
                </a:solidFill>
                <a:latin typeface="Aptos"/>
              </a:rPr>
              <a:t>đầu</a:t>
            </a:r>
            <a:r>
              <a:rPr sz="1500" b="0" dirty="0">
                <a:solidFill>
                  <a:srgbClr val="6B7280"/>
                </a:solidFill>
                <a:latin typeface="Aptos"/>
              </a:rPr>
              <a:t> </a:t>
            </a:r>
            <a:r>
              <a:rPr sz="1500" b="0" dirty="0" err="1">
                <a:solidFill>
                  <a:srgbClr val="6B7280"/>
                </a:solidFill>
                <a:latin typeface="Aptos"/>
              </a:rPr>
              <a:t>từ</a:t>
            </a:r>
            <a:r>
              <a:rPr sz="1500" b="0" dirty="0">
                <a:solidFill>
                  <a:srgbClr val="6B7280"/>
                </a:solidFill>
                <a:latin typeface="Aptos"/>
              </a:rPr>
              <a:t> </a:t>
            </a:r>
            <a:r>
              <a:rPr sz="1500" b="0" dirty="0" err="1">
                <a:solidFill>
                  <a:srgbClr val="6B7280"/>
                </a:solidFill>
                <a:latin typeface="Aptos"/>
              </a:rPr>
              <a:t>công</a:t>
            </a:r>
            <a:r>
              <a:rPr sz="1500" b="0" dirty="0">
                <a:solidFill>
                  <a:srgbClr val="6B7280"/>
                </a:solidFill>
                <a:latin typeface="Aptos"/>
              </a:rPr>
              <a:t> </a:t>
            </a:r>
            <a:r>
              <a:rPr sz="1500" b="0" dirty="0" err="1">
                <a:solidFill>
                  <a:srgbClr val="6B7280"/>
                </a:solidFill>
                <a:latin typeface="Aptos"/>
              </a:rPr>
              <a:t>trình</a:t>
            </a:r>
            <a:r>
              <a:rPr sz="1500" b="0" dirty="0">
                <a:solidFill>
                  <a:srgbClr val="6B7280"/>
                </a:solidFill>
                <a:latin typeface="Aptos"/>
              </a:rPr>
              <a:t> </a:t>
            </a:r>
            <a:r>
              <a:rPr sz="1500" b="0" dirty="0" err="1">
                <a:solidFill>
                  <a:srgbClr val="6B7280"/>
                </a:solidFill>
                <a:latin typeface="Aptos"/>
              </a:rPr>
              <a:t>đã</a:t>
            </a:r>
            <a:r>
              <a:rPr sz="1500" b="0" dirty="0">
                <a:solidFill>
                  <a:srgbClr val="6B7280"/>
                </a:solidFill>
                <a:latin typeface="Aptos"/>
              </a:rPr>
              <a:t> </a:t>
            </a:r>
            <a:r>
              <a:rPr sz="1500" b="0" dirty="0" err="1">
                <a:solidFill>
                  <a:srgbClr val="6B7280"/>
                </a:solidFill>
                <a:latin typeface="Aptos"/>
              </a:rPr>
              <a:t>công</a:t>
            </a:r>
            <a:r>
              <a:rPr sz="1500" b="0" dirty="0">
                <a:solidFill>
                  <a:srgbClr val="6B7280"/>
                </a:solidFill>
                <a:latin typeface="Aptos"/>
              </a:rPr>
              <a:t> </a:t>
            </a:r>
            <a:r>
              <a:rPr sz="1500" b="0" dirty="0" err="1">
                <a:solidFill>
                  <a:srgbClr val="6B7280"/>
                </a:solidFill>
                <a:latin typeface="Aptos"/>
              </a:rPr>
              <a:t>bố</a:t>
            </a:r>
            <a:r>
              <a:rPr sz="1500" b="0" dirty="0">
                <a:solidFill>
                  <a:srgbClr val="6B7280"/>
                </a:solidFill>
                <a:latin typeface="Aptos"/>
              </a:rPr>
              <a:t>, </a:t>
            </a:r>
            <a:r>
              <a:rPr sz="1500" b="0" dirty="0" err="1">
                <a:solidFill>
                  <a:srgbClr val="6B7280"/>
                </a:solidFill>
                <a:latin typeface="Aptos"/>
              </a:rPr>
              <a:t>sau</a:t>
            </a:r>
            <a:r>
              <a:rPr sz="1500" b="0" dirty="0">
                <a:solidFill>
                  <a:srgbClr val="6B7280"/>
                </a:solidFill>
                <a:latin typeface="Aptos"/>
              </a:rPr>
              <a:t> </a:t>
            </a:r>
            <a:r>
              <a:rPr sz="1500" b="0" dirty="0" err="1">
                <a:solidFill>
                  <a:srgbClr val="6B7280"/>
                </a:solidFill>
                <a:latin typeface="Aptos"/>
              </a:rPr>
              <a:t>đó</a:t>
            </a:r>
            <a:r>
              <a:rPr sz="1500" b="0" dirty="0">
                <a:solidFill>
                  <a:srgbClr val="6B7280"/>
                </a:solidFill>
                <a:latin typeface="Aptos"/>
              </a:rPr>
              <a:t> </a:t>
            </a:r>
            <a:r>
              <a:rPr sz="1500" b="0" dirty="0" err="1">
                <a:solidFill>
                  <a:srgbClr val="6B7280"/>
                </a:solidFill>
                <a:latin typeface="Aptos"/>
              </a:rPr>
              <a:t>mới</a:t>
            </a:r>
            <a:r>
              <a:rPr sz="1500" b="0" dirty="0">
                <a:solidFill>
                  <a:srgbClr val="6B7280"/>
                </a:solidFill>
                <a:latin typeface="Aptos"/>
              </a:rPr>
              <a:t> </a:t>
            </a:r>
            <a:r>
              <a:rPr sz="1500" b="0" dirty="0" err="1">
                <a:solidFill>
                  <a:srgbClr val="6B7280"/>
                </a:solidFill>
                <a:latin typeface="Aptos"/>
              </a:rPr>
              <a:t>xác</a:t>
            </a:r>
            <a:r>
              <a:rPr sz="1500" b="0" dirty="0">
                <a:solidFill>
                  <a:srgbClr val="6B7280"/>
                </a:solidFill>
                <a:latin typeface="Aptos"/>
              </a:rPr>
              <a:t> </a:t>
            </a:r>
            <a:r>
              <a:rPr sz="1500" b="0" dirty="0" err="1">
                <a:solidFill>
                  <a:srgbClr val="6B7280"/>
                </a:solidFill>
                <a:latin typeface="Aptos"/>
              </a:rPr>
              <a:t>định</a:t>
            </a:r>
            <a:r>
              <a:rPr sz="1500" b="0" dirty="0">
                <a:solidFill>
                  <a:srgbClr val="6B7280"/>
                </a:solidFill>
                <a:latin typeface="Aptos"/>
              </a:rPr>
              <a:t> </a:t>
            </a:r>
            <a:r>
              <a:rPr sz="1500" b="0" dirty="0" err="1">
                <a:solidFill>
                  <a:srgbClr val="6B7280"/>
                </a:solidFill>
                <a:latin typeface="Aptos"/>
              </a:rPr>
              <a:t>vai</a:t>
            </a:r>
            <a:r>
              <a:rPr sz="1500" b="0" dirty="0">
                <a:solidFill>
                  <a:srgbClr val="6B7280"/>
                </a:solidFill>
                <a:latin typeface="Aptos"/>
              </a:rPr>
              <a:t> </a:t>
            </a:r>
            <a:r>
              <a:rPr sz="1500" b="0" dirty="0" err="1">
                <a:solidFill>
                  <a:srgbClr val="6B7280"/>
                </a:solidFill>
                <a:latin typeface="Aptos"/>
              </a:rPr>
              <a:t>trò</a:t>
            </a:r>
            <a:r>
              <a:rPr sz="1500" b="0" dirty="0">
                <a:solidFill>
                  <a:srgbClr val="6B7280"/>
                </a:solidFill>
                <a:latin typeface="Aptos"/>
              </a:rPr>
              <a:t> </a:t>
            </a:r>
            <a:r>
              <a:rPr sz="1500" b="0" dirty="0" err="1">
                <a:solidFill>
                  <a:srgbClr val="6B7280"/>
                </a:solidFill>
                <a:latin typeface="Aptos"/>
              </a:rPr>
              <a:t>của</a:t>
            </a:r>
            <a:r>
              <a:rPr sz="1500" b="0" dirty="0">
                <a:solidFill>
                  <a:srgbClr val="6B7280"/>
                </a:solidFill>
                <a:latin typeface="Aptos"/>
              </a:rPr>
              <a:t> </a:t>
            </a:r>
            <a:r>
              <a:rPr sz="1500" b="0" dirty="0" err="1">
                <a:solidFill>
                  <a:srgbClr val="6B7280"/>
                </a:solidFill>
                <a:latin typeface="Aptos"/>
              </a:rPr>
              <a:t>nó</a:t>
            </a:r>
            <a:r>
              <a:rPr sz="1500" b="0" dirty="0">
                <a:solidFill>
                  <a:srgbClr val="6B7280"/>
                </a:solidFill>
                <a:latin typeface="Aptos"/>
              </a:rPr>
              <a:t> </a:t>
            </a:r>
            <a:r>
              <a:rPr sz="1500" b="0" dirty="0" err="1">
                <a:solidFill>
                  <a:srgbClr val="6B7280"/>
                </a:solidFill>
                <a:latin typeface="Aptos"/>
              </a:rPr>
              <a:t>trong</a:t>
            </a:r>
            <a:r>
              <a:rPr sz="1500" b="0" dirty="0">
                <a:solidFill>
                  <a:srgbClr val="6B7280"/>
                </a:solidFill>
                <a:latin typeface="Aptos"/>
              </a:rPr>
              <a:t> benchmark</a:t>
            </a:r>
          </a:p>
        </p:txBody>
      </p:sp>
      <p:sp>
        <p:nvSpPr>
          <p:cNvPr id="5" name="Rounded Rectangle 4"/>
          <p:cNvSpPr/>
          <p:nvPr/>
        </p:nvSpPr>
        <p:spPr>
          <a:xfrm>
            <a:off x="548640" y="1188720"/>
            <a:ext cx="1572768" cy="310896"/>
          </a:xfrm>
          <a:prstGeom prst="roundRect">
            <a:avLst/>
          </a:prstGeom>
          <a:solidFill>
            <a:srgbClr val="EC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225296"/>
            <a:ext cx="1298448" cy="164592"/>
          </a:xfrm>
          <a:prstGeom prst="rect">
            <a:avLst/>
          </a:prstGeom>
          <a:noFill/>
        </p:spPr>
        <p:txBody>
          <a:bodyPr wrap="square" lIns="27432" tIns="18288" rIns="27432" bIns="18288">
            <a:spAutoFit/>
          </a:bodyPr>
          <a:lstStyle/>
          <a:p>
            <a:pPr algn="l"/>
            <a:r>
              <a:rPr sz="1100" b="1">
                <a:solidFill>
                  <a:srgbClr val="0D6963"/>
                </a:solidFill>
                <a:latin typeface="Aptos"/>
              </a:rPr>
              <a:t>RELATED WORK</a:t>
            </a:r>
          </a:p>
        </p:txBody>
      </p:sp>
      <p:sp>
        <p:nvSpPr>
          <p:cNvPr id="7" name="Rounded Rectangle 6"/>
          <p:cNvSpPr/>
          <p:nvPr/>
        </p:nvSpPr>
        <p:spPr>
          <a:xfrm>
            <a:off x="731520" y="1737360"/>
            <a:ext cx="10744200"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60120" y="1993392"/>
            <a:ext cx="1051560" cy="100584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148840"/>
            <a:ext cx="1051560" cy="256032"/>
          </a:xfrm>
          <a:prstGeom prst="rect">
            <a:avLst/>
          </a:prstGeom>
          <a:noFill/>
        </p:spPr>
        <p:txBody>
          <a:bodyPr wrap="square" lIns="27432" tIns="18288" rIns="27432" bIns="18288">
            <a:spAutoFit/>
          </a:bodyPr>
          <a:lstStyle/>
          <a:p>
            <a:pPr algn="ctr"/>
            <a:r>
              <a:rPr sz="2300" b="1">
                <a:solidFill>
                  <a:srgbClr val="FFFFFF"/>
                </a:solidFill>
                <a:latin typeface="Aptos"/>
              </a:rPr>
              <a:t>2025</a:t>
            </a:r>
          </a:p>
        </p:txBody>
      </p:sp>
      <p:sp>
        <p:nvSpPr>
          <p:cNvPr id="10" name="TextBox 9"/>
          <p:cNvSpPr txBox="1"/>
          <p:nvPr/>
        </p:nvSpPr>
        <p:spPr>
          <a:xfrm>
            <a:off x="960120" y="2468880"/>
            <a:ext cx="1051560" cy="164592"/>
          </a:xfrm>
          <a:prstGeom prst="rect">
            <a:avLst/>
          </a:prstGeom>
          <a:noFill/>
        </p:spPr>
        <p:txBody>
          <a:bodyPr wrap="square" lIns="27432" tIns="18288" rIns="27432" bIns="18288">
            <a:spAutoFit/>
          </a:bodyPr>
          <a:lstStyle/>
          <a:p>
            <a:pPr algn="ctr"/>
            <a:r>
              <a:rPr sz="1000" b="1">
                <a:solidFill>
                  <a:srgbClr val="FFFFFF"/>
                </a:solidFill>
                <a:latin typeface="Aptos"/>
              </a:rPr>
              <a:t>PAPER</a:t>
            </a:r>
          </a:p>
        </p:txBody>
      </p:sp>
      <p:sp>
        <p:nvSpPr>
          <p:cNvPr id="11" name="TextBox 10"/>
          <p:cNvSpPr txBox="1"/>
          <p:nvPr/>
        </p:nvSpPr>
        <p:spPr>
          <a:xfrm>
            <a:off x="2240280" y="1901952"/>
            <a:ext cx="8641080" cy="658368"/>
          </a:xfrm>
          <a:prstGeom prst="rect">
            <a:avLst/>
          </a:prstGeom>
          <a:noFill/>
        </p:spPr>
        <p:txBody>
          <a:bodyPr wrap="square" lIns="27432" tIns="18288" rIns="27432" bIns="18288">
            <a:spAutoFit/>
          </a:bodyPr>
          <a:lstStyle/>
          <a:p>
            <a:pPr algn="l"/>
            <a:r>
              <a:rPr sz="2400" b="1">
                <a:solidFill>
                  <a:srgbClr val="0F172A"/>
                </a:solidFill>
                <a:latin typeface="Aptos"/>
              </a:rPr>
              <a:t>Max–Min semantic chunking of documents for RAG application</a:t>
            </a:r>
          </a:p>
        </p:txBody>
      </p:sp>
      <p:sp>
        <p:nvSpPr>
          <p:cNvPr id="12" name="TextBox 11"/>
          <p:cNvSpPr txBox="1"/>
          <p:nvPr/>
        </p:nvSpPr>
        <p:spPr>
          <a:xfrm>
            <a:off x="2258568" y="2578608"/>
            <a:ext cx="8046720" cy="246888"/>
          </a:xfrm>
          <a:prstGeom prst="rect">
            <a:avLst/>
          </a:prstGeom>
          <a:noFill/>
        </p:spPr>
        <p:txBody>
          <a:bodyPr wrap="square" lIns="27432" tIns="18288" rIns="27432" bIns="18288">
            <a:spAutoFit/>
          </a:bodyPr>
          <a:lstStyle/>
          <a:p>
            <a:pPr algn="l"/>
            <a:r>
              <a:rPr sz="1400" b="0">
                <a:solidFill>
                  <a:srgbClr val="1F2937"/>
                </a:solidFill>
                <a:latin typeface="Aptos"/>
              </a:rPr>
              <a:t>Kiss, C. • Nagy, M. • Szilágyi, P.</a:t>
            </a:r>
          </a:p>
        </p:txBody>
      </p:sp>
      <p:sp>
        <p:nvSpPr>
          <p:cNvPr id="13" name="TextBox 12"/>
          <p:cNvSpPr txBox="1"/>
          <p:nvPr/>
        </p:nvSpPr>
        <p:spPr>
          <a:xfrm>
            <a:off x="2258568" y="2907792"/>
            <a:ext cx="8138160" cy="246888"/>
          </a:xfrm>
          <a:prstGeom prst="rect">
            <a:avLst/>
          </a:prstGeom>
          <a:noFill/>
        </p:spPr>
        <p:txBody>
          <a:bodyPr wrap="square" lIns="27432" tIns="18288" rIns="27432" bIns="18288">
            <a:spAutoFit/>
          </a:bodyPr>
          <a:lstStyle/>
          <a:p>
            <a:pPr algn="l"/>
            <a:r>
              <a:rPr sz="1230" b="0">
                <a:solidFill>
                  <a:srgbClr val="6B7280"/>
                </a:solidFill>
                <a:latin typeface="Aptos"/>
              </a:rPr>
              <a:t>Discover Computing, 28, Article 117 • DOI: 10.1007/s10791-025-09638-7</a:t>
            </a:r>
          </a:p>
        </p:txBody>
      </p:sp>
      <p:sp>
        <p:nvSpPr>
          <p:cNvPr id="14" name="Rounded Rectangle 13"/>
          <p:cNvSpPr/>
          <p:nvPr/>
        </p:nvSpPr>
        <p:spPr>
          <a:xfrm>
            <a:off x="9555480" y="2880360"/>
            <a:ext cx="1536192" cy="347472"/>
          </a:xfrm>
          <a:prstGeom prst="roundRect">
            <a:avLst/>
          </a:prstGeom>
          <a:solidFill>
            <a:srgbClr val="EC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37776" y="2953512"/>
            <a:ext cx="1371600" cy="146304"/>
          </a:xfrm>
          <a:prstGeom prst="rect">
            <a:avLst/>
          </a:prstGeom>
          <a:noFill/>
        </p:spPr>
        <p:txBody>
          <a:bodyPr wrap="square" lIns="27432" tIns="18288" rIns="27432" bIns="18288">
            <a:spAutoFit/>
          </a:bodyPr>
          <a:lstStyle/>
          <a:p>
            <a:pPr algn="ctr"/>
            <a:r>
              <a:rPr sz="940" b="1">
                <a:solidFill>
                  <a:srgbClr val="0D6963"/>
                </a:solidFill>
                <a:latin typeface="Aptos"/>
              </a:rPr>
              <a:t>BASELINE CHÍNH</a:t>
            </a:r>
          </a:p>
        </p:txBody>
      </p:sp>
      <p:sp>
        <p:nvSpPr>
          <p:cNvPr id="16" name="Rounded Rectangle 15"/>
          <p:cNvSpPr/>
          <p:nvPr/>
        </p:nvSpPr>
        <p:spPr>
          <a:xfrm>
            <a:off x="731520" y="3931920"/>
            <a:ext cx="5074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142232"/>
            <a:ext cx="4434840" cy="274320"/>
          </a:xfrm>
          <a:prstGeom prst="rect">
            <a:avLst/>
          </a:prstGeom>
          <a:noFill/>
        </p:spPr>
        <p:txBody>
          <a:bodyPr wrap="square" lIns="27432" tIns="18288" rIns="27432" bIns="18288">
            <a:spAutoFit/>
          </a:bodyPr>
          <a:lstStyle/>
          <a:p>
            <a:pPr algn="l"/>
            <a:r>
              <a:rPr sz="1800" b="1">
                <a:solidFill>
                  <a:srgbClr val="0F172A"/>
                </a:solidFill>
                <a:latin typeface="Aptos"/>
              </a:rPr>
              <a:t>Bài báo đề xuất gì?</a:t>
            </a:r>
          </a:p>
        </p:txBody>
      </p:sp>
      <p:sp>
        <p:nvSpPr>
          <p:cNvPr id="18" name="TextBox 17"/>
          <p:cNvSpPr txBox="1"/>
          <p:nvPr/>
        </p:nvSpPr>
        <p:spPr>
          <a:xfrm>
            <a:off x="960120" y="4526280"/>
            <a:ext cx="4526280" cy="1624034"/>
          </a:xfrm>
          <a:prstGeom prst="rect">
            <a:avLst/>
          </a:prstGeom>
          <a:noFill/>
        </p:spPr>
        <p:txBody>
          <a:bodyPr wrap="square" lIns="45720" tIns="9144" rIns="27432" bIns="9144">
            <a:spAutoFit/>
          </a:bodyPr>
          <a:lstStyle/>
          <a:p>
            <a:pPr>
              <a:spcAft>
                <a:spcPts val="500"/>
              </a:spcAft>
              <a:defRPr sz="1370">
                <a:solidFill>
                  <a:srgbClr val="1F2937"/>
                </a:solidFill>
                <a:latin typeface="Aptos"/>
              </a:defRPr>
            </a:pPr>
            <a:r>
              <a:rPr sz="1600" dirty="0"/>
              <a:t>• </a:t>
            </a:r>
            <a:r>
              <a:rPr sz="1600" dirty="0" err="1"/>
              <a:t>Gom</a:t>
            </a:r>
            <a:r>
              <a:rPr sz="1600" dirty="0"/>
              <a:t> </a:t>
            </a:r>
            <a:r>
              <a:rPr sz="1600" dirty="0" err="1"/>
              <a:t>các</a:t>
            </a:r>
            <a:r>
              <a:rPr sz="1600" dirty="0"/>
              <a:t> </a:t>
            </a:r>
            <a:r>
              <a:rPr sz="1600" dirty="0" err="1"/>
              <a:t>câu</a:t>
            </a:r>
            <a:r>
              <a:rPr sz="1600" dirty="0"/>
              <a:t> </a:t>
            </a:r>
            <a:r>
              <a:rPr sz="1600" dirty="0" err="1"/>
              <a:t>liên</a:t>
            </a:r>
            <a:r>
              <a:rPr sz="1600" dirty="0"/>
              <a:t> </a:t>
            </a:r>
            <a:r>
              <a:rPr sz="1600" dirty="0" err="1"/>
              <a:t>tiếp</a:t>
            </a:r>
            <a:r>
              <a:rPr sz="1600" dirty="0"/>
              <a:t> </a:t>
            </a:r>
            <a:r>
              <a:rPr sz="1600" dirty="0" err="1"/>
              <a:t>thành</a:t>
            </a:r>
            <a:r>
              <a:rPr sz="1600" dirty="0"/>
              <a:t> </a:t>
            </a:r>
            <a:r>
              <a:rPr sz="1600" dirty="0" err="1"/>
              <a:t>cụm</a:t>
            </a:r>
            <a:r>
              <a:rPr sz="1600" dirty="0"/>
              <a:t> </a:t>
            </a:r>
            <a:r>
              <a:rPr sz="1600" dirty="0" err="1"/>
              <a:t>ngữ</a:t>
            </a:r>
            <a:r>
              <a:rPr sz="1600" dirty="0"/>
              <a:t> </a:t>
            </a:r>
            <a:r>
              <a:rPr sz="1600" dirty="0" err="1"/>
              <a:t>nghĩa</a:t>
            </a:r>
            <a:r>
              <a:rPr sz="1600" dirty="0"/>
              <a:t> </a:t>
            </a:r>
            <a:r>
              <a:rPr sz="1600" dirty="0" err="1"/>
              <a:t>theo</a:t>
            </a:r>
            <a:r>
              <a:rPr sz="1600" dirty="0"/>
              <a:t> </a:t>
            </a:r>
            <a:r>
              <a:rPr sz="1600" dirty="0" err="1"/>
              <a:t>cách</a:t>
            </a:r>
            <a:r>
              <a:rPr sz="1600" dirty="0"/>
              <a:t> </a:t>
            </a:r>
            <a:r>
              <a:rPr sz="1600" dirty="0" err="1"/>
              <a:t>động</a:t>
            </a:r>
            <a:r>
              <a:rPr sz="1600" dirty="0"/>
              <a:t>.</a:t>
            </a:r>
          </a:p>
          <a:p>
            <a:pPr>
              <a:spcAft>
                <a:spcPts val="500"/>
              </a:spcAft>
              <a:defRPr sz="1370">
                <a:solidFill>
                  <a:srgbClr val="1F2937"/>
                </a:solidFill>
                <a:latin typeface="Aptos"/>
              </a:defRPr>
            </a:pPr>
            <a:r>
              <a:rPr sz="1600" dirty="0"/>
              <a:t>• </a:t>
            </a:r>
            <a:r>
              <a:rPr sz="1600" dirty="0" err="1"/>
              <a:t>Đưa</a:t>
            </a:r>
            <a:r>
              <a:rPr sz="1600" dirty="0"/>
              <a:t> </a:t>
            </a:r>
            <a:r>
              <a:rPr sz="1600" dirty="0" err="1"/>
              <a:t>câu</a:t>
            </a:r>
            <a:r>
              <a:rPr sz="1600" dirty="0"/>
              <a:t> </a:t>
            </a:r>
            <a:r>
              <a:rPr sz="1600" dirty="0" err="1"/>
              <a:t>mới</a:t>
            </a:r>
            <a:r>
              <a:rPr sz="1600" dirty="0"/>
              <a:t> </a:t>
            </a:r>
            <a:r>
              <a:rPr sz="1600" dirty="0" err="1"/>
              <a:t>vào</a:t>
            </a:r>
            <a:r>
              <a:rPr sz="1600" dirty="0"/>
              <a:t> </a:t>
            </a:r>
            <a:r>
              <a:rPr sz="1600" dirty="0" err="1"/>
              <a:t>cụm</a:t>
            </a:r>
            <a:r>
              <a:rPr sz="1600" dirty="0"/>
              <a:t> </a:t>
            </a:r>
            <a:r>
              <a:rPr sz="1600" dirty="0" err="1"/>
              <a:t>theo</a:t>
            </a:r>
            <a:r>
              <a:rPr sz="1600" dirty="0"/>
              <a:t> </a:t>
            </a:r>
            <a:r>
              <a:rPr sz="1600" dirty="0" err="1"/>
              <a:t>tiêu</a:t>
            </a:r>
            <a:r>
              <a:rPr sz="1600" dirty="0"/>
              <a:t> </a:t>
            </a:r>
            <a:r>
              <a:rPr sz="1600" dirty="0" err="1"/>
              <a:t>chí</a:t>
            </a:r>
            <a:r>
              <a:rPr sz="1600" dirty="0"/>
              <a:t> max–min similarity.</a:t>
            </a:r>
          </a:p>
          <a:p>
            <a:pPr>
              <a:spcAft>
                <a:spcPts val="500"/>
              </a:spcAft>
              <a:defRPr sz="1370">
                <a:solidFill>
                  <a:srgbClr val="1F2937"/>
                </a:solidFill>
                <a:latin typeface="Aptos"/>
              </a:defRPr>
            </a:pPr>
            <a:r>
              <a:rPr sz="1600" dirty="0"/>
              <a:t>• </a:t>
            </a:r>
            <a:r>
              <a:rPr sz="1600" dirty="0" err="1"/>
              <a:t>Đánh</a:t>
            </a:r>
            <a:r>
              <a:rPr sz="1600" dirty="0"/>
              <a:t> </a:t>
            </a:r>
            <a:r>
              <a:rPr sz="1600" dirty="0" err="1"/>
              <a:t>giá</a:t>
            </a:r>
            <a:r>
              <a:rPr sz="1600" dirty="0"/>
              <a:t> </a:t>
            </a:r>
            <a:r>
              <a:rPr sz="1600" dirty="0" err="1"/>
              <a:t>cả</a:t>
            </a:r>
            <a:r>
              <a:rPr sz="1600" dirty="0"/>
              <a:t> </a:t>
            </a:r>
            <a:r>
              <a:rPr sz="1600" dirty="0" err="1"/>
              <a:t>chất</a:t>
            </a:r>
            <a:r>
              <a:rPr sz="1600" dirty="0"/>
              <a:t> </a:t>
            </a:r>
            <a:r>
              <a:rPr sz="1600" dirty="0" err="1"/>
              <a:t>lượng</a:t>
            </a:r>
            <a:r>
              <a:rPr sz="1600" dirty="0"/>
              <a:t> </a:t>
            </a:r>
            <a:r>
              <a:rPr sz="1600" dirty="0" err="1"/>
              <a:t>phân</a:t>
            </a:r>
            <a:r>
              <a:rPr sz="1600" dirty="0"/>
              <a:t> </a:t>
            </a:r>
            <a:r>
              <a:rPr sz="1600" dirty="0" err="1"/>
              <a:t>đoạn</a:t>
            </a:r>
            <a:r>
              <a:rPr sz="1600" dirty="0"/>
              <a:t> </a:t>
            </a:r>
            <a:r>
              <a:rPr sz="1600" dirty="0" err="1"/>
              <a:t>và</a:t>
            </a:r>
            <a:r>
              <a:rPr sz="1600" dirty="0"/>
              <a:t> </a:t>
            </a:r>
            <a:r>
              <a:rPr sz="1600" dirty="0" err="1"/>
              <a:t>hiệu</a:t>
            </a:r>
            <a:r>
              <a:rPr sz="1600" dirty="0"/>
              <a:t> </a:t>
            </a:r>
            <a:r>
              <a:rPr sz="1600" dirty="0" err="1"/>
              <a:t>quả</a:t>
            </a:r>
            <a:r>
              <a:rPr sz="1600" dirty="0"/>
              <a:t> </a:t>
            </a:r>
            <a:r>
              <a:rPr sz="1600" dirty="0" err="1"/>
              <a:t>trong</a:t>
            </a:r>
            <a:r>
              <a:rPr sz="1600" dirty="0"/>
              <a:t> RAG.</a:t>
            </a:r>
          </a:p>
        </p:txBody>
      </p:sp>
      <p:sp>
        <p:nvSpPr>
          <p:cNvPr id="19" name="Rounded Rectangle 18"/>
          <p:cNvSpPr/>
          <p:nvPr/>
        </p:nvSpPr>
        <p:spPr>
          <a:xfrm>
            <a:off x="6080760" y="3931920"/>
            <a:ext cx="5074920" cy="1783080"/>
          </a:xfrm>
          <a:prstGeom prst="roundRect">
            <a:avLst/>
          </a:prstGeom>
          <a:solidFill>
            <a:srgbClr val="EC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4142232"/>
            <a:ext cx="4434840" cy="274320"/>
          </a:xfrm>
          <a:prstGeom prst="rect">
            <a:avLst/>
          </a:prstGeom>
          <a:noFill/>
        </p:spPr>
        <p:txBody>
          <a:bodyPr wrap="square" lIns="27432" tIns="18288" rIns="27432" bIns="18288">
            <a:spAutoFit/>
          </a:bodyPr>
          <a:lstStyle/>
          <a:p>
            <a:pPr algn="l"/>
            <a:r>
              <a:rPr sz="1800" b="1">
                <a:solidFill>
                  <a:srgbClr val="0D6963"/>
                </a:solidFill>
                <a:latin typeface="Aptos"/>
              </a:rPr>
              <a:t>Vì sao chọn làm đối chứng?</a:t>
            </a:r>
          </a:p>
        </p:txBody>
      </p:sp>
      <p:sp>
        <p:nvSpPr>
          <p:cNvPr id="21" name="TextBox 20"/>
          <p:cNvSpPr txBox="1"/>
          <p:nvPr/>
        </p:nvSpPr>
        <p:spPr>
          <a:xfrm>
            <a:off x="6309360" y="4526280"/>
            <a:ext cx="4526280" cy="1131592"/>
          </a:xfrm>
          <a:prstGeom prst="rect">
            <a:avLst/>
          </a:prstGeom>
          <a:noFill/>
        </p:spPr>
        <p:txBody>
          <a:bodyPr wrap="square" lIns="45720" tIns="9144" rIns="27432" bIns="9144">
            <a:spAutoFit/>
          </a:bodyPr>
          <a:lstStyle/>
          <a:p>
            <a:pPr>
              <a:spcAft>
                <a:spcPts val="500"/>
              </a:spcAft>
              <a:defRPr sz="1370">
                <a:solidFill>
                  <a:srgbClr val="1F2937"/>
                </a:solidFill>
                <a:latin typeface="Aptos"/>
              </a:defRPr>
            </a:pPr>
            <a:r>
              <a:rPr sz="1600" dirty="0"/>
              <a:t>• </a:t>
            </a:r>
            <a:r>
              <a:rPr sz="1600" dirty="0" err="1"/>
              <a:t>Giải</a:t>
            </a:r>
            <a:r>
              <a:rPr sz="1600" dirty="0"/>
              <a:t> </a:t>
            </a:r>
            <a:r>
              <a:rPr sz="1600" dirty="0" err="1"/>
              <a:t>quyết</a:t>
            </a:r>
            <a:r>
              <a:rPr sz="1600" dirty="0"/>
              <a:t> </a:t>
            </a:r>
            <a:r>
              <a:rPr sz="1600" dirty="0" err="1"/>
              <a:t>cùng</a:t>
            </a:r>
            <a:r>
              <a:rPr sz="1600" dirty="0"/>
              <a:t> </a:t>
            </a:r>
            <a:r>
              <a:rPr sz="1600" dirty="0" err="1"/>
              <a:t>bước</a:t>
            </a:r>
            <a:r>
              <a:rPr sz="1600" dirty="0"/>
              <a:t> chunking </a:t>
            </a:r>
            <a:r>
              <a:rPr sz="1600" dirty="0" err="1"/>
              <a:t>cho</a:t>
            </a:r>
            <a:r>
              <a:rPr sz="1600" dirty="0"/>
              <a:t> RAG.</a:t>
            </a:r>
          </a:p>
          <a:p>
            <a:pPr>
              <a:spcAft>
                <a:spcPts val="500"/>
              </a:spcAft>
              <a:defRPr sz="1370">
                <a:solidFill>
                  <a:srgbClr val="1F2937"/>
                </a:solidFill>
                <a:latin typeface="Aptos"/>
              </a:defRPr>
            </a:pPr>
            <a:r>
              <a:rPr sz="1600" dirty="0"/>
              <a:t>• </a:t>
            </a:r>
            <a:r>
              <a:rPr sz="1600" dirty="0" err="1"/>
              <a:t>Có</a:t>
            </a:r>
            <a:r>
              <a:rPr sz="1600" dirty="0"/>
              <a:t> </a:t>
            </a:r>
            <a:r>
              <a:rPr sz="1600" dirty="0" err="1"/>
              <a:t>bài</a:t>
            </a:r>
            <a:r>
              <a:rPr sz="1600" dirty="0"/>
              <a:t> </a:t>
            </a:r>
            <a:r>
              <a:rPr sz="1600" dirty="0" err="1"/>
              <a:t>báo</a:t>
            </a:r>
            <a:r>
              <a:rPr sz="1600" dirty="0"/>
              <a:t> </a:t>
            </a:r>
            <a:r>
              <a:rPr sz="1600" dirty="0" err="1"/>
              <a:t>học</a:t>
            </a:r>
            <a:r>
              <a:rPr sz="1600" dirty="0"/>
              <a:t> </a:t>
            </a:r>
            <a:r>
              <a:rPr sz="1600" dirty="0" err="1"/>
              <a:t>thuật</a:t>
            </a:r>
            <a:r>
              <a:rPr sz="1600" dirty="0"/>
              <a:t> </a:t>
            </a:r>
            <a:r>
              <a:rPr sz="1600" dirty="0" err="1"/>
              <a:t>và</a:t>
            </a:r>
            <a:r>
              <a:rPr sz="1600" dirty="0"/>
              <a:t> </a:t>
            </a:r>
            <a:r>
              <a:rPr sz="1600" dirty="0" err="1"/>
              <a:t>mã</a:t>
            </a:r>
            <a:r>
              <a:rPr sz="1600" dirty="0"/>
              <a:t> </a:t>
            </a:r>
            <a:r>
              <a:rPr sz="1600" dirty="0" err="1"/>
              <a:t>nguồn</a:t>
            </a:r>
            <a:r>
              <a:rPr sz="1600" dirty="0"/>
              <a:t> </a:t>
            </a:r>
            <a:r>
              <a:rPr sz="1600" dirty="0" err="1"/>
              <a:t>công</a:t>
            </a:r>
            <a:r>
              <a:rPr sz="1600" dirty="0"/>
              <a:t> </a:t>
            </a:r>
            <a:r>
              <a:rPr sz="1600" dirty="0" err="1"/>
              <a:t>bố</a:t>
            </a:r>
            <a:r>
              <a:rPr sz="1600" dirty="0"/>
              <a:t>.</a:t>
            </a:r>
          </a:p>
          <a:p>
            <a:pPr>
              <a:spcAft>
                <a:spcPts val="500"/>
              </a:spcAft>
              <a:defRPr sz="1370">
                <a:solidFill>
                  <a:srgbClr val="1F2937"/>
                </a:solidFill>
                <a:latin typeface="Aptos"/>
              </a:defRPr>
            </a:pPr>
            <a:r>
              <a:rPr sz="1600" dirty="0"/>
              <a:t>• </a:t>
            </a:r>
            <a:r>
              <a:rPr sz="1600" dirty="0" err="1"/>
              <a:t>Có</a:t>
            </a:r>
            <a:r>
              <a:rPr sz="1600" dirty="0"/>
              <a:t> </a:t>
            </a:r>
            <a:r>
              <a:rPr sz="1600" dirty="0" err="1"/>
              <a:t>thể</a:t>
            </a:r>
            <a:r>
              <a:rPr sz="1600" dirty="0"/>
              <a:t> </a:t>
            </a:r>
            <a:r>
              <a:rPr sz="1600" dirty="0" err="1"/>
              <a:t>chạy</a:t>
            </a:r>
            <a:r>
              <a:rPr sz="1600" dirty="0"/>
              <a:t> </a:t>
            </a:r>
            <a:r>
              <a:rPr sz="1600" dirty="0" err="1"/>
              <a:t>cùng</a:t>
            </a:r>
            <a:r>
              <a:rPr sz="1600" dirty="0"/>
              <a:t> pipeline </a:t>
            </a:r>
            <a:r>
              <a:rPr sz="1600" dirty="0" err="1"/>
              <a:t>tiếng</a:t>
            </a:r>
            <a:r>
              <a:rPr sz="1600" dirty="0"/>
              <a:t> Việt </a:t>
            </a:r>
            <a:r>
              <a:rPr sz="1600" dirty="0" err="1"/>
              <a:t>để</a:t>
            </a:r>
            <a:r>
              <a:rPr sz="1600" dirty="0"/>
              <a:t> so </a:t>
            </a:r>
            <a:r>
              <a:rPr sz="1600" dirty="0" err="1"/>
              <a:t>sánh</a:t>
            </a:r>
            <a:r>
              <a:rPr sz="1600" dirty="0"/>
              <a:t> </a:t>
            </a:r>
            <a:r>
              <a:rPr sz="1600" dirty="0" err="1"/>
              <a:t>công</a:t>
            </a:r>
            <a:r>
              <a:rPr sz="1600" dirty="0"/>
              <a:t> </a:t>
            </a:r>
            <a:r>
              <a:rPr sz="1600" dirty="0" err="1"/>
              <a:t>bằng</a:t>
            </a:r>
            <a:r>
              <a:rPr sz="1600" dirty="0"/>
              <a:t>.</a:t>
            </a:r>
          </a:p>
        </p:txBody>
      </p:sp>
      <p:sp>
        <p:nvSpPr>
          <p:cNvPr id="22" name="Rounded Rectangle 21"/>
          <p:cNvSpPr/>
          <p:nvPr/>
        </p:nvSpPr>
        <p:spPr>
          <a:xfrm>
            <a:off x="896112" y="5925312"/>
            <a:ext cx="10424160" cy="530352"/>
          </a:xfrm>
          <a:prstGeom prst="roundRect">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6007608"/>
            <a:ext cx="10012680" cy="310896"/>
          </a:xfrm>
          <a:prstGeom prst="rect">
            <a:avLst/>
          </a:prstGeom>
          <a:noFill/>
        </p:spPr>
        <p:txBody>
          <a:bodyPr wrap="square" lIns="27432" tIns="18288" rIns="27432" bIns="18288">
            <a:spAutoFit/>
          </a:bodyPr>
          <a:lstStyle/>
          <a:p>
            <a:pPr algn="ctr"/>
            <a:r>
              <a:rPr sz="1180" b="1">
                <a:solidFill>
                  <a:srgbClr val="166534"/>
                </a:solidFill>
                <a:latin typeface="Aptos"/>
              </a:rPr>
              <a:t>Trong đề tài: bám mã nguồn Max–Min của tác giả, nhưng dùng cùng sentence splitter và multilingual embedding với Ours; đây là bản thích nghi tiếng Việt, không phải tái lập toàn bộ thí nghiệm gốc.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3. Pipeline phương pháp đề xuất</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Từ văn bản đầu vào đến danh sách chunk dùng cho retrieval</a:t>
            </a:r>
            <a:endParaRPr lang="en-US" sz="1300" dirty="0"/>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PIPELINE</a:t>
            </a:r>
            <a:endParaRPr lang="en-US" sz="1100" dirty="0"/>
          </a:p>
        </p:txBody>
      </p:sp>
      <p:sp>
        <p:nvSpPr>
          <p:cNvPr id="6" name="Shape 4"/>
          <p:cNvSpPr/>
          <p:nvPr/>
        </p:nvSpPr>
        <p:spPr>
          <a:xfrm>
            <a:off x="411480" y="2057400"/>
            <a:ext cx="1417320" cy="1051560"/>
          </a:xfrm>
          <a:prstGeom prst="roundRect">
            <a:avLst>
              <a:gd name="adj" fmla="val 3478"/>
            </a:avLst>
          </a:prstGeom>
          <a:solidFill>
            <a:srgbClr val="F8FAFC"/>
          </a:solidFill>
          <a:ln w="15240">
            <a:solidFill>
              <a:srgbClr val="CBD5E1"/>
            </a:solidFill>
            <a:prstDash val="solid"/>
          </a:ln>
        </p:spPr>
      </p:sp>
      <p:sp>
        <p:nvSpPr>
          <p:cNvPr id="7" name="Text 5"/>
          <p:cNvSpPr/>
          <p:nvPr/>
        </p:nvSpPr>
        <p:spPr>
          <a:xfrm>
            <a:off x="896112"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1</a:t>
            </a:r>
            <a:endParaRPr lang="en-US" sz="1800" dirty="0"/>
          </a:p>
        </p:txBody>
      </p:sp>
      <p:sp>
        <p:nvSpPr>
          <p:cNvPr id="8" name="Text 6"/>
          <p:cNvSpPr/>
          <p:nvPr/>
        </p:nvSpPr>
        <p:spPr>
          <a:xfrm>
            <a:off x="502920"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Tách câu</a:t>
            </a:r>
            <a:endParaRPr lang="en-US" sz="1150" dirty="0"/>
          </a:p>
        </p:txBody>
      </p:sp>
      <p:sp>
        <p:nvSpPr>
          <p:cNvPr id="9" name="Shape 7"/>
          <p:cNvSpPr/>
          <p:nvPr/>
        </p:nvSpPr>
        <p:spPr>
          <a:xfrm>
            <a:off x="1828800" y="2587752"/>
            <a:ext cx="91440" cy="0"/>
          </a:xfrm>
          <a:prstGeom prst="line">
            <a:avLst/>
          </a:prstGeom>
          <a:noFill/>
          <a:ln w="20320">
            <a:solidFill>
              <a:srgbClr val="94A3B8"/>
            </a:solidFill>
            <a:prstDash val="solid"/>
            <a:headEnd type="none"/>
            <a:tailEnd type="triangle"/>
          </a:ln>
        </p:spPr>
      </p:sp>
      <p:sp>
        <p:nvSpPr>
          <p:cNvPr id="10" name="Shape 8"/>
          <p:cNvSpPr/>
          <p:nvPr/>
        </p:nvSpPr>
        <p:spPr>
          <a:xfrm>
            <a:off x="1993392" y="2057400"/>
            <a:ext cx="1417320" cy="1051560"/>
          </a:xfrm>
          <a:prstGeom prst="roundRect">
            <a:avLst>
              <a:gd name="adj" fmla="val 3478"/>
            </a:avLst>
          </a:prstGeom>
          <a:solidFill>
            <a:srgbClr val="F8FAFC"/>
          </a:solidFill>
          <a:ln w="15240">
            <a:solidFill>
              <a:srgbClr val="CBD5E1"/>
            </a:solidFill>
            <a:prstDash val="solid"/>
          </a:ln>
        </p:spPr>
      </p:sp>
      <p:sp>
        <p:nvSpPr>
          <p:cNvPr id="11" name="Text 9"/>
          <p:cNvSpPr/>
          <p:nvPr/>
        </p:nvSpPr>
        <p:spPr>
          <a:xfrm>
            <a:off x="2478024"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2</a:t>
            </a:r>
            <a:endParaRPr lang="en-US" sz="1800" dirty="0"/>
          </a:p>
        </p:txBody>
      </p:sp>
      <p:sp>
        <p:nvSpPr>
          <p:cNvPr id="12" name="Text 10"/>
          <p:cNvSpPr/>
          <p:nvPr/>
        </p:nvSpPr>
        <p:spPr>
          <a:xfrm>
            <a:off x="2084832"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Tạo candidate boundary</a:t>
            </a:r>
            <a:endParaRPr lang="en-US" sz="1150" dirty="0"/>
          </a:p>
        </p:txBody>
      </p:sp>
      <p:sp>
        <p:nvSpPr>
          <p:cNvPr id="13" name="Shape 11"/>
          <p:cNvSpPr/>
          <p:nvPr/>
        </p:nvSpPr>
        <p:spPr>
          <a:xfrm>
            <a:off x="3410712" y="2587752"/>
            <a:ext cx="265176" cy="0"/>
          </a:xfrm>
          <a:prstGeom prst="line">
            <a:avLst/>
          </a:prstGeom>
          <a:noFill/>
          <a:ln w="20320">
            <a:solidFill>
              <a:srgbClr val="94A3B8"/>
            </a:solidFill>
            <a:prstDash val="solid"/>
            <a:headEnd type="none"/>
            <a:tailEnd type="triangle"/>
          </a:ln>
        </p:spPr>
      </p:sp>
      <p:sp>
        <p:nvSpPr>
          <p:cNvPr id="14" name="Shape 12"/>
          <p:cNvSpPr/>
          <p:nvPr/>
        </p:nvSpPr>
        <p:spPr>
          <a:xfrm>
            <a:off x="3749040" y="2057400"/>
            <a:ext cx="1417320" cy="1051560"/>
          </a:xfrm>
          <a:prstGeom prst="roundRect">
            <a:avLst>
              <a:gd name="adj" fmla="val 3478"/>
            </a:avLst>
          </a:prstGeom>
          <a:solidFill>
            <a:srgbClr val="E6FFFB"/>
          </a:solidFill>
          <a:ln w="15240">
            <a:solidFill>
              <a:srgbClr val="99F6E4"/>
            </a:solidFill>
            <a:prstDash val="solid"/>
          </a:ln>
        </p:spPr>
      </p:sp>
      <p:sp>
        <p:nvSpPr>
          <p:cNvPr id="15" name="Text 13"/>
          <p:cNvSpPr/>
          <p:nvPr/>
        </p:nvSpPr>
        <p:spPr>
          <a:xfrm>
            <a:off x="4233672"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3</a:t>
            </a:r>
            <a:endParaRPr lang="en-US" sz="1800" dirty="0"/>
          </a:p>
        </p:txBody>
      </p:sp>
      <p:sp>
        <p:nvSpPr>
          <p:cNvPr id="16" name="Text 14"/>
          <p:cNvSpPr/>
          <p:nvPr/>
        </p:nvSpPr>
        <p:spPr>
          <a:xfrm>
            <a:off x="3840480"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Tính feature</a:t>
            </a:r>
            <a:endParaRPr lang="en-US" sz="1150" dirty="0"/>
          </a:p>
        </p:txBody>
      </p:sp>
      <p:sp>
        <p:nvSpPr>
          <p:cNvPr id="17" name="Shape 15"/>
          <p:cNvSpPr/>
          <p:nvPr/>
        </p:nvSpPr>
        <p:spPr>
          <a:xfrm>
            <a:off x="5166360" y="2587752"/>
            <a:ext cx="246888" cy="0"/>
          </a:xfrm>
          <a:prstGeom prst="line">
            <a:avLst/>
          </a:prstGeom>
          <a:noFill/>
          <a:ln w="20320">
            <a:solidFill>
              <a:srgbClr val="94A3B8"/>
            </a:solidFill>
            <a:prstDash val="solid"/>
            <a:headEnd type="none"/>
            <a:tailEnd type="triangle"/>
          </a:ln>
        </p:spPr>
      </p:sp>
      <p:sp>
        <p:nvSpPr>
          <p:cNvPr id="18" name="Shape 16"/>
          <p:cNvSpPr/>
          <p:nvPr/>
        </p:nvSpPr>
        <p:spPr>
          <a:xfrm>
            <a:off x="5486400" y="2057400"/>
            <a:ext cx="1417320" cy="1051560"/>
          </a:xfrm>
          <a:prstGeom prst="roundRect">
            <a:avLst>
              <a:gd name="adj" fmla="val 3478"/>
            </a:avLst>
          </a:prstGeom>
          <a:solidFill>
            <a:srgbClr val="E6FFFB"/>
          </a:solidFill>
          <a:ln w="15240">
            <a:solidFill>
              <a:srgbClr val="99F6E4"/>
            </a:solidFill>
            <a:prstDash val="solid"/>
          </a:ln>
        </p:spPr>
      </p:sp>
      <p:sp>
        <p:nvSpPr>
          <p:cNvPr id="19" name="Text 17"/>
          <p:cNvSpPr/>
          <p:nvPr/>
        </p:nvSpPr>
        <p:spPr>
          <a:xfrm>
            <a:off x="5971032"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4</a:t>
            </a:r>
            <a:endParaRPr lang="en-US" sz="1800" dirty="0"/>
          </a:p>
        </p:txBody>
      </p:sp>
      <p:sp>
        <p:nvSpPr>
          <p:cNvPr id="20" name="Text 18"/>
          <p:cNvSpPr/>
          <p:nvPr/>
        </p:nvSpPr>
        <p:spPr>
          <a:xfrm>
            <a:off x="5577840"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Chọn boundary</a:t>
            </a:r>
            <a:endParaRPr lang="en-US" sz="1150" dirty="0"/>
          </a:p>
        </p:txBody>
      </p:sp>
      <p:sp>
        <p:nvSpPr>
          <p:cNvPr id="21" name="Shape 19"/>
          <p:cNvSpPr/>
          <p:nvPr/>
        </p:nvSpPr>
        <p:spPr>
          <a:xfrm>
            <a:off x="6903720" y="2587752"/>
            <a:ext cx="228600" cy="0"/>
          </a:xfrm>
          <a:prstGeom prst="line">
            <a:avLst/>
          </a:prstGeom>
          <a:noFill/>
          <a:ln w="20320">
            <a:solidFill>
              <a:srgbClr val="94A3B8"/>
            </a:solidFill>
            <a:prstDash val="solid"/>
            <a:headEnd type="none"/>
            <a:tailEnd type="triangle"/>
          </a:ln>
        </p:spPr>
      </p:sp>
      <p:sp>
        <p:nvSpPr>
          <p:cNvPr id="22" name="Shape 20"/>
          <p:cNvSpPr/>
          <p:nvPr/>
        </p:nvSpPr>
        <p:spPr>
          <a:xfrm>
            <a:off x="7205472" y="2057400"/>
            <a:ext cx="1417320" cy="1051560"/>
          </a:xfrm>
          <a:prstGeom prst="roundRect">
            <a:avLst>
              <a:gd name="adj" fmla="val 3478"/>
            </a:avLst>
          </a:prstGeom>
          <a:solidFill>
            <a:srgbClr val="F8FAFC"/>
          </a:solidFill>
          <a:ln w="15240">
            <a:solidFill>
              <a:srgbClr val="CBD5E1"/>
            </a:solidFill>
            <a:prstDash val="solid"/>
          </a:ln>
        </p:spPr>
      </p:sp>
      <p:sp>
        <p:nvSpPr>
          <p:cNvPr id="23" name="Text 21"/>
          <p:cNvSpPr/>
          <p:nvPr/>
        </p:nvSpPr>
        <p:spPr>
          <a:xfrm>
            <a:off x="7690104"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5</a:t>
            </a:r>
            <a:endParaRPr lang="en-US" sz="1800" dirty="0"/>
          </a:p>
        </p:txBody>
      </p:sp>
      <p:sp>
        <p:nvSpPr>
          <p:cNvPr id="24" name="Text 22"/>
          <p:cNvSpPr/>
          <p:nvPr/>
        </p:nvSpPr>
        <p:spPr>
          <a:xfrm>
            <a:off x="7296912"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Split</a:t>
            </a:r>
            <a:endParaRPr lang="en-US" sz="1150" dirty="0"/>
          </a:p>
        </p:txBody>
      </p:sp>
      <p:sp>
        <p:nvSpPr>
          <p:cNvPr id="25" name="Shape 23"/>
          <p:cNvSpPr/>
          <p:nvPr/>
        </p:nvSpPr>
        <p:spPr>
          <a:xfrm>
            <a:off x="8622792" y="2587752"/>
            <a:ext cx="0" cy="0"/>
          </a:xfrm>
          <a:prstGeom prst="line">
            <a:avLst/>
          </a:prstGeom>
          <a:noFill/>
          <a:ln w="20320">
            <a:solidFill>
              <a:srgbClr val="94A3B8"/>
            </a:solidFill>
            <a:prstDash val="solid"/>
            <a:headEnd type="none"/>
            <a:tailEnd type="triangle"/>
          </a:ln>
        </p:spPr>
      </p:sp>
      <p:sp>
        <p:nvSpPr>
          <p:cNvPr id="26" name="Shape 24"/>
          <p:cNvSpPr/>
          <p:nvPr/>
        </p:nvSpPr>
        <p:spPr>
          <a:xfrm>
            <a:off x="8641080" y="2057400"/>
            <a:ext cx="1417320" cy="1051560"/>
          </a:xfrm>
          <a:prstGeom prst="roundRect">
            <a:avLst>
              <a:gd name="adj" fmla="val 3478"/>
            </a:avLst>
          </a:prstGeom>
          <a:solidFill>
            <a:srgbClr val="F8FAFC"/>
          </a:solidFill>
          <a:ln w="15240">
            <a:solidFill>
              <a:srgbClr val="CBD5E1"/>
            </a:solidFill>
            <a:prstDash val="solid"/>
          </a:ln>
        </p:spPr>
      </p:sp>
      <p:sp>
        <p:nvSpPr>
          <p:cNvPr id="27" name="Text 25"/>
          <p:cNvSpPr/>
          <p:nvPr/>
        </p:nvSpPr>
        <p:spPr>
          <a:xfrm>
            <a:off x="9125712"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6</a:t>
            </a:r>
            <a:endParaRPr lang="en-US" sz="1800" dirty="0"/>
          </a:p>
        </p:txBody>
      </p:sp>
      <p:sp>
        <p:nvSpPr>
          <p:cNvPr id="28" name="Text 26"/>
          <p:cNvSpPr/>
          <p:nvPr/>
        </p:nvSpPr>
        <p:spPr>
          <a:xfrm>
            <a:off x="8732520"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Dynamic overlap</a:t>
            </a:r>
            <a:endParaRPr lang="en-US" sz="1150" dirty="0"/>
          </a:p>
        </p:txBody>
      </p:sp>
      <p:sp>
        <p:nvSpPr>
          <p:cNvPr id="29" name="Shape 27"/>
          <p:cNvSpPr/>
          <p:nvPr/>
        </p:nvSpPr>
        <p:spPr>
          <a:xfrm>
            <a:off x="10058400" y="2587752"/>
            <a:ext cx="64008" cy="0"/>
          </a:xfrm>
          <a:prstGeom prst="line">
            <a:avLst/>
          </a:prstGeom>
          <a:noFill/>
          <a:ln w="20320">
            <a:solidFill>
              <a:srgbClr val="94A3B8"/>
            </a:solidFill>
            <a:prstDash val="solid"/>
            <a:headEnd type="none"/>
            <a:tailEnd type="triangle"/>
          </a:ln>
        </p:spPr>
      </p:sp>
      <p:sp>
        <p:nvSpPr>
          <p:cNvPr id="30" name="Shape 28"/>
          <p:cNvSpPr/>
          <p:nvPr/>
        </p:nvSpPr>
        <p:spPr>
          <a:xfrm>
            <a:off x="10195560" y="2057400"/>
            <a:ext cx="1417320" cy="1051560"/>
          </a:xfrm>
          <a:prstGeom prst="roundRect">
            <a:avLst>
              <a:gd name="adj" fmla="val 3478"/>
            </a:avLst>
          </a:prstGeom>
          <a:solidFill>
            <a:srgbClr val="F8FAFC"/>
          </a:solidFill>
          <a:ln w="15240">
            <a:solidFill>
              <a:srgbClr val="CBD5E1"/>
            </a:solidFill>
            <a:prstDash val="solid"/>
          </a:ln>
        </p:spPr>
      </p:sp>
      <p:sp>
        <p:nvSpPr>
          <p:cNvPr id="31" name="Text 29"/>
          <p:cNvSpPr/>
          <p:nvPr/>
        </p:nvSpPr>
        <p:spPr>
          <a:xfrm>
            <a:off x="10680192" y="2212848"/>
            <a:ext cx="438912" cy="292608"/>
          </a:xfrm>
          <a:prstGeom prst="rect">
            <a:avLst/>
          </a:prstGeom>
          <a:noFill/>
          <a:ln/>
        </p:spPr>
        <p:txBody>
          <a:bodyPr wrap="square" lIns="0" tIns="0" rIns="0" bIns="0" rtlCol="0" anchor="ctr"/>
          <a:lstStyle/>
          <a:p>
            <a:pPr marL="0" indent="0" algn="ctr">
              <a:buNone/>
            </a:pPr>
            <a:r>
              <a:rPr lang="en-US" sz="1800" b="1" dirty="0">
                <a:solidFill>
                  <a:srgbClr val="0F766E"/>
                </a:solidFill>
              </a:rPr>
              <a:t>7</a:t>
            </a:r>
            <a:endParaRPr lang="en-US" sz="1800" dirty="0"/>
          </a:p>
        </p:txBody>
      </p:sp>
      <p:sp>
        <p:nvSpPr>
          <p:cNvPr id="32" name="Text 30"/>
          <p:cNvSpPr/>
          <p:nvPr/>
        </p:nvSpPr>
        <p:spPr>
          <a:xfrm>
            <a:off x="10287000" y="2587752"/>
            <a:ext cx="1234440" cy="347472"/>
          </a:xfrm>
          <a:prstGeom prst="rect">
            <a:avLst/>
          </a:prstGeom>
          <a:noFill/>
          <a:ln/>
        </p:spPr>
        <p:txBody>
          <a:bodyPr wrap="square" lIns="0" tIns="0" rIns="0" bIns="0" rtlCol="0" anchor="ctr"/>
          <a:lstStyle/>
          <a:p>
            <a:pPr marL="0" indent="0" algn="ctr">
              <a:buNone/>
            </a:pPr>
            <a:r>
              <a:rPr lang="en-US" sz="1150" b="1" dirty="0">
                <a:solidFill>
                  <a:srgbClr val="1F2937"/>
                </a:solidFill>
              </a:rPr>
              <a:t>Lặp remaining text</a:t>
            </a:r>
            <a:endParaRPr lang="en-US" sz="1150" dirty="0"/>
          </a:p>
        </p:txBody>
      </p:sp>
      <p:sp>
        <p:nvSpPr>
          <p:cNvPr id="33" name="Shape 31"/>
          <p:cNvSpPr/>
          <p:nvPr/>
        </p:nvSpPr>
        <p:spPr>
          <a:xfrm>
            <a:off x="548640" y="3703320"/>
            <a:ext cx="11064240" cy="0"/>
          </a:xfrm>
          <a:prstGeom prst="line">
            <a:avLst/>
          </a:prstGeom>
          <a:noFill/>
          <a:ln w="12700">
            <a:solidFill>
              <a:srgbClr val="E5E7EB"/>
            </a:solidFill>
            <a:prstDash val="solid"/>
          </a:ln>
        </p:spPr>
      </p:sp>
      <p:sp>
        <p:nvSpPr>
          <p:cNvPr id="34" name="Shape 32"/>
          <p:cNvSpPr/>
          <p:nvPr/>
        </p:nvSpPr>
        <p:spPr>
          <a:xfrm>
            <a:off x="914400" y="4069080"/>
            <a:ext cx="2468880" cy="1234440"/>
          </a:xfrm>
          <a:prstGeom prst="roundRect">
            <a:avLst>
              <a:gd name="adj" fmla="val 3704"/>
            </a:avLst>
          </a:prstGeom>
          <a:solidFill>
            <a:srgbClr val="F8FAFC"/>
          </a:solidFill>
          <a:ln w="12700">
            <a:solidFill>
              <a:srgbClr val="E5E7EB"/>
            </a:solidFill>
            <a:prstDash val="solid"/>
          </a:ln>
        </p:spPr>
      </p:sp>
      <p:sp>
        <p:nvSpPr>
          <p:cNvPr id="35" name="Text 33"/>
          <p:cNvSpPr/>
          <p:nvPr/>
        </p:nvSpPr>
        <p:spPr>
          <a:xfrm>
            <a:off x="1060704" y="4178808"/>
            <a:ext cx="2176272" cy="201168"/>
          </a:xfrm>
          <a:prstGeom prst="rect">
            <a:avLst/>
          </a:prstGeom>
          <a:noFill/>
          <a:ln/>
        </p:spPr>
        <p:txBody>
          <a:bodyPr wrap="square" lIns="0" tIns="0" rIns="0" bIns="0" rtlCol="0" anchor="ctr"/>
          <a:lstStyle/>
          <a:p>
            <a:pPr marL="0" indent="0" algn="ctr">
              <a:buNone/>
            </a:pPr>
            <a:r>
              <a:rPr lang="en-US" sz="1200" b="1" dirty="0">
                <a:solidFill>
                  <a:srgbClr val="6B7280"/>
                </a:solidFill>
              </a:rPr>
              <a:t>Kích thước</a:t>
            </a:r>
            <a:endParaRPr lang="en-US" sz="1200" dirty="0"/>
          </a:p>
        </p:txBody>
      </p:sp>
      <p:sp>
        <p:nvSpPr>
          <p:cNvPr id="36" name="Text 34"/>
          <p:cNvSpPr/>
          <p:nvPr/>
        </p:nvSpPr>
        <p:spPr>
          <a:xfrm>
            <a:off x="1024128" y="4453128"/>
            <a:ext cx="2249424" cy="475488"/>
          </a:xfrm>
          <a:prstGeom prst="rect">
            <a:avLst/>
          </a:prstGeom>
          <a:noFill/>
          <a:ln/>
        </p:spPr>
        <p:txBody>
          <a:bodyPr wrap="square" lIns="0" tIns="0" rIns="0" bIns="0" rtlCol="0" anchor="ctr"/>
          <a:lstStyle/>
          <a:p>
            <a:pPr marL="0" indent="0" algn="ctr">
              <a:buNone/>
            </a:pPr>
            <a:r>
              <a:rPr lang="en-US" sz="2600" b="1" dirty="0">
                <a:solidFill>
                  <a:srgbClr val="0F766E"/>
                </a:solidFill>
              </a:rPr>
              <a:t>120 / 180 / 240</a:t>
            </a:r>
            <a:endParaRPr lang="en-US" sz="2600" dirty="0"/>
          </a:p>
        </p:txBody>
      </p:sp>
      <p:sp>
        <p:nvSpPr>
          <p:cNvPr id="37" name="Text 35"/>
          <p:cNvSpPr/>
          <p:nvPr/>
        </p:nvSpPr>
        <p:spPr>
          <a:xfrm>
            <a:off x="1024128" y="4983480"/>
            <a:ext cx="2249424" cy="256032"/>
          </a:xfrm>
          <a:prstGeom prst="rect">
            <a:avLst/>
          </a:prstGeom>
          <a:noFill/>
          <a:ln/>
        </p:spPr>
        <p:txBody>
          <a:bodyPr wrap="square" lIns="0" tIns="0" rIns="0" bIns="0" rtlCol="0" anchor="ctr"/>
          <a:lstStyle/>
          <a:p>
            <a:pPr marL="0" indent="0" algn="ctr">
              <a:buNone/>
            </a:pPr>
            <a:r>
              <a:rPr lang="en-US" sz="1050" dirty="0">
                <a:solidFill>
                  <a:srgbClr val="6B7280"/>
                </a:solidFill>
              </a:rPr>
              <a:t>MIN / TARGET / MAX</a:t>
            </a:r>
            <a:endParaRPr lang="en-US" sz="1050" dirty="0"/>
          </a:p>
        </p:txBody>
      </p:sp>
      <p:sp>
        <p:nvSpPr>
          <p:cNvPr id="38" name="Shape 36"/>
          <p:cNvSpPr/>
          <p:nvPr/>
        </p:nvSpPr>
        <p:spPr>
          <a:xfrm>
            <a:off x="3749040" y="4069080"/>
            <a:ext cx="2468880" cy="1234440"/>
          </a:xfrm>
          <a:prstGeom prst="roundRect">
            <a:avLst>
              <a:gd name="adj" fmla="val 3704"/>
            </a:avLst>
          </a:prstGeom>
          <a:solidFill>
            <a:srgbClr val="EFF6FF"/>
          </a:solidFill>
          <a:ln w="12700">
            <a:solidFill>
              <a:srgbClr val="E5E7EB"/>
            </a:solidFill>
            <a:prstDash val="solid"/>
          </a:ln>
        </p:spPr>
      </p:sp>
      <p:sp>
        <p:nvSpPr>
          <p:cNvPr id="39" name="Text 37"/>
          <p:cNvSpPr/>
          <p:nvPr/>
        </p:nvSpPr>
        <p:spPr>
          <a:xfrm>
            <a:off x="3895344" y="4178808"/>
            <a:ext cx="2176272" cy="201168"/>
          </a:xfrm>
          <a:prstGeom prst="rect">
            <a:avLst/>
          </a:prstGeom>
          <a:noFill/>
          <a:ln/>
        </p:spPr>
        <p:txBody>
          <a:bodyPr wrap="square" lIns="0" tIns="0" rIns="0" bIns="0" rtlCol="0" anchor="ctr"/>
          <a:lstStyle/>
          <a:p>
            <a:pPr marL="0" indent="0" algn="ctr">
              <a:buNone/>
            </a:pPr>
            <a:r>
              <a:rPr lang="en-US" sz="1200" b="1" dirty="0">
                <a:solidFill>
                  <a:srgbClr val="6B7280"/>
                </a:solidFill>
              </a:rPr>
              <a:t>Semantic threshold</a:t>
            </a:r>
            <a:endParaRPr lang="en-US" sz="1200" dirty="0"/>
          </a:p>
        </p:txBody>
      </p:sp>
      <p:sp>
        <p:nvSpPr>
          <p:cNvPr id="40" name="Text 38"/>
          <p:cNvSpPr/>
          <p:nvPr/>
        </p:nvSpPr>
        <p:spPr>
          <a:xfrm>
            <a:off x="3858768" y="4453128"/>
            <a:ext cx="2249424" cy="475488"/>
          </a:xfrm>
          <a:prstGeom prst="rect">
            <a:avLst/>
          </a:prstGeom>
          <a:noFill/>
          <a:ln/>
        </p:spPr>
        <p:txBody>
          <a:bodyPr wrap="square" lIns="0" tIns="0" rIns="0" bIns="0" rtlCol="0" anchor="ctr"/>
          <a:lstStyle/>
          <a:p>
            <a:pPr marL="0" indent="0" algn="ctr">
              <a:buNone/>
            </a:pPr>
            <a:r>
              <a:rPr lang="en-US" sz="2600" b="1" dirty="0">
                <a:solidFill>
                  <a:srgbClr val="1D4ED8"/>
                </a:solidFill>
              </a:rPr>
              <a:t>Δ ≥ 0.30</a:t>
            </a:r>
            <a:endParaRPr lang="en-US" sz="2600" dirty="0"/>
          </a:p>
        </p:txBody>
      </p:sp>
      <p:sp>
        <p:nvSpPr>
          <p:cNvPr id="41" name="Text 39"/>
          <p:cNvSpPr/>
          <p:nvPr/>
        </p:nvSpPr>
        <p:spPr>
          <a:xfrm>
            <a:off x="3858768" y="4983480"/>
            <a:ext cx="2249424" cy="256032"/>
          </a:xfrm>
          <a:prstGeom prst="rect">
            <a:avLst/>
          </a:prstGeom>
          <a:noFill/>
          <a:ln/>
        </p:spPr>
        <p:txBody>
          <a:bodyPr wrap="square" lIns="0" tIns="0" rIns="0" bIns="0" rtlCol="0" anchor="ctr"/>
          <a:lstStyle/>
          <a:p>
            <a:pPr marL="0" indent="0" algn="ctr">
              <a:buNone/>
            </a:pPr>
            <a:r>
              <a:rPr lang="en-US" sz="1050" dirty="0">
                <a:solidFill>
                  <a:srgbClr val="6B7280"/>
                </a:solidFill>
              </a:rPr>
              <a:t>nhánh optional cut</a:t>
            </a:r>
            <a:endParaRPr lang="en-US" sz="1050" dirty="0"/>
          </a:p>
        </p:txBody>
      </p:sp>
      <p:sp>
        <p:nvSpPr>
          <p:cNvPr id="42" name="Shape 40"/>
          <p:cNvSpPr/>
          <p:nvPr/>
        </p:nvSpPr>
        <p:spPr>
          <a:xfrm>
            <a:off x="6583680" y="4069080"/>
            <a:ext cx="2468880" cy="1234440"/>
          </a:xfrm>
          <a:prstGeom prst="roundRect">
            <a:avLst>
              <a:gd name="adj" fmla="val 3704"/>
            </a:avLst>
          </a:prstGeom>
          <a:solidFill>
            <a:srgbClr val="ECFDF5"/>
          </a:solidFill>
          <a:ln w="12700">
            <a:solidFill>
              <a:srgbClr val="E5E7EB"/>
            </a:solidFill>
            <a:prstDash val="solid"/>
          </a:ln>
        </p:spPr>
      </p:sp>
      <p:sp>
        <p:nvSpPr>
          <p:cNvPr id="43" name="Text 41"/>
          <p:cNvSpPr/>
          <p:nvPr/>
        </p:nvSpPr>
        <p:spPr>
          <a:xfrm>
            <a:off x="6729984" y="4178808"/>
            <a:ext cx="2176272" cy="201168"/>
          </a:xfrm>
          <a:prstGeom prst="rect">
            <a:avLst/>
          </a:prstGeom>
          <a:noFill/>
          <a:ln/>
        </p:spPr>
        <p:txBody>
          <a:bodyPr wrap="square" lIns="0" tIns="0" rIns="0" bIns="0" rtlCol="0" anchor="ctr"/>
          <a:lstStyle/>
          <a:p>
            <a:pPr marL="0" indent="0" algn="ctr">
              <a:buNone/>
            </a:pPr>
            <a:r>
              <a:rPr lang="en-US" sz="1200" b="1" dirty="0">
                <a:solidFill>
                  <a:srgbClr val="6B7280"/>
                </a:solidFill>
              </a:rPr>
              <a:t>Overlap</a:t>
            </a:r>
            <a:endParaRPr lang="en-US" sz="1200" dirty="0"/>
          </a:p>
        </p:txBody>
      </p:sp>
      <p:sp>
        <p:nvSpPr>
          <p:cNvPr id="44" name="Text 42"/>
          <p:cNvSpPr/>
          <p:nvPr/>
        </p:nvSpPr>
        <p:spPr>
          <a:xfrm>
            <a:off x="6693408" y="4453128"/>
            <a:ext cx="2249424" cy="475488"/>
          </a:xfrm>
          <a:prstGeom prst="rect">
            <a:avLst/>
          </a:prstGeom>
          <a:noFill/>
          <a:ln/>
        </p:spPr>
        <p:txBody>
          <a:bodyPr wrap="square" lIns="0" tIns="0" rIns="0" bIns="0" rtlCol="0" anchor="ctr"/>
          <a:lstStyle/>
          <a:p>
            <a:pPr marL="0" indent="0" algn="ctr">
              <a:buNone/>
            </a:pPr>
            <a:r>
              <a:rPr lang="en-US" sz="2600" b="1" dirty="0">
                <a:solidFill>
                  <a:srgbClr val="166534"/>
                </a:solidFill>
              </a:rPr>
              <a:t>0 / 1 / 2 câu</a:t>
            </a:r>
            <a:endParaRPr lang="en-US" sz="2600" dirty="0"/>
          </a:p>
        </p:txBody>
      </p:sp>
      <p:sp>
        <p:nvSpPr>
          <p:cNvPr id="45" name="Text 43"/>
          <p:cNvSpPr/>
          <p:nvPr/>
        </p:nvSpPr>
        <p:spPr>
          <a:xfrm>
            <a:off x="6693408" y="4983480"/>
            <a:ext cx="2249424" cy="256032"/>
          </a:xfrm>
          <a:prstGeom prst="rect">
            <a:avLst/>
          </a:prstGeom>
          <a:noFill/>
          <a:ln/>
        </p:spPr>
        <p:txBody>
          <a:bodyPr wrap="square" lIns="0" tIns="0" rIns="0" bIns="0" rtlCol="0" anchor="ctr"/>
          <a:lstStyle/>
          <a:p>
            <a:pPr marL="0" indent="0" algn="ctr">
              <a:buNone/>
            </a:pPr>
            <a:r>
              <a:rPr lang="en-US" sz="1050" dirty="0">
                <a:solidFill>
                  <a:srgbClr val="6B7280"/>
                </a:solidFill>
              </a:rPr>
              <a:t>theo cosine</a:t>
            </a:r>
            <a:endParaRPr lang="en-US" sz="1050" dirty="0"/>
          </a:p>
        </p:txBody>
      </p:sp>
      <p:sp>
        <p:nvSpPr>
          <p:cNvPr id="46" name="Shape 44"/>
          <p:cNvSpPr/>
          <p:nvPr/>
        </p:nvSpPr>
        <p:spPr>
          <a:xfrm>
            <a:off x="9418320" y="4069080"/>
            <a:ext cx="1828800" cy="1234440"/>
          </a:xfrm>
          <a:prstGeom prst="roundRect">
            <a:avLst>
              <a:gd name="adj" fmla="val 3704"/>
            </a:avLst>
          </a:prstGeom>
          <a:solidFill>
            <a:srgbClr val="F8FAFC"/>
          </a:solidFill>
          <a:ln w="12700">
            <a:solidFill>
              <a:srgbClr val="E5E7EB"/>
            </a:solidFill>
            <a:prstDash val="solid"/>
          </a:ln>
        </p:spPr>
      </p:sp>
      <p:sp>
        <p:nvSpPr>
          <p:cNvPr id="47" name="Text 45"/>
          <p:cNvSpPr/>
          <p:nvPr/>
        </p:nvSpPr>
        <p:spPr>
          <a:xfrm>
            <a:off x="9564624" y="4178808"/>
            <a:ext cx="1536192" cy="201168"/>
          </a:xfrm>
          <a:prstGeom prst="rect">
            <a:avLst/>
          </a:prstGeom>
          <a:noFill/>
          <a:ln/>
        </p:spPr>
        <p:txBody>
          <a:bodyPr wrap="square" lIns="0" tIns="0" rIns="0" bIns="0" rtlCol="0" anchor="ctr"/>
          <a:lstStyle/>
          <a:p>
            <a:pPr marL="0" indent="0" algn="ctr">
              <a:buNone/>
            </a:pPr>
            <a:r>
              <a:rPr lang="en-US" sz="1200" b="1" dirty="0">
                <a:solidFill>
                  <a:srgbClr val="6B7280"/>
                </a:solidFill>
              </a:rPr>
              <a:t>Output</a:t>
            </a:r>
            <a:endParaRPr lang="en-US" sz="1200" dirty="0"/>
          </a:p>
        </p:txBody>
      </p:sp>
      <p:sp>
        <p:nvSpPr>
          <p:cNvPr id="48" name="Text 46"/>
          <p:cNvSpPr/>
          <p:nvPr/>
        </p:nvSpPr>
        <p:spPr>
          <a:xfrm>
            <a:off x="9528048" y="4453128"/>
            <a:ext cx="1609344" cy="475488"/>
          </a:xfrm>
          <a:prstGeom prst="rect">
            <a:avLst/>
          </a:prstGeom>
          <a:noFill/>
          <a:ln/>
        </p:spPr>
        <p:txBody>
          <a:bodyPr wrap="square" lIns="0" tIns="0" rIns="0" bIns="0" rtlCol="0" anchor="ctr"/>
          <a:lstStyle/>
          <a:p>
            <a:pPr marL="0" indent="0" algn="ctr">
              <a:buNone/>
            </a:pPr>
            <a:r>
              <a:rPr lang="en-US" sz="2600" b="1" dirty="0">
                <a:solidFill>
                  <a:srgbClr val="0F172A"/>
                </a:solidFill>
              </a:rPr>
              <a:t>list[str]</a:t>
            </a:r>
            <a:endParaRPr lang="en-US" sz="2600" dirty="0"/>
          </a:p>
        </p:txBody>
      </p:sp>
      <p:sp>
        <p:nvSpPr>
          <p:cNvPr id="49" name="Text 47"/>
          <p:cNvSpPr/>
          <p:nvPr/>
        </p:nvSpPr>
        <p:spPr>
          <a:xfrm>
            <a:off x="9528048" y="4983480"/>
            <a:ext cx="1609344" cy="256032"/>
          </a:xfrm>
          <a:prstGeom prst="rect">
            <a:avLst/>
          </a:prstGeom>
          <a:noFill/>
          <a:ln/>
        </p:spPr>
        <p:txBody>
          <a:bodyPr wrap="square" lIns="0" tIns="0" rIns="0" bIns="0" rtlCol="0" anchor="ctr"/>
          <a:lstStyle/>
          <a:p>
            <a:pPr marL="0" indent="0" algn="ctr">
              <a:buNone/>
            </a:pPr>
            <a:r>
              <a:rPr lang="en-US" sz="1050" dirty="0">
                <a:solidFill>
                  <a:srgbClr val="6B7280"/>
                </a:solidFill>
              </a:rPr>
              <a:t>giữ thứ tự nội dung</a:t>
            </a:r>
            <a:endParaRPr lang="en-US" sz="1050" dirty="0"/>
          </a:p>
        </p:txBody>
      </p:sp>
      <p:sp>
        <p:nvSpPr>
          <p:cNvPr id="50"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Relative Semantic Drop</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Dùng ngữ cảnh bốn câu để phát hiện sự giảm liên kết tại boundary</a:t>
            </a:r>
            <a:endParaRPr lang="en-US" sz="1300" dirty="0"/>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SEMANTIC</a:t>
            </a:r>
            <a:endParaRPr lang="en-US" sz="1100" dirty="0"/>
          </a:p>
        </p:txBody>
      </p:sp>
      <p:sp>
        <p:nvSpPr>
          <p:cNvPr id="6" name="Shape 4"/>
          <p:cNvSpPr/>
          <p:nvPr/>
        </p:nvSpPr>
        <p:spPr>
          <a:xfrm>
            <a:off x="914400" y="1828800"/>
            <a:ext cx="1508760" cy="777240"/>
          </a:xfrm>
          <a:prstGeom prst="roundRect">
            <a:avLst>
              <a:gd name="adj" fmla="val 4706"/>
            </a:avLst>
          </a:prstGeom>
          <a:solidFill>
            <a:srgbClr val="F8FAFC"/>
          </a:solidFill>
          <a:ln w="12700">
            <a:solidFill>
              <a:srgbClr val="CBD5E1"/>
            </a:solidFill>
            <a:prstDash val="solid"/>
          </a:ln>
        </p:spPr>
      </p:sp>
      <p:sp>
        <p:nvSpPr>
          <p:cNvPr id="7" name="Text 5"/>
          <p:cNvSpPr/>
          <p:nvPr/>
        </p:nvSpPr>
        <p:spPr>
          <a:xfrm>
            <a:off x="914400" y="1993392"/>
            <a:ext cx="1508760" cy="292608"/>
          </a:xfrm>
          <a:prstGeom prst="rect">
            <a:avLst/>
          </a:prstGeom>
          <a:noFill/>
          <a:ln/>
        </p:spPr>
        <p:txBody>
          <a:bodyPr wrap="square" lIns="0" tIns="0" rIns="0" bIns="0" rtlCol="0" anchor="ctr"/>
          <a:lstStyle/>
          <a:p>
            <a:pPr marL="0" indent="0" algn="ctr">
              <a:buNone/>
            </a:pPr>
            <a:r>
              <a:rPr lang="en-US" sz="2200" b="1" dirty="0">
                <a:solidFill>
                  <a:srgbClr val="0F172A"/>
                </a:solidFill>
              </a:rPr>
              <a:t>s₁</a:t>
            </a:r>
            <a:endParaRPr lang="en-US" sz="2200" dirty="0"/>
          </a:p>
        </p:txBody>
      </p:sp>
      <p:sp>
        <p:nvSpPr>
          <p:cNvPr id="8" name="Shape 6"/>
          <p:cNvSpPr/>
          <p:nvPr/>
        </p:nvSpPr>
        <p:spPr>
          <a:xfrm>
            <a:off x="3108960" y="1828800"/>
            <a:ext cx="1508760" cy="777240"/>
          </a:xfrm>
          <a:prstGeom prst="roundRect">
            <a:avLst>
              <a:gd name="adj" fmla="val 4706"/>
            </a:avLst>
          </a:prstGeom>
          <a:solidFill>
            <a:srgbClr val="F8FAFC"/>
          </a:solidFill>
          <a:ln w="12700">
            <a:solidFill>
              <a:srgbClr val="CBD5E1"/>
            </a:solidFill>
            <a:prstDash val="solid"/>
          </a:ln>
        </p:spPr>
      </p:sp>
      <p:sp>
        <p:nvSpPr>
          <p:cNvPr id="9" name="Text 7"/>
          <p:cNvSpPr/>
          <p:nvPr/>
        </p:nvSpPr>
        <p:spPr>
          <a:xfrm>
            <a:off x="3108960" y="1993392"/>
            <a:ext cx="1508760" cy="292608"/>
          </a:xfrm>
          <a:prstGeom prst="rect">
            <a:avLst/>
          </a:prstGeom>
          <a:noFill/>
          <a:ln/>
        </p:spPr>
        <p:txBody>
          <a:bodyPr wrap="square" lIns="0" tIns="0" rIns="0" bIns="0" rtlCol="0" anchor="ctr"/>
          <a:lstStyle/>
          <a:p>
            <a:pPr marL="0" indent="0" algn="ctr">
              <a:buNone/>
            </a:pPr>
            <a:r>
              <a:rPr lang="en-US" sz="2200" b="1" dirty="0">
                <a:solidFill>
                  <a:srgbClr val="0F172A"/>
                </a:solidFill>
              </a:rPr>
              <a:t>s₂</a:t>
            </a:r>
            <a:endParaRPr lang="en-US" sz="2200" dirty="0"/>
          </a:p>
        </p:txBody>
      </p:sp>
      <p:sp>
        <p:nvSpPr>
          <p:cNvPr id="10" name="Shape 8"/>
          <p:cNvSpPr/>
          <p:nvPr/>
        </p:nvSpPr>
        <p:spPr>
          <a:xfrm>
            <a:off x="5577840" y="1828800"/>
            <a:ext cx="1508760" cy="777240"/>
          </a:xfrm>
          <a:prstGeom prst="roundRect">
            <a:avLst>
              <a:gd name="adj" fmla="val 4706"/>
            </a:avLst>
          </a:prstGeom>
          <a:solidFill>
            <a:srgbClr val="E6FFFB"/>
          </a:solidFill>
          <a:ln w="12700">
            <a:solidFill>
              <a:srgbClr val="CBD5E1"/>
            </a:solidFill>
            <a:prstDash val="solid"/>
          </a:ln>
        </p:spPr>
      </p:sp>
      <p:sp>
        <p:nvSpPr>
          <p:cNvPr id="11" name="Text 9"/>
          <p:cNvSpPr/>
          <p:nvPr/>
        </p:nvSpPr>
        <p:spPr>
          <a:xfrm>
            <a:off x="5577840" y="1993392"/>
            <a:ext cx="1508760" cy="292608"/>
          </a:xfrm>
          <a:prstGeom prst="rect">
            <a:avLst/>
          </a:prstGeom>
          <a:noFill/>
          <a:ln/>
        </p:spPr>
        <p:txBody>
          <a:bodyPr wrap="square" lIns="0" tIns="0" rIns="0" bIns="0" rtlCol="0" anchor="ctr"/>
          <a:lstStyle/>
          <a:p>
            <a:pPr marL="0" indent="0" algn="ctr">
              <a:buNone/>
            </a:pPr>
            <a:r>
              <a:rPr lang="en-US" sz="2200" b="1" dirty="0">
                <a:solidFill>
                  <a:srgbClr val="0F172A"/>
                </a:solidFill>
              </a:rPr>
              <a:t>s₃</a:t>
            </a:r>
            <a:endParaRPr lang="en-US" sz="2200" dirty="0"/>
          </a:p>
        </p:txBody>
      </p:sp>
      <p:sp>
        <p:nvSpPr>
          <p:cNvPr id="12" name="Shape 10"/>
          <p:cNvSpPr/>
          <p:nvPr/>
        </p:nvSpPr>
        <p:spPr>
          <a:xfrm>
            <a:off x="7772400" y="1828800"/>
            <a:ext cx="1508760" cy="777240"/>
          </a:xfrm>
          <a:prstGeom prst="roundRect">
            <a:avLst>
              <a:gd name="adj" fmla="val 4706"/>
            </a:avLst>
          </a:prstGeom>
          <a:solidFill>
            <a:srgbClr val="E6FFFB"/>
          </a:solidFill>
          <a:ln w="12700">
            <a:solidFill>
              <a:srgbClr val="CBD5E1"/>
            </a:solidFill>
            <a:prstDash val="solid"/>
          </a:ln>
        </p:spPr>
      </p:sp>
      <p:sp>
        <p:nvSpPr>
          <p:cNvPr id="13" name="Text 11"/>
          <p:cNvSpPr/>
          <p:nvPr/>
        </p:nvSpPr>
        <p:spPr>
          <a:xfrm>
            <a:off x="7772400" y="1993392"/>
            <a:ext cx="1508760" cy="292608"/>
          </a:xfrm>
          <a:prstGeom prst="rect">
            <a:avLst/>
          </a:prstGeom>
          <a:noFill/>
          <a:ln/>
        </p:spPr>
        <p:txBody>
          <a:bodyPr wrap="square" lIns="0" tIns="0" rIns="0" bIns="0" rtlCol="0" anchor="ctr"/>
          <a:lstStyle/>
          <a:p>
            <a:pPr marL="0" indent="0" algn="ctr">
              <a:buNone/>
            </a:pPr>
            <a:r>
              <a:rPr lang="en-US" sz="2200" b="1" dirty="0">
                <a:solidFill>
                  <a:srgbClr val="0F172A"/>
                </a:solidFill>
              </a:rPr>
              <a:t>s₄</a:t>
            </a:r>
            <a:endParaRPr lang="en-US" sz="2200" dirty="0"/>
          </a:p>
        </p:txBody>
      </p:sp>
      <p:sp>
        <p:nvSpPr>
          <p:cNvPr id="14" name="Shape 12"/>
          <p:cNvSpPr/>
          <p:nvPr/>
        </p:nvSpPr>
        <p:spPr>
          <a:xfrm>
            <a:off x="2423160" y="2212848"/>
            <a:ext cx="640080" cy="0"/>
          </a:xfrm>
          <a:prstGeom prst="line">
            <a:avLst/>
          </a:prstGeom>
          <a:noFill/>
          <a:ln w="20320">
            <a:solidFill>
              <a:srgbClr val="14B8A6"/>
            </a:solidFill>
            <a:prstDash val="solid"/>
            <a:headEnd type="none"/>
            <a:tailEnd type="triangle"/>
          </a:ln>
        </p:spPr>
      </p:sp>
      <p:sp>
        <p:nvSpPr>
          <p:cNvPr id="15" name="Shape 13"/>
          <p:cNvSpPr/>
          <p:nvPr/>
        </p:nvSpPr>
        <p:spPr>
          <a:xfrm>
            <a:off x="4617720" y="2212848"/>
            <a:ext cx="914400" cy="0"/>
          </a:xfrm>
          <a:prstGeom prst="line">
            <a:avLst/>
          </a:prstGeom>
          <a:noFill/>
          <a:ln w="20320">
            <a:solidFill>
              <a:srgbClr val="EF4444"/>
            </a:solidFill>
            <a:prstDash val="solid"/>
            <a:headEnd type="none"/>
            <a:tailEnd type="triangle"/>
          </a:ln>
        </p:spPr>
      </p:sp>
      <p:sp>
        <p:nvSpPr>
          <p:cNvPr id="16" name="Shape 14"/>
          <p:cNvSpPr/>
          <p:nvPr/>
        </p:nvSpPr>
        <p:spPr>
          <a:xfrm>
            <a:off x="7086600" y="2212848"/>
            <a:ext cx="640080" cy="0"/>
          </a:xfrm>
          <a:prstGeom prst="line">
            <a:avLst/>
          </a:prstGeom>
          <a:noFill/>
          <a:ln w="20320">
            <a:solidFill>
              <a:srgbClr val="14B8A6"/>
            </a:solidFill>
            <a:prstDash val="solid"/>
            <a:headEnd type="none"/>
            <a:tailEnd type="triangle"/>
          </a:ln>
        </p:spPr>
      </p:sp>
      <p:sp>
        <p:nvSpPr>
          <p:cNvPr id="17" name="Text 15"/>
          <p:cNvSpPr/>
          <p:nvPr/>
        </p:nvSpPr>
        <p:spPr>
          <a:xfrm>
            <a:off x="1783080" y="1554480"/>
            <a:ext cx="1828800" cy="274320"/>
          </a:xfrm>
          <a:prstGeom prst="rect">
            <a:avLst/>
          </a:prstGeom>
          <a:noFill/>
          <a:ln/>
        </p:spPr>
        <p:txBody>
          <a:bodyPr wrap="square" lIns="0" tIns="0" rIns="0" bIns="0" rtlCol="0" anchor="ctr"/>
          <a:lstStyle/>
          <a:p>
            <a:pPr marL="0" indent="0" algn="ctr">
              <a:buNone/>
            </a:pPr>
            <a:r>
              <a:rPr lang="en-US" sz="1200" dirty="0">
                <a:solidFill>
                  <a:srgbClr val="0F766E"/>
                </a:solidFill>
              </a:rPr>
              <a:t>sim_before</a:t>
            </a:r>
            <a:endParaRPr lang="en-US" sz="1200" dirty="0"/>
          </a:p>
        </p:txBody>
      </p:sp>
      <p:sp>
        <p:nvSpPr>
          <p:cNvPr id="18" name="Text 16"/>
          <p:cNvSpPr/>
          <p:nvPr/>
        </p:nvSpPr>
        <p:spPr>
          <a:xfrm>
            <a:off x="4297680" y="1554480"/>
            <a:ext cx="1645920" cy="274320"/>
          </a:xfrm>
          <a:prstGeom prst="rect">
            <a:avLst/>
          </a:prstGeom>
          <a:noFill/>
          <a:ln/>
        </p:spPr>
        <p:txBody>
          <a:bodyPr wrap="square" lIns="0" tIns="0" rIns="0" bIns="0" rtlCol="0" anchor="ctr"/>
          <a:lstStyle/>
          <a:p>
            <a:pPr marL="0" indent="0" algn="ctr">
              <a:buNone/>
            </a:pPr>
            <a:r>
              <a:rPr lang="en-US" sz="1200" dirty="0">
                <a:solidFill>
                  <a:srgbClr val="B91C1C"/>
                </a:solidFill>
              </a:rPr>
              <a:t>sim_cross</a:t>
            </a:r>
            <a:endParaRPr lang="en-US" sz="1200" dirty="0"/>
          </a:p>
        </p:txBody>
      </p:sp>
      <p:sp>
        <p:nvSpPr>
          <p:cNvPr id="19" name="Text 17"/>
          <p:cNvSpPr/>
          <p:nvPr/>
        </p:nvSpPr>
        <p:spPr>
          <a:xfrm>
            <a:off x="7223760" y="1554480"/>
            <a:ext cx="1645920" cy="274320"/>
          </a:xfrm>
          <a:prstGeom prst="rect">
            <a:avLst/>
          </a:prstGeom>
          <a:noFill/>
          <a:ln/>
        </p:spPr>
        <p:txBody>
          <a:bodyPr wrap="square" lIns="0" tIns="0" rIns="0" bIns="0" rtlCol="0" anchor="ctr"/>
          <a:lstStyle/>
          <a:p>
            <a:pPr marL="0" indent="0" algn="ctr">
              <a:buNone/>
            </a:pPr>
            <a:r>
              <a:rPr lang="en-US" sz="1200" dirty="0">
                <a:solidFill>
                  <a:srgbClr val="0F766E"/>
                </a:solidFill>
              </a:rPr>
              <a:t>sim_after</a:t>
            </a:r>
            <a:endParaRPr lang="en-US" sz="1200" dirty="0"/>
          </a:p>
        </p:txBody>
      </p:sp>
      <p:sp>
        <p:nvSpPr>
          <p:cNvPr id="20" name="Text 18"/>
          <p:cNvSpPr/>
          <p:nvPr/>
        </p:nvSpPr>
        <p:spPr>
          <a:xfrm>
            <a:off x="2057400" y="3063240"/>
            <a:ext cx="8046720" cy="548640"/>
          </a:xfrm>
          <a:prstGeom prst="rect">
            <a:avLst/>
          </a:prstGeom>
          <a:noFill/>
          <a:ln/>
        </p:spPr>
        <p:txBody>
          <a:bodyPr wrap="square" lIns="0" tIns="0" rIns="0" bIns="0" rtlCol="0" anchor="ctr"/>
          <a:lstStyle/>
          <a:p>
            <a:pPr marL="0" indent="0" algn="ctr">
              <a:buNone/>
            </a:pPr>
            <a:r>
              <a:rPr lang="en-US" sz="2400" b="1" dirty="0">
                <a:solidFill>
                  <a:srgbClr val="0F172A"/>
                </a:solidFill>
              </a:rPr>
              <a:t>Δ = (sim_before + sim_after) / 2 − sim_cross</a:t>
            </a:r>
            <a:endParaRPr lang="en-US" sz="2400" dirty="0"/>
          </a:p>
        </p:txBody>
      </p:sp>
      <p:sp>
        <p:nvSpPr>
          <p:cNvPr id="21" name="Shape 19"/>
          <p:cNvSpPr/>
          <p:nvPr/>
        </p:nvSpPr>
        <p:spPr>
          <a:xfrm>
            <a:off x="1005840" y="3977640"/>
            <a:ext cx="10149840" cy="731520"/>
          </a:xfrm>
          <a:prstGeom prst="roundRect">
            <a:avLst>
              <a:gd name="adj" fmla="val 5000"/>
            </a:avLst>
          </a:prstGeom>
          <a:solidFill>
            <a:srgbClr val="E6FFFB"/>
          </a:solidFill>
          <a:ln w="12700">
            <a:solidFill>
              <a:srgbClr val="E6FFFB"/>
            </a:solidFill>
            <a:prstDash val="solid"/>
          </a:ln>
        </p:spPr>
      </p:sp>
      <p:sp>
        <p:nvSpPr>
          <p:cNvPr id="22" name="Text 20"/>
          <p:cNvSpPr/>
          <p:nvPr/>
        </p:nvSpPr>
        <p:spPr>
          <a:xfrm>
            <a:off x="1170432" y="4105656"/>
            <a:ext cx="9820656" cy="502920"/>
          </a:xfrm>
          <a:prstGeom prst="rect">
            <a:avLst/>
          </a:prstGeom>
          <a:noFill/>
          <a:ln/>
        </p:spPr>
        <p:txBody>
          <a:bodyPr wrap="square" lIns="0" tIns="0" rIns="0" bIns="0" rtlCol="0" anchor="ctr"/>
          <a:lstStyle/>
          <a:p>
            <a:pPr marL="0" indent="0" algn="ctr">
              <a:buNone/>
            </a:pPr>
            <a:r>
              <a:rPr lang="en-US" sz="1400" b="1" dirty="0">
                <a:solidFill>
                  <a:srgbClr val="0F766E"/>
                </a:solidFill>
              </a:rPr>
              <a:t>Δ lớn ⇒ liên kết qua boundary yếu hơn liên kết ở hai phía ⇒ boundary có khả năng là điểm chuyển ý.</a:t>
            </a:r>
            <a:endParaRPr lang="en-US" sz="1400" dirty="0"/>
          </a:p>
        </p:txBody>
      </p:sp>
      <p:sp>
        <p:nvSpPr>
          <p:cNvPr id="23" name="Text 21"/>
          <p:cNvSpPr/>
          <p:nvPr/>
        </p:nvSpPr>
        <p:spPr>
          <a:xfrm>
            <a:off x="1234440" y="4983480"/>
            <a:ext cx="9692640" cy="1005840"/>
          </a:xfrm>
          <a:prstGeom prst="rect">
            <a:avLst/>
          </a:prstGeom>
          <a:noFill/>
          <a:ln/>
        </p:spPr>
        <p:txBody>
          <a:bodyPr wrap="square" lIns="381" tIns="381" rIns="381" bIns="381" rtlCol="0" anchor="t"/>
          <a:lstStyle/>
          <a:p>
            <a:pPr marL="177165" indent="-177165">
              <a:buSzPct val="100000"/>
              <a:buChar char="•"/>
            </a:pPr>
            <a:r>
              <a:rPr lang="en-US" sz="1550" dirty="0">
                <a:solidFill>
                  <a:srgbClr val="1F2937"/>
                </a:solidFill>
                <a:latin typeface="Arial" pitchFamily="34" charset="0"/>
                <a:ea typeface="Arial" pitchFamily="34" charset="-122"/>
                <a:cs typeface="Arial" pitchFamily="34" charset="-120"/>
              </a:rPr>
              <a:t>Thiếu câu trước/sau ⇒ không đủ context để tính semantic drop.</a:t>
            </a:r>
            <a:endParaRPr lang="en-US" sz="1550" dirty="0"/>
          </a:p>
          <a:p>
            <a:pPr marL="177165" indent="-177165">
              <a:buSzPct val="100000"/>
              <a:buChar char="•"/>
            </a:pPr>
            <a:r>
              <a:rPr lang="en-US" sz="1550" dirty="0">
                <a:solidFill>
                  <a:srgbClr val="1F2937"/>
                </a:solidFill>
                <a:latin typeface="Arial" pitchFamily="34" charset="0"/>
                <a:ea typeface="Arial" pitchFamily="34" charset="-122"/>
                <a:cs typeface="Arial" pitchFamily="34" charset="-120"/>
              </a:rPr>
              <a:t>Trong nhánh scoring tổng hợp, semantic drop hợp lệ được min–max normalize trên candidate list.</a:t>
            </a:r>
            <a:endParaRPr lang="en-US" sz="1550"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Size score + Dependency-aware penalty</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Boundary tốt cần vừa hợp lý về kích thước, vừa không phá liên kết câu</a:t>
            </a:r>
            <a:endParaRPr lang="en-US" sz="1300" dirty="0"/>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SCORING</a:t>
            </a:r>
            <a:endParaRPr lang="en-US" sz="1100" dirty="0"/>
          </a:p>
        </p:txBody>
      </p:sp>
      <p:sp>
        <p:nvSpPr>
          <p:cNvPr id="6" name="Text 4"/>
          <p:cNvSpPr/>
          <p:nvPr/>
        </p:nvSpPr>
        <p:spPr>
          <a:xfrm>
            <a:off x="685800" y="1417320"/>
            <a:ext cx="5212080" cy="310896"/>
          </a:xfrm>
          <a:prstGeom prst="rect">
            <a:avLst/>
          </a:prstGeom>
          <a:noFill/>
          <a:ln/>
        </p:spPr>
        <p:txBody>
          <a:bodyPr wrap="square" lIns="0" tIns="0" rIns="0" bIns="0" rtlCol="0" anchor="ctr"/>
          <a:lstStyle/>
          <a:p>
            <a:pPr marL="0" indent="0" algn="ctr">
              <a:buNone/>
            </a:pPr>
            <a:r>
              <a:rPr lang="en-US" sz="1800" b="1" dirty="0">
                <a:solidFill>
                  <a:srgbClr val="0F172A"/>
                </a:solidFill>
              </a:rPr>
              <a:t>Size Score</a:t>
            </a:r>
            <a:endParaRPr lang="en-US" sz="1800" dirty="0"/>
          </a:p>
        </p:txBody>
      </p:sp>
      <p:sp>
        <p:nvSpPr>
          <p:cNvPr id="7" name="Text 5"/>
          <p:cNvSpPr/>
          <p:nvPr/>
        </p:nvSpPr>
        <p:spPr>
          <a:xfrm>
            <a:off x="6263640" y="1417320"/>
            <a:ext cx="5212080" cy="310896"/>
          </a:xfrm>
          <a:prstGeom prst="rect">
            <a:avLst/>
          </a:prstGeom>
          <a:noFill/>
          <a:ln/>
        </p:spPr>
        <p:txBody>
          <a:bodyPr wrap="square" lIns="0" tIns="0" rIns="0" bIns="0" rtlCol="0" anchor="ctr"/>
          <a:lstStyle/>
          <a:p>
            <a:pPr marL="0" indent="0" algn="ctr">
              <a:buNone/>
            </a:pPr>
            <a:r>
              <a:rPr lang="en-US" sz="1800" b="1" dirty="0">
                <a:solidFill>
                  <a:srgbClr val="0F766E"/>
                </a:solidFill>
              </a:rPr>
              <a:t>Dependency Risk</a:t>
            </a:r>
            <a:endParaRPr lang="en-US" sz="1800" dirty="0"/>
          </a:p>
        </p:txBody>
      </p:sp>
      <p:sp>
        <p:nvSpPr>
          <p:cNvPr id="8" name="Shape 6"/>
          <p:cNvSpPr/>
          <p:nvPr/>
        </p:nvSpPr>
        <p:spPr>
          <a:xfrm>
            <a:off x="6080760" y="1371600"/>
            <a:ext cx="0" cy="4480560"/>
          </a:xfrm>
          <a:prstGeom prst="line">
            <a:avLst/>
          </a:prstGeom>
          <a:noFill/>
          <a:ln w="12700">
            <a:solidFill>
              <a:srgbClr val="E5E7EB"/>
            </a:solidFill>
            <a:prstDash val="solid"/>
          </a:ln>
        </p:spPr>
      </p:sp>
      <p:sp>
        <p:nvSpPr>
          <p:cNvPr id="9" name="Shape 7"/>
          <p:cNvSpPr/>
          <p:nvPr/>
        </p:nvSpPr>
        <p:spPr>
          <a:xfrm>
            <a:off x="914400" y="4251960"/>
            <a:ext cx="4343400" cy="0"/>
          </a:xfrm>
          <a:prstGeom prst="line">
            <a:avLst/>
          </a:prstGeom>
          <a:noFill/>
          <a:ln w="15240">
            <a:solidFill>
              <a:srgbClr val="94A3B8"/>
            </a:solidFill>
            <a:prstDash val="solid"/>
          </a:ln>
        </p:spPr>
      </p:sp>
      <p:sp>
        <p:nvSpPr>
          <p:cNvPr id="10" name="Shape 8"/>
          <p:cNvSpPr/>
          <p:nvPr/>
        </p:nvSpPr>
        <p:spPr>
          <a:xfrm>
            <a:off x="1143000" y="4160520"/>
            <a:ext cx="1828800" cy="0"/>
          </a:xfrm>
          <a:prstGeom prst="line">
            <a:avLst/>
          </a:prstGeom>
          <a:noFill/>
          <a:ln w="38100">
            <a:solidFill>
              <a:srgbClr val="0F766E"/>
            </a:solidFill>
            <a:prstDash val="solid"/>
          </a:ln>
        </p:spPr>
      </p:sp>
      <p:sp>
        <p:nvSpPr>
          <p:cNvPr id="11" name="Shape 9"/>
          <p:cNvSpPr/>
          <p:nvPr/>
        </p:nvSpPr>
        <p:spPr>
          <a:xfrm>
            <a:off x="2971800" y="2423160"/>
            <a:ext cx="1828800" cy="1737360"/>
          </a:xfrm>
          <a:prstGeom prst="line">
            <a:avLst/>
          </a:prstGeom>
          <a:noFill/>
          <a:ln w="38100">
            <a:solidFill>
              <a:srgbClr val="0F766E"/>
            </a:solidFill>
            <a:prstDash val="solid"/>
          </a:ln>
        </p:spPr>
      </p:sp>
      <p:sp>
        <p:nvSpPr>
          <p:cNvPr id="12" name="Text 10"/>
          <p:cNvSpPr/>
          <p:nvPr/>
        </p:nvSpPr>
        <p:spPr>
          <a:xfrm>
            <a:off x="868680" y="4370832"/>
            <a:ext cx="548640" cy="228600"/>
          </a:xfrm>
          <a:prstGeom prst="rect">
            <a:avLst/>
          </a:prstGeom>
          <a:noFill/>
          <a:ln/>
        </p:spPr>
        <p:txBody>
          <a:bodyPr wrap="square" lIns="0" tIns="0" rIns="0" bIns="0" rtlCol="0" anchor="ctr"/>
          <a:lstStyle/>
          <a:p>
            <a:pPr marL="0" indent="0">
              <a:buNone/>
            </a:pPr>
            <a:r>
              <a:rPr lang="en-US" sz="1200" dirty="0">
                <a:solidFill>
                  <a:srgbClr val="6B7280"/>
                </a:solidFill>
              </a:rPr>
              <a:t>120</a:t>
            </a:r>
            <a:endParaRPr lang="en-US" sz="1200" dirty="0"/>
          </a:p>
        </p:txBody>
      </p:sp>
      <p:sp>
        <p:nvSpPr>
          <p:cNvPr id="13" name="Text 11"/>
          <p:cNvSpPr/>
          <p:nvPr/>
        </p:nvSpPr>
        <p:spPr>
          <a:xfrm>
            <a:off x="2761488" y="4370832"/>
            <a:ext cx="548640" cy="228600"/>
          </a:xfrm>
          <a:prstGeom prst="rect">
            <a:avLst/>
          </a:prstGeom>
          <a:noFill/>
          <a:ln/>
        </p:spPr>
        <p:txBody>
          <a:bodyPr wrap="square" lIns="0" tIns="0" rIns="0" bIns="0" rtlCol="0" anchor="ctr"/>
          <a:lstStyle/>
          <a:p>
            <a:pPr marL="0" indent="0">
              <a:buNone/>
            </a:pPr>
            <a:r>
              <a:rPr lang="en-US" sz="1200" dirty="0">
                <a:solidFill>
                  <a:srgbClr val="6B7280"/>
                </a:solidFill>
              </a:rPr>
              <a:t>180</a:t>
            </a:r>
            <a:endParaRPr lang="en-US" sz="1200" dirty="0"/>
          </a:p>
        </p:txBody>
      </p:sp>
      <p:sp>
        <p:nvSpPr>
          <p:cNvPr id="14" name="Text 12"/>
          <p:cNvSpPr/>
          <p:nvPr/>
        </p:nvSpPr>
        <p:spPr>
          <a:xfrm>
            <a:off x="4590288" y="4370832"/>
            <a:ext cx="548640" cy="228600"/>
          </a:xfrm>
          <a:prstGeom prst="rect">
            <a:avLst/>
          </a:prstGeom>
          <a:noFill/>
          <a:ln/>
        </p:spPr>
        <p:txBody>
          <a:bodyPr wrap="square" lIns="0" tIns="0" rIns="0" bIns="0" rtlCol="0" anchor="ctr"/>
          <a:lstStyle/>
          <a:p>
            <a:pPr marL="0" indent="0">
              <a:buNone/>
            </a:pPr>
            <a:r>
              <a:rPr lang="en-US" sz="1200" dirty="0">
                <a:solidFill>
                  <a:srgbClr val="6B7280"/>
                </a:solidFill>
              </a:rPr>
              <a:t>240</a:t>
            </a:r>
            <a:endParaRPr lang="en-US" sz="1200" dirty="0"/>
          </a:p>
        </p:txBody>
      </p:sp>
      <p:sp>
        <p:nvSpPr>
          <p:cNvPr id="15" name="Text 13"/>
          <p:cNvSpPr/>
          <p:nvPr/>
        </p:nvSpPr>
        <p:spPr>
          <a:xfrm>
            <a:off x="2971800" y="2075688"/>
            <a:ext cx="457200" cy="228600"/>
          </a:xfrm>
          <a:prstGeom prst="rect">
            <a:avLst/>
          </a:prstGeom>
          <a:noFill/>
          <a:ln/>
        </p:spPr>
        <p:txBody>
          <a:bodyPr wrap="square" lIns="0" tIns="0" rIns="0" bIns="0" rtlCol="0" anchor="ctr"/>
          <a:lstStyle/>
          <a:p>
            <a:pPr marL="0" indent="0">
              <a:buNone/>
            </a:pPr>
            <a:r>
              <a:rPr lang="en-US" sz="1200" dirty="0">
                <a:solidFill>
                  <a:srgbClr val="0F766E"/>
                </a:solidFill>
              </a:rPr>
              <a:t>1.0</a:t>
            </a:r>
            <a:endParaRPr lang="en-US" sz="1200" dirty="0"/>
          </a:p>
        </p:txBody>
      </p:sp>
      <p:sp>
        <p:nvSpPr>
          <p:cNvPr id="16" name="Text 14"/>
          <p:cNvSpPr/>
          <p:nvPr/>
        </p:nvSpPr>
        <p:spPr>
          <a:xfrm>
            <a:off x="1005840" y="4800600"/>
            <a:ext cx="4389120" cy="320040"/>
          </a:xfrm>
          <a:prstGeom prst="rect">
            <a:avLst/>
          </a:prstGeom>
          <a:noFill/>
          <a:ln/>
        </p:spPr>
        <p:txBody>
          <a:bodyPr wrap="square" lIns="0" tIns="0" rIns="0" bIns="0" rtlCol="0" anchor="ctr"/>
          <a:lstStyle/>
          <a:p>
            <a:pPr marL="0" indent="0" algn="ctr">
              <a:buNone/>
            </a:pPr>
            <a:r>
              <a:rPr lang="en-US" sz="1500" b="1" dirty="0">
                <a:solidFill>
                  <a:srgbClr val="0F172A"/>
                </a:solidFill>
              </a:rPr>
              <a:t>Ưu tiên chunk gần TARGET = 180</a:t>
            </a:r>
            <a:endParaRPr lang="en-US" sz="1500" dirty="0"/>
          </a:p>
        </p:txBody>
      </p:sp>
      <p:sp>
        <p:nvSpPr>
          <p:cNvPr id="17" name="Text 15"/>
          <p:cNvSpPr/>
          <p:nvPr/>
        </p:nvSpPr>
        <p:spPr>
          <a:xfrm>
            <a:off x="6537960" y="1965960"/>
            <a:ext cx="4389120" cy="1920240"/>
          </a:xfrm>
          <a:prstGeom prst="rect">
            <a:avLst/>
          </a:prstGeom>
          <a:noFill/>
          <a:ln/>
        </p:spPr>
        <p:txBody>
          <a:bodyPr wrap="square" lIns="381" tIns="381" rIns="381" bIns="381" rtlCol="0" anchor="t"/>
          <a:lstStyle/>
          <a:p>
            <a:pPr marL="194310" indent="-194310">
              <a:buSzPct val="100000"/>
              <a:buChar char="•"/>
            </a:pPr>
            <a:r>
              <a:rPr lang="en-US" sz="1700" dirty="0">
                <a:solidFill>
                  <a:srgbClr val="1F2937"/>
                </a:solidFill>
                <a:latin typeface="Arial" pitchFamily="34" charset="0"/>
                <a:ea typeface="Arial" pitchFamily="34" charset="-122"/>
                <a:cs typeface="Arial" pitchFamily="34" charset="-120"/>
              </a:rPr>
              <a:t>Nếu … thì</a:t>
            </a:r>
            <a:endParaRPr lang="en-US" sz="1700" dirty="0"/>
          </a:p>
          <a:p>
            <a:pPr marL="194310" indent="-194310">
              <a:buSzPct val="100000"/>
              <a:buChar char="•"/>
            </a:pPr>
            <a:r>
              <a:rPr lang="en-US" sz="1700" dirty="0">
                <a:solidFill>
                  <a:srgbClr val="1F2937"/>
                </a:solidFill>
                <a:latin typeface="Arial" pitchFamily="34" charset="0"/>
                <a:ea typeface="Arial" pitchFamily="34" charset="-122"/>
                <a:cs typeface="Arial" pitchFamily="34" charset="-120"/>
              </a:rPr>
              <a:t>Vì … nên</a:t>
            </a:r>
            <a:endParaRPr lang="en-US" sz="1700" dirty="0"/>
          </a:p>
          <a:p>
            <a:pPr marL="194310" indent="-194310">
              <a:buSzPct val="100000"/>
              <a:buChar char="•"/>
            </a:pPr>
            <a:r>
              <a:rPr lang="en-US" sz="1700" dirty="0">
                <a:solidFill>
                  <a:srgbClr val="1F2937"/>
                </a:solidFill>
                <a:latin typeface="Arial" pitchFamily="34" charset="0"/>
                <a:ea typeface="Arial" pitchFamily="34" charset="-122"/>
                <a:cs typeface="Arial" pitchFamily="34" charset="-120"/>
              </a:rPr>
              <a:t>Tuy … nhưng</a:t>
            </a:r>
            <a:endParaRPr lang="en-US" sz="1700" dirty="0"/>
          </a:p>
          <a:p>
            <a:pPr marL="194310" indent="-194310">
              <a:buSzPct val="100000"/>
              <a:buChar char="•"/>
            </a:pPr>
            <a:r>
              <a:rPr lang="en-US" sz="1700" dirty="0">
                <a:solidFill>
                  <a:srgbClr val="1F2937"/>
                </a:solidFill>
                <a:latin typeface="Arial" pitchFamily="34" charset="0"/>
                <a:ea typeface="Arial" pitchFamily="34" charset="-122"/>
                <a:cs typeface="Arial" pitchFamily="34" charset="-120"/>
              </a:rPr>
              <a:t>Không những … mà còn</a:t>
            </a:r>
            <a:endParaRPr lang="en-US" sz="1700" dirty="0"/>
          </a:p>
        </p:txBody>
      </p:sp>
      <p:sp>
        <p:nvSpPr>
          <p:cNvPr id="18" name="Shape 16"/>
          <p:cNvSpPr/>
          <p:nvPr/>
        </p:nvSpPr>
        <p:spPr>
          <a:xfrm>
            <a:off x="6400800" y="4069080"/>
            <a:ext cx="4617720" cy="658368"/>
          </a:xfrm>
          <a:prstGeom prst="roundRect">
            <a:avLst>
              <a:gd name="adj" fmla="val 5556"/>
            </a:avLst>
          </a:prstGeom>
          <a:solidFill>
            <a:srgbClr val="FEF2F2"/>
          </a:solidFill>
          <a:ln w="12700">
            <a:solidFill>
              <a:srgbClr val="FEF2F2"/>
            </a:solidFill>
            <a:prstDash val="solid"/>
          </a:ln>
        </p:spPr>
      </p:sp>
      <p:sp>
        <p:nvSpPr>
          <p:cNvPr id="19" name="Text 17"/>
          <p:cNvSpPr/>
          <p:nvPr/>
        </p:nvSpPr>
        <p:spPr>
          <a:xfrm>
            <a:off x="6565392" y="4197096"/>
            <a:ext cx="4288536" cy="429768"/>
          </a:xfrm>
          <a:prstGeom prst="rect">
            <a:avLst/>
          </a:prstGeom>
          <a:noFill/>
          <a:ln/>
        </p:spPr>
        <p:txBody>
          <a:bodyPr wrap="square" lIns="0" tIns="0" rIns="0" bIns="0" rtlCol="0" anchor="ctr"/>
          <a:lstStyle/>
          <a:p>
            <a:pPr marL="0" indent="0" algn="ctr">
              <a:buNone/>
            </a:pPr>
            <a:r>
              <a:rPr lang="en-US" sz="1400" b="1" dirty="0">
                <a:solidFill>
                  <a:srgbClr val="B91C1C"/>
                </a:solidFill>
              </a:rPr>
              <a:t>R = 1 khi khớp luật, ngược lại R = 0</a:t>
            </a:r>
            <a:endParaRPr lang="en-US" sz="1400" dirty="0"/>
          </a:p>
        </p:txBody>
      </p:sp>
      <p:sp>
        <p:nvSpPr>
          <p:cNvPr id="20" name="Text 18"/>
          <p:cNvSpPr/>
          <p:nvPr/>
        </p:nvSpPr>
        <p:spPr>
          <a:xfrm>
            <a:off x="1005840" y="5486400"/>
            <a:ext cx="10149840" cy="502920"/>
          </a:xfrm>
          <a:prstGeom prst="rect">
            <a:avLst/>
          </a:prstGeom>
          <a:noFill/>
          <a:ln/>
        </p:spPr>
        <p:txBody>
          <a:bodyPr wrap="square" lIns="0" tIns="0" rIns="0" bIns="0" rtlCol="0" anchor="ctr"/>
          <a:lstStyle/>
          <a:p>
            <a:pPr marL="0" indent="0" algn="ctr">
              <a:buNone/>
            </a:pPr>
            <a:r>
              <a:rPr lang="en-US" sz="1900" b="1" dirty="0">
                <a:solidFill>
                  <a:srgbClr val="0F172A"/>
                </a:solidFill>
              </a:rPr>
              <a:t>Final Score = 0.4 × Size + 0.4 × Semantic − 0.6 × Dependency</a:t>
            </a:r>
            <a:endParaRPr lang="en-US" sz="1900" dirty="0"/>
          </a:p>
        </p:txBody>
      </p:sp>
      <p:sp>
        <p:nvSpPr>
          <p:cNvPr id="21" name="Text 19"/>
          <p:cNvSpPr/>
          <p:nvPr/>
        </p:nvSpPr>
        <p:spPr>
          <a:xfrm>
            <a:off x="2103120" y="6035040"/>
            <a:ext cx="7955280" cy="292608"/>
          </a:xfrm>
          <a:prstGeom prst="rect">
            <a:avLst/>
          </a:prstGeom>
          <a:noFill/>
          <a:ln/>
        </p:spPr>
        <p:txBody>
          <a:bodyPr wrap="square" lIns="0" tIns="0" rIns="0" bIns="0" rtlCol="0" anchor="ctr"/>
          <a:lstStyle/>
          <a:p>
            <a:pPr marL="0" indent="0" algn="ctr">
              <a:buNone/>
            </a:pPr>
            <a:r>
              <a:rPr lang="en-US" sz="1250" dirty="0">
                <a:solidFill>
                  <a:srgbClr val="6B7280"/>
                </a:solidFill>
              </a:rPr>
              <a:t>Lưu ý: penalty chỉ dùng ở nhánh văn bản &gt; MAX; không phải hard constraint.</a:t>
            </a:r>
            <a:endParaRPr lang="en-US" sz="1250" dirty="0"/>
          </a:p>
        </p:txBody>
      </p:sp>
      <p:sp>
        <p:nvSpPr>
          <p:cNvPr id="25"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Quy tắc cắt &amp; Dynamic Overlap</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Ba chế độ theo độ dài phần văn bản còn lại</a:t>
            </a:r>
            <a:endParaRPr lang="en-US" sz="1300" dirty="0"/>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DECISION</a:t>
            </a:r>
            <a:endParaRPr lang="en-US" sz="1100" dirty="0"/>
          </a:p>
        </p:txBody>
      </p:sp>
      <p:sp>
        <p:nvSpPr>
          <p:cNvPr id="6" name="Shape 4"/>
          <p:cNvSpPr/>
          <p:nvPr/>
        </p:nvSpPr>
        <p:spPr>
          <a:xfrm>
            <a:off x="777240" y="1737360"/>
            <a:ext cx="3401568" cy="1417320"/>
          </a:xfrm>
          <a:prstGeom prst="roundRect">
            <a:avLst>
              <a:gd name="adj" fmla="val 3226"/>
            </a:avLst>
          </a:prstGeom>
          <a:solidFill>
            <a:srgbClr val="F8FAFC"/>
          </a:solidFill>
          <a:ln w="12700">
            <a:solidFill>
              <a:srgbClr val="D1D5DB"/>
            </a:solidFill>
            <a:prstDash val="solid"/>
          </a:ln>
          <a:effectLst>
            <a:outerShdw blurRad="12700" dist="50800" dir="2700000" algn="bl" rotWithShape="0">
              <a:srgbClr val="D1D5DB">
                <a:alpha val="18000"/>
              </a:srgbClr>
            </a:outerShdw>
          </a:effectLst>
        </p:spPr>
      </p:sp>
      <p:sp>
        <p:nvSpPr>
          <p:cNvPr id="7" name="Text 5"/>
          <p:cNvSpPr/>
          <p:nvPr/>
        </p:nvSpPr>
        <p:spPr>
          <a:xfrm>
            <a:off x="941832" y="1874520"/>
            <a:ext cx="3072384" cy="310896"/>
          </a:xfrm>
          <a:prstGeom prst="rect">
            <a:avLst/>
          </a:prstGeom>
          <a:noFill/>
          <a:ln/>
        </p:spPr>
        <p:txBody>
          <a:bodyPr wrap="square" lIns="0" tIns="0" rIns="0" bIns="0" rtlCol="0" anchor="ctr"/>
          <a:lstStyle/>
          <a:p>
            <a:pPr marL="0" indent="0">
              <a:buNone/>
            </a:pPr>
            <a:r>
              <a:rPr lang="en-US" sz="1800" b="1" dirty="0">
                <a:solidFill>
                  <a:srgbClr val="0F172A"/>
                </a:solidFill>
              </a:rPr>
              <a:t>&lt; 120 units</a:t>
            </a:r>
            <a:endParaRPr lang="en-US" sz="1800" dirty="0"/>
          </a:p>
        </p:txBody>
      </p:sp>
      <p:sp>
        <p:nvSpPr>
          <p:cNvPr id="8" name="Text 6"/>
          <p:cNvSpPr/>
          <p:nvPr/>
        </p:nvSpPr>
        <p:spPr>
          <a:xfrm>
            <a:off x="941832" y="2249424"/>
            <a:ext cx="3072384" cy="795528"/>
          </a:xfrm>
          <a:prstGeom prst="rect">
            <a:avLst/>
          </a:prstGeom>
          <a:noFill/>
          <a:ln/>
        </p:spPr>
        <p:txBody>
          <a:bodyPr wrap="square" lIns="0" tIns="0" rIns="0" bIns="0" rtlCol="0" anchor="t"/>
          <a:lstStyle/>
          <a:p>
            <a:pPr marL="0" indent="0">
              <a:buNone/>
            </a:pPr>
            <a:r>
              <a:rPr lang="en-US" sz="1350" dirty="0">
                <a:solidFill>
                  <a:srgbClr val="1F2937"/>
                </a:solidFill>
              </a:rPr>
              <a:t>KEEP</a:t>
            </a:r>
            <a:endParaRPr lang="en-US" sz="1350" dirty="0"/>
          </a:p>
          <a:p>
            <a:pPr marL="0" indent="0">
              <a:buNone/>
            </a:pPr>
            <a:r>
              <a:rPr lang="en-US" sz="1350" dirty="0">
                <a:solidFill>
                  <a:srgbClr val="1F2937"/>
                </a:solidFill>
              </a:rPr>
              <a:t>Giữ nguyên phần còn lại</a:t>
            </a:r>
            <a:endParaRPr lang="en-US" sz="1350" dirty="0"/>
          </a:p>
        </p:txBody>
      </p:sp>
      <p:sp>
        <p:nvSpPr>
          <p:cNvPr id="9" name="Shape 7"/>
          <p:cNvSpPr/>
          <p:nvPr/>
        </p:nvSpPr>
        <p:spPr>
          <a:xfrm>
            <a:off x="4599432" y="1737360"/>
            <a:ext cx="3401568" cy="1417320"/>
          </a:xfrm>
          <a:prstGeom prst="roundRect">
            <a:avLst>
              <a:gd name="adj" fmla="val 3226"/>
            </a:avLst>
          </a:prstGeom>
          <a:solidFill>
            <a:srgbClr val="E6FFFB"/>
          </a:solidFill>
          <a:ln w="12700">
            <a:solidFill>
              <a:srgbClr val="99F6E4"/>
            </a:solidFill>
            <a:prstDash val="solid"/>
          </a:ln>
          <a:effectLst>
            <a:outerShdw blurRad="12700" dist="50800" dir="2700000" algn="bl" rotWithShape="0">
              <a:srgbClr val="D1D5DB">
                <a:alpha val="18000"/>
              </a:srgbClr>
            </a:outerShdw>
          </a:effectLst>
        </p:spPr>
      </p:sp>
      <p:sp>
        <p:nvSpPr>
          <p:cNvPr id="10" name="Text 8"/>
          <p:cNvSpPr/>
          <p:nvPr/>
        </p:nvSpPr>
        <p:spPr>
          <a:xfrm>
            <a:off x="4764024" y="1874520"/>
            <a:ext cx="3072384" cy="310896"/>
          </a:xfrm>
          <a:prstGeom prst="rect">
            <a:avLst/>
          </a:prstGeom>
          <a:noFill/>
          <a:ln/>
        </p:spPr>
        <p:txBody>
          <a:bodyPr wrap="square" lIns="0" tIns="0" rIns="0" bIns="0" rtlCol="0" anchor="ctr"/>
          <a:lstStyle/>
          <a:p>
            <a:pPr marL="0" indent="0">
              <a:buNone/>
            </a:pPr>
            <a:r>
              <a:rPr lang="en-US" sz="1800" b="1" dirty="0">
                <a:solidFill>
                  <a:srgbClr val="0F766E"/>
                </a:solidFill>
              </a:rPr>
              <a:t>120–240 units</a:t>
            </a:r>
            <a:endParaRPr lang="en-US" sz="1800" dirty="0"/>
          </a:p>
        </p:txBody>
      </p:sp>
      <p:sp>
        <p:nvSpPr>
          <p:cNvPr id="11" name="Text 9"/>
          <p:cNvSpPr/>
          <p:nvPr/>
        </p:nvSpPr>
        <p:spPr>
          <a:xfrm>
            <a:off x="4764024" y="2249424"/>
            <a:ext cx="3072384" cy="795528"/>
          </a:xfrm>
          <a:prstGeom prst="rect">
            <a:avLst/>
          </a:prstGeom>
          <a:noFill/>
          <a:ln/>
        </p:spPr>
        <p:txBody>
          <a:bodyPr wrap="square" lIns="0" tIns="0" rIns="0" bIns="0" rtlCol="0" anchor="t"/>
          <a:lstStyle/>
          <a:p>
            <a:pPr marL="0" indent="0">
              <a:buNone/>
            </a:pPr>
            <a:r>
              <a:rPr lang="en-US" sz="1350" dirty="0">
                <a:solidFill>
                  <a:srgbClr val="1F2937"/>
                </a:solidFill>
              </a:rPr>
              <a:t>OPTIONAL CUT</a:t>
            </a:r>
            <a:endParaRPr lang="en-US" sz="1350" dirty="0"/>
          </a:p>
          <a:p>
            <a:pPr marL="0" indent="0">
              <a:buNone/>
            </a:pPr>
            <a:r>
              <a:rPr lang="en-US" sz="1350" dirty="0">
                <a:solidFill>
                  <a:srgbClr val="1F2937"/>
                </a:solidFill>
              </a:rPr>
              <a:t>Chọn Δ lớn nhất nếu Δ ≥ 0.30</a:t>
            </a:r>
            <a:endParaRPr lang="en-US" sz="1350" dirty="0"/>
          </a:p>
        </p:txBody>
      </p:sp>
      <p:sp>
        <p:nvSpPr>
          <p:cNvPr id="12" name="Shape 10"/>
          <p:cNvSpPr/>
          <p:nvPr/>
        </p:nvSpPr>
        <p:spPr>
          <a:xfrm>
            <a:off x="8421624" y="1737360"/>
            <a:ext cx="3401568" cy="1417320"/>
          </a:xfrm>
          <a:prstGeom prst="roundRect">
            <a:avLst>
              <a:gd name="adj" fmla="val 3226"/>
            </a:avLst>
          </a:prstGeom>
          <a:solidFill>
            <a:srgbClr val="F8FAFC"/>
          </a:solidFill>
          <a:ln w="12700">
            <a:solidFill>
              <a:srgbClr val="D1D5DB"/>
            </a:solidFill>
            <a:prstDash val="solid"/>
          </a:ln>
          <a:effectLst>
            <a:outerShdw blurRad="12700" dist="50800" dir="2700000" algn="bl" rotWithShape="0">
              <a:srgbClr val="D1D5DB">
                <a:alpha val="18000"/>
              </a:srgbClr>
            </a:outerShdw>
          </a:effectLst>
        </p:spPr>
      </p:sp>
      <p:sp>
        <p:nvSpPr>
          <p:cNvPr id="13" name="Text 11"/>
          <p:cNvSpPr/>
          <p:nvPr/>
        </p:nvSpPr>
        <p:spPr>
          <a:xfrm>
            <a:off x="8586216" y="1874520"/>
            <a:ext cx="3072384" cy="310896"/>
          </a:xfrm>
          <a:prstGeom prst="rect">
            <a:avLst/>
          </a:prstGeom>
          <a:noFill/>
          <a:ln/>
        </p:spPr>
        <p:txBody>
          <a:bodyPr wrap="square" lIns="0" tIns="0" rIns="0" bIns="0" rtlCol="0" anchor="ctr"/>
          <a:lstStyle/>
          <a:p>
            <a:pPr marL="0" indent="0">
              <a:buNone/>
            </a:pPr>
            <a:r>
              <a:rPr lang="en-US" sz="1800" b="1" dirty="0">
                <a:solidFill>
                  <a:srgbClr val="0F172A"/>
                </a:solidFill>
              </a:rPr>
              <a:t>&gt; 240 units</a:t>
            </a:r>
            <a:endParaRPr lang="en-US" sz="1800" dirty="0"/>
          </a:p>
        </p:txBody>
      </p:sp>
      <p:sp>
        <p:nvSpPr>
          <p:cNvPr id="14" name="Text 12"/>
          <p:cNvSpPr/>
          <p:nvPr/>
        </p:nvSpPr>
        <p:spPr>
          <a:xfrm>
            <a:off x="8586216" y="2249424"/>
            <a:ext cx="3072384" cy="795528"/>
          </a:xfrm>
          <a:prstGeom prst="rect">
            <a:avLst/>
          </a:prstGeom>
          <a:noFill/>
          <a:ln/>
        </p:spPr>
        <p:txBody>
          <a:bodyPr wrap="square" lIns="0" tIns="0" rIns="0" bIns="0" rtlCol="0" anchor="t"/>
          <a:lstStyle/>
          <a:p>
            <a:pPr marL="0" indent="0">
              <a:buNone/>
            </a:pPr>
            <a:r>
              <a:rPr lang="en-US" sz="1350" dirty="0">
                <a:solidFill>
                  <a:srgbClr val="1F2937"/>
                </a:solidFill>
              </a:rPr>
              <a:t>MUST CUT</a:t>
            </a:r>
            <a:endParaRPr lang="en-US" sz="1350" dirty="0"/>
          </a:p>
          <a:p>
            <a:pPr marL="0" indent="0">
              <a:buNone/>
            </a:pPr>
            <a:r>
              <a:rPr lang="en-US" sz="1350" dirty="0">
                <a:solidFill>
                  <a:srgbClr val="1F2937"/>
                </a:solidFill>
              </a:rPr>
              <a:t>Chọn boundary có final score cao nhất</a:t>
            </a:r>
            <a:endParaRPr lang="en-US" sz="1350" dirty="0"/>
          </a:p>
        </p:txBody>
      </p:sp>
      <p:sp>
        <p:nvSpPr>
          <p:cNvPr id="15" name="Shape 13"/>
          <p:cNvSpPr/>
          <p:nvPr/>
        </p:nvSpPr>
        <p:spPr>
          <a:xfrm>
            <a:off x="548640" y="3520440"/>
            <a:ext cx="11064240" cy="0"/>
          </a:xfrm>
          <a:prstGeom prst="line">
            <a:avLst/>
          </a:prstGeom>
          <a:noFill/>
          <a:ln w="12700">
            <a:solidFill>
              <a:srgbClr val="E5E7EB"/>
            </a:solidFill>
            <a:prstDash val="solid"/>
          </a:ln>
        </p:spPr>
      </p:sp>
      <p:sp>
        <p:nvSpPr>
          <p:cNvPr id="16" name="Text 14"/>
          <p:cNvSpPr/>
          <p:nvPr/>
        </p:nvSpPr>
        <p:spPr>
          <a:xfrm>
            <a:off x="731520" y="3794760"/>
            <a:ext cx="3840480" cy="329184"/>
          </a:xfrm>
          <a:prstGeom prst="rect">
            <a:avLst/>
          </a:prstGeom>
          <a:noFill/>
          <a:ln/>
        </p:spPr>
        <p:txBody>
          <a:bodyPr wrap="square" lIns="0" tIns="0" rIns="0" bIns="0" rtlCol="0" anchor="ctr"/>
          <a:lstStyle/>
          <a:p>
            <a:pPr marL="0" indent="0">
              <a:buNone/>
            </a:pPr>
            <a:r>
              <a:rPr lang="en-US" sz="1800" b="1" dirty="0">
                <a:solidFill>
                  <a:srgbClr val="0F172A"/>
                </a:solidFill>
              </a:rPr>
              <a:t>Dynamic overlap theo cosine ở boundary</a:t>
            </a:r>
            <a:endParaRPr lang="en-US" sz="1800" dirty="0"/>
          </a:p>
        </p:txBody>
      </p:sp>
      <p:sp>
        <p:nvSpPr>
          <p:cNvPr id="17" name="Shape 15"/>
          <p:cNvSpPr/>
          <p:nvPr/>
        </p:nvSpPr>
        <p:spPr>
          <a:xfrm>
            <a:off x="914400" y="4297680"/>
            <a:ext cx="3017520" cy="1325880"/>
          </a:xfrm>
          <a:prstGeom prst="roundRect">
            <a:avLst>
              <a:gd name="adj" fmla="val 3448"/>
            </a:avLst>
          </a:prstGeom>
          <a:solidFill>
            <a:srgbClr val="FEF2F2"/>
          </a:solidFill>
          <a:ln w="12700">
            <a:solidFill>
              <a:srgbClr val="E5E7EB"/>
            </a:solidFill>
            <a:prstDash val="solid"/>
          </a:ln>
        </p:spPr>
      </p:sp>
      <p:sp>
        <p:nvSpPr>
          <p:cNvPr id="18" name="Text 16"/>
          <p:cNvSpPr/>
          <p:nvPr/>
        </p:nvSpPr>
        <p:spPr>
          <a:xfrm>
            <a:off x="1060704" y="4407408"/>
            <a:ext cx="2724912" cy="201168"/>
          </a:xfrm>
          <a:prstGeom prst="rect">
            <a:avLst/>
          </a:prstGeom>
          <a:noFill/>
          <a:ln/>
        </p:spPr>
        <p:txBody>
          <a:bodyPr wrap="square" lIns="0" tIns="0" rIns="0" bIns="0" rtlCol="0" anchor="ctr"/>
          <a:lstStyle/>
          <a:p>
            <a:pPr marL="0" indent="0" algn="ctr">
              <a:buNone/>
            </a:pPr>
            <a:r>
              <a:rPr lang="en-US" sz="1200" b="1" dirty="0">
                <a:solidFill>
                  <a:srgbClr val="6B7280"/>
                </a:solidFill>
              </a:rPr>
              <a:t>Similarity &lt; 0.30</a:t>
            </a:r>
            <a:endParaRPr lang="en-US" sz="1200" dirty="0"/>
          </a:p>
        </p:txBody>
      </p:sp>
      <p:sp>
        <p:nvSpPr>
          <p:cNvPr id="19" name="Text 17"/>
          <p:cNvSpPr/>
          <p:nvPr/>
        </p:nvSpPr>
        <p:spPr>
          <a:xfrm>
            <a:off x="1024128" y="4681728"/>
            <a:ext cx="2798064" cy="475488"/>
          </a:xfrm>
          <a:prstGeom prst="rect">
            <a:avLst/>
          </a:prstGeom>
          <a:noFill/>
          <a:ln/>
        </p:spPr>
        <p:txBody>
          <a:bodyPr wrap="square" lIns="0" tIns="0" rIns="0" bIns="0" rtlCol="0" anchor="ctr"/>
          <a:lstStyle/>
          <a:p>
            <a:pPr marL="0" indent="0" algn="ctr">
              <a:buNone/>
            </a:pPr>
            <a:r>
              <a:rPr lang="en-US" sz="2600" b="1" dirty="0">
                <a:solidFill>
                  <a:srgbClr val="B91C1C"/>
                </a:solidFill>
              </a:rPr>
              <a:t>Overlap 0</a:t>
            </a:r>
            <a:endParaRPr lang="en-US" sz="2600" dirty="0"/>
          </a:p>
        </p:txBody>
      </p:sp>
      <p:sp>
        <p:nvSpPr>
          <p:cNvPr id="20" name="Text 18"/>
          <p:cNvSpPr/>
          <p:nvPr/>
        </p:nvSpPr>
        <p:spPr>
          <a:xfrm>
            <a:off x="1024128" y="5212080"/>
            <a:ext cx="2798064" cy="256032"/>
          </a:xfrm>
          <a:prstGeom prst="rect">
            <a:avLst/>
          </a:prstGeom>
          <a:noFill/>
          <a:ln/>
        </p:spPr>
        <p:txBody>
          <a:bodyPr wrap="square" lIns="0" tIns="0" rIns="0" bIns="0" rtlCol="0" anchor="ctr"/>
          <a:lstStyle/>
          <a:p>
            <a:pPr marL="0" indent="0" algn="ctr">
              <a:buNone/>
            </a:pPr>
            <a:r>
              <a:rPr lang="en-US" sz="1050" dirty="0">
                <a:solidFill>
                  <a:srgbClr val="6B7280"/>
                </a:solidFill>
              </a:rPr>
              <a:t>khác chủ đề mạnh</a:t>
            </a:r>
            <a:endParaRPr lang="en-US" sz="1050" dirty="0"/>
          </a:p>
        </p:txBody>
      </p:sp>
      <p:sp>
        <p:nvSpPr>
          <p:cNvPr id="21" name="Shape 19"/>
          <p:cNvSpPr/>
          <p:nvPr/>
        </p:nvSpPr>
        <p:spPr>
          <a:xfrm>
            <a:off x="4572000" y="4297680"/>
            <a:ext cx="3017520" cy="1325880"/>
          </a:xfrm>
          <a:prstGeom prst="roundRect">
            <a:avLst>
              <a:gd name="adj" fmla="val 3448"/>
            </a:avLst>
          </a:prstGeom>
          <a:solidFill>
            <a:srgbClr val="FFF7ED"/>
          </a:solidFill>
          <a:ln w="12700">
            <a:solidFill>
              <a:srgbClr val="E5E7EB"/>
            </a:solidFill>
            <a:prstDash val="solid"/>
          </a:ln>
        </p:spPr>
      </p:sp>
      <p:sp>
        <p:nvSpPr>
          <p:cNvPr id="22" name="Text 20"/>
          <p:cNvSpPr/>
          <p:nvPr/>
        </p:nvSpPr>
        <p:spPr>
          <a:xfrm>
            <a:off x="4718304" y="4407408"/>
            <a:ext cx="2724912" cy="201168"/>
          </a:xfrm>
          <a:prstGeom prst="rect">
            <a:avLst/>
          </a:prstGeom>
          <a:noFill/>
          <a:ln/>
        </p:spPr>
        <p:txBody>
          <a:bodyPr wrap="square" lIns="0" tIns="0" rIns="0" bIns="0" rtlCol="0" anchor="ctr"/>
          <a:lstStyle/>
          <a:p>
            <a:pPr marL="0" indent="0" algn="ctr">
              <a:buNone/>
            </a:pPr>
            <a:r>
              <a:rPr lang="en-US" sz="1200" b="1" dirty="0">
                <a:solidFill>
                  <a:srgbClr val="6B7280"/>
                </a:solidFill>
              </a:rPr>
              <a:t>0.30 ≤ Similarity &lt; 0.55</a:t>
            </a:r>
            <a:endParaRPr lang="en-US" sz="1200" dirty="0"/>
          </a:p>
        </p:txBody>
      </p:sp>
      <p:sp>
        <p:nvSpPr>
          <p:cNvPr id="23" name="Text 21"/>
          <p:cNvSpPr/>
          <p:nvPr/>
        </p:nvSpPr>
        <p:spPr>
          <a:xfrm>
            <a:off x="4681728" y="4681728"/>
            <a:ext cx="2798064" cy="475488"/>
          </a:xfrm>
          <a:prstGeom prst="rect">
            <a:avLst/>
          </a:prstGeom>
          <a:noFill/>
          <a:ln/>
        </p:spPr>
        <p:txBody>
          <a:bodyPr wrap="square" lIns="0" tIns="0" rIns="0" bIns="0" rtlCol="0" anchor="ctr"/>
          <a:lstStyle/>
          <a:p>
            <a:pPr marL="0" indent="0" algn="ctr">
              <a:buNone/>
            </a:pPr>
            <a:r>
              <a:rPr lang="en-US" sz="2600" b="1" dirty="0">
                <a:solidFill>
                  <a:srgbClr val="B45309"/>
                </a:solidFill>
              </a:rPr>
              <a:t>Overlap 1</a:t>
            </a:r>
            <a:endParaRPr lang="en-US" sz="2600" dirty="0"/>
          </a:p>
        </p:txBody>
      </p:sp>
      <p:sp>
        <p:nvSpPr>
          <p:cNvPr id="24" name="Text 22"/>
          <p:cNvSpPr/>
          <p:nvPr/>
        </p:nvSpPr>
        <p:spPr>
          <a:xfrm>
            <a:off x="4681728" y="5212080"/>
            <a:ext cx="2798064" cy="256032"/>
          </a:xfrm>
          <a:prstGeom prst="rect">
            <a:avLst/>
          </a:prstGeom>
          <a:noFill/>
          <a:ln/>
        </p:spPr>
        <p:txBody>
          <a:bodyPr wrap="square" lIns="0" tIns="0" rIns="0" bIns="0" rtlCol="0" anchor="ctr"/>
          <a:lstStyle/>
          <a:p>
            <a:pPr marL="0" indent="0" algn="ctr">
              <a:buNone/>
            </a:pPr>
            <a:r>
              <a:rPr lang="en-US" sz="1050" dirty="0">
                <a:solidFill>
                  <a:srgbClr val="6B7280"/>
                </a:solidFill>
              </a:rPr>
              <a:t>liên quan vừa</a:t>
            </a:r>
            <a:endParaRPr lang="en-US" sz="1050" dirty="0"/>
          </a:p>
        </p:txBody>
      </p:sp>
      <p:sp>
        <p:nvSpPr>
          <p:cNvPr id="25" name="Shape 23"/>
          <p:cNvSpPr/>
          <p:nvPr/>
        </p:nvSpPr>
        <p:spPr>
          <a:xfrm>
            <a:off x="8229600" y="4297680"/>
            <a:ext cx="3017520" cy="1325880"/>
          </a:xfrm>
          <a:prstGeom prst="roundRect">
            <a:avLst>
              <a:gd name="adj" fmla="val 3448"/>
            </a:avLst>
          </a:prstGeom>
          <a:solidFill>
            <a:srgbClr val="ECFDF5"/>
          </a:solidFill>
          <a:ln w="12700">
            <a:solidFill>
              <a:srgbClr val="E5E7EB"/>
            </a:solidFill>
            <a:prstDash val="solid"/>
          </a:ln>
        </p:spPr>
      </p:sp>
      <p:sp>
        <p:nvSpPr>
          <p:cNvPr id="26" name="Text 24"/>
          <p:cNvSpPr/>
          <p:nvPr/>
        </p:nvSpPr>
        <p:spPr>
          <a:xfrm>
            <a:off x="8375904" y="4407408"/>
            <a:ext cx="2724912" cy="201168"/>
          </a:xfrm>
          <a:prstGeom prst="rect">
            <a:avLst/>
          </a:prstGeom>
          <a:noFill/>
          <a:ln/>
        </p:spPr>
        <p:txBody>
          <a:bodyPr wrap="square" lIns="0" tIns="0" rIns="0" bIns="0" rtlCol="0" anchor="ctr"/>
          <a:lstStyle/>
          <a:p>
            <a:pPr marL="0" indent="0" algn="ctr">
              <a:buNone/>
            </a:pPr>
            <a:r>
              <a:rPr lang="en-US" sz="1200" b="1" dirty="0">
                <a:solidFill>
                  <a:srgbClr val="6B7280"/>
                </a:solidFill>
              </a:rPr>
              <a:t>Similarity ≥ 0.55</a:t>
            </a:r>
            <a:endParaRPr lang="en-US" sz="1200" dirty="0"/>
          </a:p>
        </p:txBody>
      </p:sp>
      <p:sp>
        <p:nvSpPr>
          <p:cNvPr id="27" name="Text 25"/>
          <p:cNvSpPr/>
          <p:nvPr/>
        </p:nvSpPr>
        <p:spPr>
          <a:xfrm>
            <a:off x="8339328" y="4681728"/>
            <a:ext cx="2798064" cy="475488"/>
          </a:xfrm>
          <a:prstGeom prst="rect">
            <a:avLst/>
          </a:prstGeom>
          <a:noFill/>
          <a:ln/>
        </p:spPr>
        <p:txBody>
          <a:bodyPr wrap="square" lIns="0" tIns="0" rIns="0" bIns="0" rtlCol="0" anchor="ctr"/>
          <a:lstStyle/>
          <a:p>
            <a:pPr marL="0" indent="0" algn="ctr">
              <a:buNone/>
            </a:pPr>
            <a:r>
              <a:rPr lang="en-US" sz="2600" b="1" dirty="0">
                <a:solidFill>
                  <a:srgbClr val="166534"/>
                </a:solidFill>
              </a:rPr>
              <a:t>Overlap 2</a:t>
            </a:r>
            <a:endParaRPr lang="en-US" sz="2600" dirty="0"/>
          </a:p>
        </p:txBody>
      </p:sp>
      <p:sp>
        <p:nvSpPr>
          <p:cNvPr id="28" name="Text 26"/>
          <p:cNvSpPr/>
          <p:nvPr/>
        </p:nvSpPr>
        <p:spPr>
          <a:xfrm>
            <a:off x="8339328" y="5212080"/>
            <a:ext cx="2798064" cy="256032"/>
          </a:xfrm>
          <a:prstGeom prst="rect">
            <a:avLst/>
          </a:prstGeom>
          <a:noFill/>
          <a:ln/>
        </p:spPr>
        <p:txBody>
          <a:bodyPr wrap="square" lIns="0" tIns="0" rIns="0" bIns="0" rtlCol="0" anchor="ctr"/>
          <a:lstStyle/>
          <a:p>
            <a:pPr marL="0" indent="0" algn="ctr">
              <a:buNone/>
            </a:pPr>
            <a:r>
              <a:rPr lang="en-US" sz="1050" dirty="0">
                <a:solidFill>
                  <a:srgbClr val="6B7280"/>
                </a:solidFill>
              </a:rPr>
              <a:t>liên quan mạnh</a:t>
            </a:r>
            <a:endParaRPr lang="en-US" sz="1050" dirty="0"/>
          </a:p>
        </p:txBody>
      </p:sp>
      <p:sp>
        <p:nvSpPr>
          <p:cNvPr id="29" name="Text 27"/>
          <p:cNvSpPr/>
          <p:nvPr/>
        </p:nvSpPr>
        <p:spPr>
          <a:xfrm>
            <a:off x="1188720" y="5897880"/>
            <a:ext cx="9784080" cy="329184"/>
          </a:xfrm>
          <a:prstGeom prst="rect">
            <a:avLst/>
          </a:prstGeom>
          <a:noFill/>
          <a:ln/>
        </p:spPr>
        <p:txBody>
          <a:bodyPr wrap="square" lIns="0" tIns="0" rIns="0" bIns="0" rtlCol="0" anchor="ctr"/>
          <a:lstStyle/>
          <a:p>
            <a:pPr marL="0" indent="0" algn="ctr">
              <a:buNone/>
            </a:pPr>
            <a:r>
              <a:rPr lang="en-US" sz="1350" dirty="0">
                <a:solidFill>
                  <a:srgbClr val="1F2937"/>
                </a:solidFill>
              </a:rPr>
              <a:t>Overlap chỉ prepend vào output chunk kế tiếp, không đưa ngược vào remaining_text → tránh reprocessing/loop.</a:t>
            </a:r>
            <a:endParaRPr lang="en-US" sz="1350" dirty="0"/>
          </a:p>
        </p:txBody>
      </p:sp>
      <p:sp>
        <p:nvSpPr>
          <p:cNvPr id="30" name="Slide Number Placeholder 0"/>
          <p:cNvSpPr>
            <a:spLocks noGrp="1"/>
          </p:cNvSpPr>
          <p:nvPr>
            <p:ph type="sldNum" sz="quarter" idx="4294967295"/>
          </p:nvPr>
        </p:nvSpPr>
        <p:spPr>
          <a:xfrm>
            <a:off x="11722608" y="6446520"/>
            <a:ext cx="22860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pPr marL="0" indent="0">
              <a:buNone/>
            </a:pPr>
            <a:r>
              <a:rPr lang="en-US" sz="2800" b="1" dirty="0">
                <a:solidFill>
                  <a:srgbClr val="0F172A"/>
                </a:solidFill>
                <a:latin typeface="Arial" pitchFamily="34" charset="0"/>
                <a:ea typeface="Arial" pitchFamily="34" charset="-122"/>
                <a:cs typeface="Arial" pitchFamily="34" charset="-120"/>
              </a:rPr>
              <a:t>4. Thiết kế thực nghiệm</a:t>
            </a:r>
            <a:endParaRPr lang="en-US" sz="2800" dirty="0"/>
          </a:p>
        </p:txBody>
      </p:sp>
      <p:sp>
        <p:nvSpPr>
          <p:cNvPr id="3" name="Text 1"/>
          <p:cNvSpPr/>
          <p:nvPr/>
        </p:nvSpPr>
        <p:spPr>
          <a:xfrm>
            <a:off x="548640" y="804672"/>
            <a:ext cx="10972800" cy="256032"/>
          </a:xfrm>
          <a:prstGeom prst="rect">
            <a:avLst/>
          </a:prstGeom>
          <a:noFill/>
          <a:ln/>
        </p:spPr>
        <p:txBody>
          <a:bodyPr wrap="square" lIns="0" tIns="0" rIns="0" bIns="0" rtlCol="0" anchor="ctr"/>
          <a:lstStyle/>
          <a:p>
            <a:r>
              <a:t>So sánh công bằng: giữ mọi thành phần giống nhau, chỉ thay cách chia văn bản</a:t>
            </a:r>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txBody>
          <a:bodyPr/>
          <a:lstStyle/>
          <a:p>
            <a:endParaRPr/>
          </a:p>
        </p:txBody>
      </p:sp>
      <p:sp>
        <p:nvSpPr>
          <p:cNvPr id="5" name="Text 3"/>
          <p:cNvSpPr/>
          <p:nvPr/>
        </p:nvSpPr>
        <p:spPr>
          <a:xfrm>
            <a:off x="603504" y="1124712"/>
            <a:ext cx="1271016" cy="182880"/>
          </a:xfrm>
          <a:prstGeom prst="rect">
            <a:avLst/>
          </a:prstGeom>
          <a:noFill/>
          <a:ln/>
        </p:spPr>
        <p:txBody>
          <a:bodyPr wrap="square" lIns="0" tIns="0" rIns="0" bIns="0" rtlCol="0" anchor="ctr"/>
          <a:lstStyle/>
          <a:p>
            <a:r>
              <a:t>SO SÁNH</a:t>
            </a:r>
          </a:p>
        </p:txBody>
      </p:sp>
      <p:sp>
        <p:nvSpPr>
          <p:cNvPr id="6" name="Text 4"/>
          <p:cNvSpPr/>
          <p:nvPr/>
        </p:nvSpPr>
        <p:spPr>
          <a:xfrm>
            <a:off x="685800" y="1417320"/>
            <a:ext cx="5212080" cy="310896"/>
          </a:xfrm>
          <a:prstGeom prst="rect">
            <a:avLst/>
          </a:prstGeom>
          <a:noFill/>
          <a:ln/>
        </p:spPr>
        <p:txBody>
          <a:bodyPr wrap="square" lIns="0" tIns="0" rIns="0" bIns="0" rtlCol="0" anchor="ctr"/>
          <a:lstStyle/>
          <a:p>
            <a:pPr marL="0" indent="0" algn="ctr">
              <a:buNone/>
            </a:pPr>
            <a:r>
              <a:rPr lang="en-US" sz="1800" b="1" dirty="0">
                <a:solidFill>
                  <a:srgbClr val="0F172A"/>
                </a:solidFill>
              </a:rPr>
              <a:t>Max–Min 2025</a:t>
            </a:r>
            <a:endParaRPr lang="en-US" sz="1800" dirty="0"/>
          </a:p>
        </p:txBody>
      </p:sp>
      <p:sp>
        <p:nvSpPr>
          <p:cNvPr id="7" name="Text 5"/>
          <p:cNvSpPr/>
          <p:nvPr/>
        </p:nvSpPr>
        <p:spPr>
          <a:xfrm>
            <a:off x="6263640" y="1417320"/>
            <a:ext cx="5212080" cy="310896"/>
          </a:xfrm>
          <a:prstGeom prst="rect">
            <a:avLst/>
          </a:prstGeom>
          <a:noFill/>
          <a:ln/>
        </p:spPr>
        <p:txBody>
          <a:bodyPr wrap="square" lIns="0" tIns="0" rIns="0" bIns="0" rtlCol="0" anchor="ctr"/>
          <a:lstStyle/>
          <a:p>
            <a:pPr marL="0" indent="0" algn="ctr">
              <a:buNone/>
            </a:pPr>
            <a:r>
              <a:rPr lang="en-US" sz="1800" b="1" dirty="0">
                <a:solidFill>
                  <a:srgbClr val="0F766E"/>
                </a:solidFill>
              </a:rPr>
              <a:t>Ours</a:t>
            </a:r>
            <a:endParaRPr lang="en-US" sz="1800" dirty="0"/>
          </a:p>
        </p:txBody>
      </p:sp>
      <p:sp>
        <p:nvSpPr>
          <p:cNvPr id="8" name="Shape 6"/>
          <p:cNvSpPr/>
          <p:nvPr/>
        </p:nvSpPr>
        <p:spPr>
          <a:xfrm>
            <a:off x="6080760" y="1371600"/>
            <a:ext cx="0" cy="4480560"/>
          </a:xfrm>
          <a:prstGeom prst="line">
            <a:avLst/>
          </a:prstGeom>
          <a:noFill/>
          <a:ln w="12700">
            <a:solidFill>
              <a:srgbClr val="E5E7EB"/>
            </a:solidFill>
            <a:prstDash val="solid"/>
          </a:ln>
        </p:spPr>
        <p:txBody>
          <a:bodyPr/>
          <a:lstStyle/>
          <a:p>
            <a:endParaRPr/>
          </a:p>
        </p:txBody>
      </p:sp>
      <p:sp>
        <p:nvSpPr>
          <p:cNvPr id="9" name="Text 7"/>
          <p:cNvSpPr/>
          <p:nvPr/>
        </p:nvSpPr>
        <p:spPr>
          <a:xfrm>
            <a:off x="868680" y="1874520"/>
            <a:ext cx="4754880" cy="3474720"/>
          </a:xfrm>
          <a:prstGeom prst="rect">
            <a:avLst/>
          </a:prstGeom>
          <a:noFill/>
          <a:ln/>
        </p:spPr>
        <p:txBody>
          <a:bodyPr wrap="square" lIns="381" tIns="381" rIns="381" bIns="381" rtlCol="0" anchor="t"/>
          <a:lstStyle/>
          <a:p>
            <a:r>
              <a:t>Cùng bộ tách câu</a:t>
            </a:r>
          </a:p>
          <a:p>
            <a:r>
              <a:t>Cùng mô hình embedding</a:t>
            </a:r>
          </a:p>
          <a:p>
            <a:r>
              <a:t>Cùng dữ liệu XQuAD tiếng Việt</a:t>
            </a:r>
          </a:p>
          <a:p>
            <a:r>
              <a:t>Cùng cách tính độ tương đồng</a:t>
            </a:r>
          </a:p>
          <a:p>
            <a:r>
              <a:t>Cùng lấy top-5 kết quả</a:t>
            </a:r>
          </a:p>
          <a:p>
            <a:r>
              <a:t>Cùng cách chấm đúng/sai</a:t>
            </a:r>
          </a:p>
        </p:txBody>
      </p:sp>
      <p:sp>
        <p:nvSpPr>
          <p:cNvPr id="10" name="Text 8"/>
          <p:cNvSpPr/>
          <p:nvPr/>
        </p:nvSpPr>
        <p:spPr>
          <a:xfrm>
            <a:off x="6446520" y="1874520"/>
            <a:ext cx="4663440" cy="3474720"/>
          </a:xfrm>
          <a:prstGeom prst="rect">
            <a:avLst/>
          </a:prstGeom>
          <a:noFill/>
          <a:ln/>
        </p:spPr>
        <p:txBody>
          <a:bodyPr wrap="square" lIns="381" tIns="381" rIns="381" bIns="381" rtlCol="0" anchor="t"/>
          <a:lstStyle/>
          <a:p>
            <a:r>
              <a:t>Khác duy nhất: cách chia văn bản</a:t>
            </a:r>
          </a:p>
          <a:p>
            <a:endParaRPr/>
          </a:p>
          <a:p>
            <a:r>
              <a:t>Max–Min: gom câu theo cụm ngữ nghĩa</a:t>
            </a:r>
          </a:p>
          <a:p>
            <a:endParaRPr/>
          </a:p>
          <a:p>
            <a:r>
              <a:t>Ours: semantic drop + độ dài + luật liên kết tiếng Việt + overlap động</a:t>
            </a:r>
          </a:p>
          <a:p>
            <a:endParaRPr/>
          </a:p>
          <a:p>
            <a:r>
              <a:t>Không dùng LLM sinh câu trả lời trong benchmark chính</a:t>
            </a:r>
          </a:p>
        </p:txBody>
      </p:sp>
      <p:sp>
        <p:nvSpPr>
          <p:cNvPr id="11" name="Shape 9"/>
          <p:cNvSpPr/>
          <p:nvPr/>
        </p:nvSpPr>
        <p:spPr>
          <a:xfrm>
            <a:off x="960120" y="5577840"/>
            <a:ext cx="10241280" cy="594360"/>
          </a:xfrm>
          <a:prstGeom prst="roundRect">
            <a:avLst>
              <a:gd name="adj" fmla="val 6154"/>
            </a:avLst>
          </a:prstGeom>
          <a:solidFill>
            <a:srgbClr val="F8FAFC"/>
          </a:solidFill>
          <a:ln w="12700">
            <a:solidFill>
              <a:srgbClr val="F8FAFC"/>
            </a:solidFill>
            <a:prstDash val="solid"/>
          </a:ln>
        </p:spPr>
        <p:txBody>
          <a:bodyPr/>
          <a:lstStyle/>
          <a:p>
            <a:endParaRPr/>
          </a:p>
        </p:txBody>
      </p:sp>
      <p:sp>
        <p:nvSpPr>
          <p:cNvPr id="12" name="Text 10"/>
          <p:cNvSpPr/>
          <p:nvPr/>
        </p:nvSpPr>
        <p:spPr>
          <a:xfrm>
            <a:off x="1124712" y="5705856"/>
            <a:ext cx="9912096" cy="365760"/>
          </a:xfrm>
          <a:prstGeom prst="rect">
            <a:avLst/>
          </a:prstGeom>
          <a:noFill/>
          <a:ln/>
        </p:spPr>
        <p:txBody>
          <a:bodyPr wrap="square" lIns="0" tIns="0" rIns="0" bIns="0" rtlCol="0" anchor="ctr"/>
          <a:lstStyle/>
          <a:p>
            <a:r>
              <a:t>Mục tiêu: nếu kết quả khác nhau, nguyên nhân chính đến từ cách chia chunk chứ không phải do embedding hay retriever khác nhau.</a:t>
            </a:r>
          </a:p>
        </p:txBody>
      </p:sp>
      <p:sp>
        <p:nvSpPr>
          <p:cNvPr id="25" name="Slide Number Placeholder 0"/>
          <p:cNvSpPr>
            <a:spLocks noGrp="1"/>
          </p:cNvSpPr>
          <p:nvPr>
            <p:ph type="sldNum" sz="quarter" idx="4294967295"/>
          </p:nvPr>
        </p:nvSpPr>
        <p:spPr>
          <a:xfrm>
            <a:off x="11722608" y="6446520"/>
            <a:ext cx="374142"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Dataset: XQuAD tiếng Việt — nguồn và độ tin cậy</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Dùng dữ liệu công khai, có nguồn học thuật rõ ràng và cùng một tập test cho hai phương pháp</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DATASET</a:t>
            </a:r>
          </a:p>
        </p:txBody>
      </p:sp>
      <p:sp>
        <p:nvSpPr>
          <p:cNvPr id="6" name="TextBox 5"/>
          <p:cNvSpPr txBox="1"/>
          <p:nvPr/>
        </p:nvSpPr>
        <p:spPr>
          <a:xfrm>
            <a:off x="11658599" y="6460570"/>
            <a:ext cx="409575" cy="246221"/>
          </a:xfrm>
          <a:prstGeom prst="rect">
            <a:avLst/>
          </a:prstGeom>
          <a:noFill/>
        </p:spPr>
        <p:txBody>
          <a:bodyPr wrap="square" anchor="ctr">
            <a:spAutoFit/>
          </a:bodyPr>
          <a:lstStyle/>
          <a:p>
            <a:pPr algn="r"/>
            <a:r>
              <a:rPr sz="1000" b="0" dirty="0">
                <a:solidFill>
                  <a:srgbClr val="475569"/>
                </a:solidFill>
                <a:latin typeface="Arial"/>
              </a:rPr>
              <a:t>11</a:t>
            </a:r>
          </a:p>
        </p:txBody>
      </p:sp>
      <p:sp>
        <p:nvSpPr>
          <p:cNvPr id="7" name="Rounded Rectangle 6"/>
          <p:cNvSpPr/>
          <p:nvPr/>
        </p:nvSpPr>
        <p:spPr>
          <a:xfrm>
            <a:off x="685800" y="1572768"/>
            <a:ext cx="256032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572768"/>
            <a:ext cx="73152" cy="1143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682495"/>
            <a:ext cx="2240279" cy="256032"/>
          </a:xfrm>
          <a:prstGeom prst="rect">
            <a:avLst/>
          </a:prstGeom>
          <a:noFill/>
        </p:spPr>
        <p:txBody>
          <a:bodyPr wrap="square" anchor="ctr">
            <a:spAutoFit/>
          </a:bodyPr>
          <a:lstStyle/>
          <a:p>
            <a:pPr algn="l"/>
            <a:r>
              <a:rPr sz="1300" b="1">
                <a:solidFill>
                  <a:srgbClr val="0F172A"/>
                </a:solidFill>
                <a:latin typeface="Arial"/>
              </a:rPr>
              <a:t>Nguồn dữ liệu</a:t>
            </a:r>
          </a:p>
        </p:txBody>
      </p:sp>
      <p:sp>
        <p:nvSpPr>
          <p:cNvPr id="10" name="TextBox 9"/>
          <p:cNvSpPr txBox="1"/>
          <p:nvPr/>
        </p:nvSpPr>
        <p:spPr>
          <a:xfrm>
            <a:off x="886968" y="2048256"/>
            <a:ext cx="2240279" cy="384048"/>
          </a:xfrm>
          <a:prstGeom prst="rect">
            <a:avLst/>
          </a:prstGeom>
          <a:noFill/>
        </p:spPr>
        <p:txBody>
          <a:bodyPr wrap="square" anchor="ctr">
            <a:spAutoFit/>
          </a:bodyPr>
          <a:lstStyle/>
          <a:p>
            <a:pPr algn="l"/>
            <a:r>
              <a:rPr sz="2600" b="1">
                <a:solidFill>
                  <a:srgbClr val="0D9488"/>
                </a:solidFill>
                <a:latin typeface="Arial"/>
              </a:rPr>
              <a:t>XQuAD</a:t>
            </a:r>
          </a:p>
        </p:txBody>
      </p:sp>
      <p:sp>
        <p:nvSpPr>
          <p:cNvPr id="11" name="TextBox 10"/>
          <p:cNvSpPr txBox="1"/>
          <p:nvPr/>
        </p:nvSpPr>
        <p:spPr>
          <a:xfrm>
            <a:off x="886968" y="2478024"/>
            <a:ext cx="2240279" cy="128016"/>
          </a:xfrm>
          <a:prstGeom prst="rect">
            <a:avLst/>
          </a:prstGeom>
          <a:noFill/>
        </p:spPr>
        <p:txBody>
          <a:bodyPr wrap="square" anchor="t">
            <a:spAutoFit/>
          </a:bodyPr>
          <a:lstStyle/>
          <a:p>
            <a:pPr algn="l"/>
            <a:r>
              <a:rPr sz="1300" b="0">
                <a:solidFill>
                  <a:srgbClr val="475569"/>
                </a:solidFill>
                <a:latin typeface="Arial"/>
              </a:rPr>
              <a:t>Artetxe, Ruder &amp; Yogatama
ACL 2020</a:t>
            </a:r>
          </a:p>
        </p:txBody>
      </p:sp>
      <p:sp>
        <p:nvSpPr>
          <p:cNvPr id="12" name="Rounded Rectangle 11"/>
          <p:cNvSpPr/>
          <p:nvPr/>
        </p:nvSpPr>
        <p:spPr>
          <a:xfrm>
            <a:off x="3429000" y="1572768"/>
            <a:ext cx="256032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29000" y="1572768"/>
            <a:ext cx="73152" cy="1143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0168" y="1682495"/>
            <a:ext cx="2240279" cy="256032"/>
          </a:xfrm>
          <a:prstGeom prst="rect">
            <a:avLst/>
          </a:prstGeom>
          <a:noFill/>
        </p:spPr>
        <p:txBody>
          <a:bodyPr wrap="square" anchor="ctr">
            <a:spAutoFit/>
          </a:bodyPr>
          <a:lstStyle/>
          <a:p>
            <a:pPr algn="l"/>
            <a:r>
              <a:rPr sz="1300" b="1">
                <a:solidFill>
                  <a:srgbClr val="0F172A"/>
                </a:solidFill>
                <a:latin typeface="Arial"/>
              </a:rPr>
              <a:t>Nguồn gốc</a:t>
            </a:r>
          </a:p>
        </p:txBody>
      </p:sp>
      <p:sp>
        <p:nvSpPr>
          <p:cNvPr id="15" name="TextBox 14"/>
          <p:cNvSpPr txBox="1"/>
          <p:nvPr/>
        </p:nvSpPr>
        <p:spPr>
          <a:xfrm>
            <a:off x="3630168" y="2048256"/>
            <a:ext cx="2240279" cy="384048"/>
          </a:xfrm>
          <a:prstGeom prst="rect">
            <a:avLst/>
          </a:prstGeom>
          <a:noFill/>
        </p:spPr>
        <p:txBody>
          <a:bodyPr wrap="square" anchor="ctr">
            <a:spAutoFit/>
          </a:bodyPr>
          <a:lstStyle/>
          <a:p>
            <a:pPr algn="l"/>
            <a:r>
              <a:rPr sz="2600" b="1">
                <a:solidFill>
                  <a:srgbClr val="0D9488"/>
                </a:solidFill>
                <a:latin typeface="Arial"/>
              </a:rPr>
              <a:t>VI</a:t>
            </a:r>
          </a:p>
        </p:txBody>
      </p:sp>
      <p:sp>
        <p:nvSpPr>
          <p:cNvPr id="16" name="TextBox 15"/>
          <p:cNvSpPr txBox="1"/>
          <p:nvPr/>
        </p:nvSpPr>
        <p:spPr>
          <a:xfrm>
            <a:off x="3630168" y="2478024"/>
            <a:ext cx="2240279" cy="128016"/>
          </a:xfrm>
          <a:prstGeom prst="rect">
            <a:avLst/>
          </a:prstGeom>
          <a:noFill/>
        </p:spPr>
        <p:txBody>
          <a:bodyPr wrap="square" anchor="t">
            <a:spAutoFit/>
          </a:bodyPr>
          <a:lstStyle/>
          <a:p>
            <a:pPr algn="l"/>
            <a:r>
              <a:rPr sz="1300" b="0">
                <a:solidFill>
                  <a:srgbClr val="475569"/>
                </a:solidFill>
                <a:latin typeface="Arial"/>
              </a:rPr>
              <a:t>Được dịch chuyên nghiệp từ một phần của SQuAD v1.1</a:t>
            </a:r>
          </a:p>
        </p:txBody>
      </p:sp>
      <p:sp>
        <p:nvSpPr>
          <p:cNvPr id="17" name="Rounded Rectangle 16"/>
          <p:cNvSpPr/>
          <p:nvPr/>
        </p:nvSpPr>
        <p:spPr>
          <a:xfrm>
            <a:off x="6172200" y="1572768"/>
            <a:ext cx="256032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200" y="1572768"/>
            <a:ext cx="73152" cy="1143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73368" y="1682495"/>
            <a:ext cx="2240279" cy="256032"/>
          </a:xfrm>
          <a:prstGeom prst="rect">
            <a:avLst/>
          </a:prstGeom>
          <a:noFill/>
        </p:spPr>
        <p:txBody>
          <a:bodyPr wrap="square" anchor="ctr">
            <a:spAutoFit/>
          </a:bodyPr>
          <a:lstStyle/>
          <a:p>
            <a:pPr algn="l"/>
            <a:r>
              <a:rPr sz="1300" b="1">
                <a:solidFill>
                  <a:srgbClr val="0F172A"/>
                </a:solidFill>
                <a:latin typeface="Arial"/>
              </a:rPr>
              <a:t>Quy mô</a:t>
            </a:r>
          </a:p>
        </p:txBody>
      </p:sp>
      <p:sp>
        <p:nvSpPr>
          <p:cNvPr id="20" name="TextBox 19"/>
          <p:cNvSpPr txBox="1"/>
          <p:nvPr/>
        </p:nvSpPr>
        <p:spPr>
          <a:xfrm>
            <a:off x="6373368" y="2048256"/>
            <a:ext cx="2240279" cy="384048"/>
          </a:xfrm>
          <a:prstGeom prst="rect">
            <a:avLst/>
          </a:prstGeom>
          <a:noFill/>
        </p:spPr>
        <p:txBody>
          <a:bodyPr wrap="square" anchor="ctr">
            <a:spAutoFit/>
          </a:bodyPr>
          <a:lstStyle/>
          <a:p>
            <a:pPr algn="l"/>
            <a:r>
              <a:rPr sz="2600" b="1">
                <a:solidFill>
                  <a:srgbClr val="0D9488"/>
                </a:solidFill>
                <a:latin typeface="Arial"/>
              </a:rPr>
              <a:t>1.190 câu hỏi</a:t>
            </a:r>
          </a:p>
        </p:txBody>
      </p:sp>
      <p:sp>
        <p:nvSpPr>
          <p:cNvPr id="21" name="TextBox 20"/>
          <p:cNvSpPr txBox="1"/>
          <p:nvPr/>
        </p:nvSpPr>
        <p:spPr>
          <a:xfrm>
            <a:off x="6373368" y="2478024"/>
            <a:ext cx="2240279" cy="128016"/>
          </a:xfrm>
          <a:prstGeom prst="rect">
            <a:avLst/>
          </a:prstGeom>
          <a:noFill/>
        </p:spPr>
        <p:txBody>
          <a:bodyPr wrap="square" anchor="t">
            <a:spAutoFit/>
          </a:bodyPr>
          <a:lstStyle/>
          <a:p>
            <a:pPr algn="l"/>
            <a:r>
              <a:rPr sz="1300" b="0">
                <a:solidFill>
                  <a:srgbClr val="475569"/>
                </a:solidFill>
                <a:latin typeface="Arial"/>
              </a:rPr>
              <a:t>240 context • 48 bài nguồn</a:t>
            </a:r>
          </a:p>
        </p:txBody>
      </p:sp>
      <p:sp>
        <p:nvSpPr>
          <p:cNvPr id="22" name="Rounded Rectangle 21"/>
          <p:cNvSpPr/>
          <p:nvPr/>
        </p:nvSpPr>
        <p:spPr>
          <a:xfrm>
            <a:off x="8915400" y="1572768"/>
            <a:ext cx="256032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15400" y="1572768"/>
            <a:ext cx="73152" cy="1143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16568" y="1682495"/>
            <a:ext cx="2240279" cy="256032"/>
          </a:xfrm>
          <a:prstGeom prst="rect">
            <a:avLst/>
          </a:prstGeom>
          <a:noFill/>
        </p:spPr>
        <p:txBody>
          <a:bodyPr wrap="square" anchor="ctr">
            <a:spAutoFit/>
          </a:bodyPr>
          <a:lstStyle/>
          <a:p>
            <a:pPr algn="l"/>
            <a:r>
              <a:rPr sz="1300" b="1">
                <a:solidFill>
                  <a:srgbClr val="0F172A"/>
                </a:solidFill>
                <a:latin typeface="Arial"/>
              </a:rPr>
              <a:t>Tập test</a:t>
            </a:r>
          </a:p>
        </p:txBody>
      </p:sp>
      <p:sp>
        <p:nvSpPr>
          <p:cNvPr id="25" name="TextBox 24"/>
          <p:cNvSpPr txBox="1"/>
          <p:nvPr/>
        </p:nvSpPr>
        <p:spPr>
          <a:xfrm>
            <a:off x="9116568" y="2048256"/>
            <a:ext cx="2240279" cy="384048"/>
          </a:xfrm>
          <a:prstGeom prst="rect">
            <a:avLst/>
          </a:prstGeom>
          <a:noFill/>
        </p:spPr>
        <p:txBody>
          <a:bodyPr wrap="square" anchor="ctr">
            <a:spAutoFit/>
          </a:bodyPr>
          <a:lstStyle/>
          <a:p>
            <a:pPr algn="l"/>
            <a:r>
              <a:rPr sz="2600" b="1">
                <a:solidFill>
                  <a:srgbClr val="0D9488"/>
                </a:solidFill>
                <a:latin typeface="Arial"/>
              </a:rPr>
              <a:t>957 câu hỏi</a:t>
            </a:r>
          </a:p>
        </p:txBody>
      </p:sp>
      <p:sp>
        <p:nvSpPr>
          <p:cNvPr id="26" name="TextBox 25"/>
          <p:cNvSpPr txBox="1"/>
          <p:nvPr/>
        </p:nvSpPr>
        <p:spPr>
          <a:xfrm>
            <a:off x="9116568" y="2478024"/>
            <a:ext cx="2240279" cy="128016"/>
          </a:xfrm>
          <a:prstGeom prst="rect">
            <a:avLst/>
          </a:prstGeom>
          <a:noFill/>
        </p:spPr>
        <p:txBody>
          <a:bodyPr wrap="square" anchor="t">
            <a:spAutoFit/>
          </a:bodyPr>
          <a:lstStyle/>
          <a:p>
            <a:pPr algn="l"/>
            <a:r>
              <a:rPr sz="1300" b="0">
                <a:solidFill>
                  <a:srgbClr val="475569"/>
                </a:solidFill>
                <a:latin typeface="Arial"/>
              </a:rPr>
              <a:t>190 context • 38 bài nguồn</a:t>
            </a:r>
          </a:p>
        </p:txBody>
      </p:sp>
      <p:sp>
        <p:nvSpPr>
          <p:cNvPr id="27" name="Rounded Rectangle 26"/>
          <p:cNvSpPr/>
          <p:nvPr/>
        </p:nvSpPr>
        <p:spPr>
          <a:xfrm>
            <a:off x="777240" y="3063240"/>
            <a:ext cx="525780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7240" y="3063240"/>
            <a:ext cx="73152"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8408" y="3172968"/>
            <a:ext cx="4937760" cy="256032"/>
          </a:xfrm>
          <a:prstGeom prst="rect">
            <a:avLst/>
          </a:prstGeom>
          <a:noFill/>
        </p:spPr>
        <p:txBody>
          <a:bodyPr wrap="square" anchor="ctr">
            <a:spAutoFit/>
          </a:bodyPr>
          <a:lstStyle/>
          <a:p>
            <a:pPr algn="l"/>
            <a:r>
              <a:rPr sz="1300" b="1">
                <a:solidFill>
                  <a:srgbClr val="0F172A"/>
                </a:solidFill>
                <a:latin typeface="Arial"/>
              </a:rPr>
              <a:t>Vì sao có thể dùng để đánh giá?</a:t>
            </a:r>
          </a:p>
        </p:txBody>
      </p:sp>
      <p:sp>
        <p:nvSpPr>
          <p:cNvPr id="30" name="TextBox 29"/>
          <p:cNvSpPr txBox="1"/>
          <p:nvPr/>
        </p:nvSpPr>
        <p:spPr>
          <a:xfrm>
            <a:off x="978408" y="3538728"/>
            <a:ext cx="4937760" cy="738664"/>
          </a:xfrm>
          <a:prstGeom prst="rect">
            <a:avLst/>
          </a:prstGeom>
          <a:noFill/>
        </p:spPr>
        <p:txBody>
          <a:bodyPr wrap="square" anchor="t">
            <a:spAutoFit/>
          </a:bodyPr>
          <a:lstStyle/>
          <a:p>
            <a:pPr algn="l"/>
            <a:r>
              <a:rPr sz="1400" b="0">
                <a:solidFill>
                  <a:srgbClr val="475569"/>
                </a:solidFill>
                <a:latin typeface="Arial"/>
              </a:rPr>
              <a:t>XQuAD là bộ dữ liệu hỏi–đáp đa ngôn ngữ được công bố tại ACL 2020 và phát hành công khai. Bản tiếng Việt dùng cùng nội dung và câu hỏi cho cả Max–Min và Ours.</a:t>
            </a:r>
          </a:p>
        </p:txBody>
      </p:sp>
      <p:sp>
        <p:nvSpPr>
          <p:cNvPr id="31" name="Rounded Rectangle 30"/>
          <p:cNvSpPr/>
          <p:nvPr/>
        </p:nvSpPr>
        <p:spPr>
          <a:xfrm>
            <a:off x="6217920" y="3063240"/>
            <a:ext cx="525780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17920" y="3063240"/>
            <a:ext cx="73152"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9088" y="3172968"/>
            <a:ext cx="4937760" cy="256032"/>
          </a:xfrm>
          <a:prstGeom prst="rect">
            <a:avLst/>
          </a:prstGeom>
          <a:noFill/>
        </p:spPr>
        <p:txBody>
          <a:bodyPr wrap="square" anchor="ctr">
            <a:spAutoFit/>
          </a:bodyPr>
          <a:lstStyle/>
          <a:p>
            <a:pPr algn="l"/>
            <a:r>
              <a:rPr sz="1300" b="1">
                <a:solidFill>
                  <a:srgbClr val="0F172A"/>
                </a:solidFill>
                <a:latin typeface="Arial"/>
              </a:rPr>
              <a:t>Hai cách tổ chức tài liệu</a:t>
            </a:r>
          </a:p>
        </p:txBody>
      </p:sp>
      <p:sp>
        <p:nvSpPr>
          <p:cNvPr id="34" name="TextBox 33"/>
          <p:cNvSpPr txBox="1"/>
          <p:nvPr/>
        </p:nvSpPr>
        <p:spPr>
          <a:xfrm>
            <a:off x="6419088" y="3538728"/>
            <a:ext cx="4937760" cy="738664"/>
          </a:xfrm>
          <a:prstGeom prst="rect">
            <a:avLst/>
          </a:prstGeom>
          <a:noFill/>
        </p:spPr>
        <p:txBody>
          <a:bodyPr wrap="square" anchor="t">
            <a:spAutoFit/>
          </a:bodyPr>
          <a:lstStyle/>
          <a:p>
            <a:pPr algn="l"/>
            <a:r>
              <a:rPr sz="1400" b="0" dirty="0">
                <a:solidFill>
                  <a:srgbClr val="475569"/>
                </a:solidFill>
                <a:latin typeface="Arial"/>
              </a:rPr>
              <a:t>A. Context </a:t>
            </a:r>
            <a:r>
              <a:rPr sz="1400" b="0" dirty="0" err="1">
                <a:solidFill>
                  <a:srgbClr val="475569"/>
                </a:solidFill>
                <a:latin typeface="Arial"/>
              </a:rPr>
              <a:t>gốc</a:t>
            </a:r>
            <a:r>
              <a:rPr sz="1400" b="0" dirty="0">
                <a:solidFill>
                  <a:srgbClr val="475569"/>
                </a:solidFill>
                <a:latin typeface="Arial"/>
              </a:rPr>
              <a:t>: </a:t>
            </a:r>
            <a:r>
              <a:rPr sz="1400" b="0" dirty="0" err="1">
                <a:solidFill>
                  <a:srgbClr val="475569"/>
                </a:solidFill>
                <a:latin typeface="Arial"/>
              </a:rPr>
              <a:t>mỗi</a:t>
            </a:r>
            <a:r>
              <a:rPr sz="1400" b="0" dirty="0">
                <a:solidFill>
                  <a:srgbClr val="475569"/>
                </a:solidFill>
                <a:latin typeface="Arial"/>
              </a:rPr>
              <a:t> paragraph </a:t>
            </a:r>
            <a:r>
              <a:rPr sz="1400" b="0" dirty="0" err="1">
                <a:solidFill>
                  <a:srgbClr val="475569"/>
                </a:solidFill>
                <a:latin typeface="Arial"/>
              </a:rPr>
              <a:t>là</a:t>
            </a:r>
            <a:r>
              <a:rPr sz="1400" b="0" dirty="0">
                <a:solidFill>
                  <a:srgbClr val="475569"/>
                </a:solidFill>
                <a:latin typeface="Arial"/>
              </a:rPr>
              <a:t> </a:t>
            </a:r>
            <a:r>
              <a:rPr sz="1400" b="0" dirty="0" err="1">
                <a:solidFill>
                  <a:srgbClr val="475569"/>
                </a:solidFill>
                <a:latin typeface="Arial"/>
              </a:rPr>
              <a:t>một</a:t>
            </a:r>
            <a:r>
              <a:rPr sz="1400" b="0" dirty="0">
                <a:solidFill>
                  <a:srgbClr val="475569"/>
                </a:solidFill>
                <a:latin typeface="Arial"/>
              </a:rPr>
              <a:t> </a:t>
            </a:r>
            <a:r>
              <a:rPr sz="1400" b="0" dirty="0" err="1">
                <a:solidFill>
                  <a:srgbClr val="475569"/>
                </a:solidFill>
                <a:latin typeface="Arial"/>
              </a:rPr>
              <a:t>tài</a:t>
            </a:r>
            <a:r>
              <a:rPr sz="1400" b="0" dirty="0">
                <a:solidFill>
                  <a:srgbClr val="475569"/>
                </a:solidFill>
                <a:latin typeface="Arial"/>
              </a:rPr>
              <a:t> </a:t>
            </a:r>
            <a:r>
              <a:rPr sz="1400" b="0" dirty="0" err="1">
                <a:solidFill>
                  <a:srgbClr val="475569"/>
                </a:solidFill>
                <a:latin typeface="Arial"/>
              </a:rPr>
              <a:t>liệu</a:t>
            </a:r>
            <a:r>
              <a:rPr sz="1400" b="0" dirty="0">
                <a:solidFill>
                  <a:srgbClr val="475569"/>
                </a:solidFill>
                <a:latin typeface="Arial"/>
              </a:rPr>
              <a:t>.
B. </a:t>
            </a:r>
            <a:r>
              <a:rPr sz="1400" b="0" dirty="0" err="1">
                <a:solidFill>
                  <a:srgbClr val="475569"/>
                </a:solidFill>
                <a:latin typeface="Arial"/>
              </a:rPr>
              <a:t>Ghép</a:t>
            </a:r>
            <a:r>
              <a:rPr sz="1400" b="0" dirty="0">
                <a:solidFill>
                  <a:srgbClr val="475569"/>
                </a:solidFill>
                <a:latin typeface="Arial"/>
              </a:rPr>
              <a:t> </a:t>
            </a:r>
            <a:r>
              <a:rPr sz="1400" b="0" dirty="0" err="1">
                <a:solidFill>
                  <a:srgbClr val="475569"/>
                </a:solidFill>
                <a:latin typeface="Arial"/>
              </a:rPr>
              <a:t>theo</a:t>
            </a:r>
            <a:r>
              <a:rPr sz="1400" b="0" dirty="0">
                <a:solidFill>
                  <a:srgbClr val="475569"/>
                </a:solidFill>
                <a:latin typeface="Arial"/>
              </a:rPr>
              <a:t> </a:t>
            </a:r>
            <a:r>
              <a:rPr sz="1400" b="0" dirty="0" err="1">
                <a:solidFill>
                  <a:srgbClr val="475569"/>
                </a:solidFill>
                <a:latin typeface="Arial"/>
              </a:rPr>
              <a:t>bài</a:t>
            </a:r>
            <a:r>
              <a:rPr sz="1400" b="0" dirty="0">
                <a:solidFill>
                  <a:srgbClr val="475569"/>
                </a:solidFill>
                <a:latin typeface="Arial"/>
              </a:rPr>
              <a:t>: </a:t>
            </a:r>
            <a:r>
              <a:rPr sz="1400" b="0" dirty="0" err="1">
                <a:solidFill>
                  <a:srgbClr val="475569"/>
                </a:solidFill>
                <a:latin typeface="Arial"/>
              </a:rPr>
              <a:t>các</a:t>
            </a:r>
            <a:r>
              <a:rPr sz="1400" b="0" dirty="0">
                <a:solidFill>
                  <a:srgbClr val="475569"/>
                </a:solidFill>
                <a:latin typeface="Arial"/>
              </a:rPr>
              <a:t> context </a:t>
            </a:r>
            <a:r>
              <a:rPr sz="1400" b="0" dirty="0" err="1">
                <a:solidFill>
                  <a:srgbClr val="475569"/>
                </a:solidFill>
                <a:latin typeface="Arial"/>
              </a:rPr>
              <a:t>cùng</a:t>
            </a:r>
            <a:r>
              <a:rPr sz="1400" b="0" dirty="0">
                <a:solidFill>
                  <a:srgbClr val="475569"/>
                </a:solidFill>
                <a:latin typeface="Arial"/>
              </a:rPr>
              <a:t> </a:t>
            </a:r>
            <a:r>
              <a:rPr sz="1400" b="0" dirty="0" err="1">
                <a:solidFill>
                  <a:srgbClr val="475569"/>
                </a:solidFill>
                <a:latin typeface="Arial"/>
              </a:rPr>
              <a:t>bài</a:t>
            </a:r>
            <a:r>
              <a:rPr sz="1400" b="0" dirty="0">
                <a:solidFill>
                  <a:srgbClr val="475569"/>
                </a:solidFill>
                <a:latin typeface="Arial"/>
              </a:rPr>
              <a:t> </a:t>
            </a:r>
            <a:r>
              <a:rPr sz="1400" b="0" dirty="0" err="1">
                <a:solidFill>
                  <a:srgbClr val="475569"/>
                </a:solidFill>
                <a:latin typeface="Arial"/>
              </a:rPr>
              <a:t>được</a:t>
            </a:r>
            <a:r>
              <a:rPr sz="1400" b="0" dirty="0">
                <a:solidFill>
                  <a:srgbClr val="475569"/>
                </a:solidFill>
                <a:latin typeface="Arial"/>
              </a:rPr>
              <a:t> </a:t>
            </a:r>
            <a:r>
              <a:rPr sz="1400" b="0" dirty="0" err="1">
                <a:solidFill>
                  <a:srgbClr val="475569"/>
                </a:solidFill>
                <a:latin typeface="Arial"/>
              </a:rPr>
              <a:t>ghép</a:t>
            </a:r>
            <a:r>
              <a:rPr sz="1400" b="0" dirty="0">
                <a:solidFill>
                  <a:srgbClr val="475569"/>
                </a:solidFill>
                <a:latin typeface="Arial"/>
              </a:rPr>
              <a:t> </a:t>
            </a:r>
            <a:r>
              <a:rPr sz="1400" b="0" dirty="0" err="1">
                <a:solidFill>
                  <a:srgbClr val="475569"/>
                </a:solidFill>
                <a:latin typeface="Arial"/>
              </a:rPr>
              <a:t>lại</a:t>
            </a:r>
            <a:r>
              <a:rPr sz="1400" b="0" dirty="0">
                <a:solidFill>
                  <a:srgbClr val="475569"/>
                </a:solidFill>
                <a:latin typeface="Arial"/>
              </a:rPr>
              <a:t> </a:t>
            </a:r>
            <a:r>
              <a:rPr sz="1400" b="0" dirty="0" err="1">
                <a:solidFill>
                  <a:srgbClr val="475569"/>
                </a:solidFill>
                <a:latin typeface="Arial"/>
              </a:rPr>
              <a:t>thành</a:t>
            </a:r>
            <a:r>
              <a:rPr sz="1400" b="0" dirty="0">
                <a:solidFill>
                  <a:srgbClr val="475569"/>
                </a:solidFill>
                <a:latin typeface="Arial"/>
              </a:rPr>
              <a:t> </a:t>
            </a:r>
            <a:r>
              <a:rPr sz="1400" b="0" dirty="0" err="1">
                <a:solidFill>
                  <a:srgbClr val="475569"/>
                </a:solidFill>
                <a:latin typeface="Arial"/>
              </a:rPr>
              <a:t>văn</a:t>
            </a:r>
            <a:r>
              <a:rPr sz="1400" b="0" dirty="0">
                <a:solidFill>
                  <a:srgbClr val="475569"/>
                </a:solidFill>
                <a:latin typeface="Arial"/>
              </a:rPr>
              <a:t> </a:t>
            </a:r>
            <a:r>
              <a:rPr sz="1400" b="0" dirty="0" err="1">
                <a:solidFill>
                  <a:srgbClr val="475569"/>
                </a:solidFill>
                <a:latin typeface="Arial"/>
              </a:rPr>
              <a:t>bản</a:t>
            </a:r>
            <a:r>
              <a:rPr sz="1400" b="0" dirty="0">
                <a:solidFill>
                  <a:srgbClr val="475569"/>
                </a:solidFill>
                <a:latin typeface="Arial"/>
              </a:rPr>
              <a:t> </a:t>
            </a:r>
            <a:r>
              <a:rPr sz="1400" b="0" dirty="0" err="1">
                <a:solidFill>
                  <a:srgbClr val="475569"/>
                </a:solidFill>
                <a:latin typeface="Arial"/>
              </a:rPr>
              <a:t>dài</a:t>
            </a:r>
            <a:r>
              <a:rPr sz="1400" b="0" dirty="0">
                <a:solidFill>
                  <a:srgbClr val="475569"/>
                </a:solidFill>
                <a:latin typeface="Arial"/>
              </a:rPr>
              <a:t> </a:t>
            </a:r>
            <a:r>
              <a:rPr sz="1400" b="0" dirty="0" err="1">
                <a:solidFill>
                  <a:srgbClr val="475569"/>
                </a:solidFill>
                <a:latin typeface="Arial"/>
              </a:rPr>
              <a:t>hơn</a:t>
            </a:r>
            <a:r>
              <a:rPr sz="1400" b="0" dirty="0">
                <a:solidFill>
                  <a:srgbClr val="475569"/>
                </a:solidFill>
                <a:latin typeface="Arial"/>
              </a:rPr>
              <a:t>.</a:t>
            </a:r>
          </a:p>
        </p:txBody>
      </p:sp>
      <p:sp>
        <p:nvSpPr>
          <p:cNvPr id="35" name="Rounded Rectangle 34"/>
          <p:cNvSpPr/>
          <p:nvPr/>
        </p:nvSpPr>
        <p:spPr>
          <a:xfrm>
            <a:off x="777240" y="4800600"/>
            <a:ext cx="10698480" cy="960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77240" y="4800600"/>
            <a:ext cx="73152" cy="9601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78408" y="4910328"/>
            <a:ext cx="10378440" cy="256032"/>
          </a:xfrm>
          <a:prstGeom prst="rect">
            <a:avLst/>
          </a:prstGeom>
          <a:noFill/>
        </p:spPr>
        <p:txBody>
          <a:bodyPr wrap="square" anchor="ctr">
            <a:spAutoFit/>
          </a:bodyPr>
          <a:lstStyle/>
          <a:p>
            <a:pPr algn="l"/>
            <a:r>
              <a:rPr sz="1300" b="1">
                <a:solidFill>
                  <a:srgbClr val="0F172A"/>
                </a:solidFill>
                <a:latin typeface="Arial"/>
              </a:rPr>
              <a:t>Cách tạo “bằng chứng chuẩn”</a:t>
            </a:r>
          </a:p>
        </p:txBody>
      </p:sp>
      <p:sp>
        <p:nvSpPr>
          <p:cNvPr id="38" name="TextBox 37"/>
          <p:cNvSpPr txBox="1"/>
          <p:nvPr/>
        </p:nvSpPr>
        <p:spPr>
          <a:xfrm>
            <a:off x="978408" y="5276088"/>
            <a:ext cx="10378440" cy="523220"/>
          </a:xfrm>
          <a:prstGeom prst="rect">
            <a:avLst/>
          </a:prstGeom>
          <a:noFill/>
        </p:spPr>
        <p:txBody>
          <a:bodyPr wrap="square" anchor="t">
            <a:spAutoFit/>
          </a:bodyPr>
          <a:lstStyle/>
          <a:p>
            <a:pPr algn="l"/>
            <a:r>
              <a:rPr sz="1400" b="0" dirty="0" err="1">
                <a:solidFill>
                  <a:srgbClr val="475569"/>
                </a:solidFill>
                <a:latin typeface="Arial"/>
              </a:rPr>
              <a:t>Với</a:t>
            </a:r>
            <a:r>
              <a:rPr sz="1400" b="0" dirty="0">
                <a:solidFill>
                  <a:srgbClr val="475569"/>
                </a:solidFill>
                <a:latin typeface="Arial"/>
              </a:rPr>
              <a:t> </a:t>
            </a:r>
            <a:r>
              <a:rPr sz="1400" b="0" dirty="0" err="1">
                <a:solidFill>
                  <a:srgbClr val="475569"/>
                </a:solidFill>
                <a:latin typeface="Arial"/>
              </a:rPr>
              <a:t>mỗi</a:t>
            </a:r>
            <a:r>
              <a:rPr sz="1400" b="0" dirty="0">
                <a:solidFill>
                  <a:srgbClr val="475569"/>
                </a:solidFill>
                <a:latin typeface="Arial"/>
              </a:rPr>
              <a:t> </a:t>
            </a:r>
            <a:r>
              <a:rPr sz="1400" b="0" dirty="0" err="1">
                <a:solidFill>
                  <a:srgbClr val="475569"/>
                </a:solidFill>
                <a:latin typeface="Arial"/>
              </a:rPr>
              <a:t>câu</a:t>
            </a:r>
            <a:r>
              <a:rPr sz="1400" b="0" dirty="0">
                <a:solidFill>
                  <a:srgbClr val="475569"/>
                </a:solidFill>
                <a:latin typeface="Arial"/>
              </a:rPr>
              <a:t> </a:t>
            </a:r>
            <a:r>
              <a:rPr sz="1400" b="0" dirty="0" err="1">
                <a:solidFill>
                  <a:srgbClr val="475569"/>
                </a:solidFill>
                <a:latin typeface="Arial"/>
              </a:rPr>
              <a:t>hỏi</a:t>
            </a:r>
            <a:r>
              <a:rPr sz="1400" b="0" dirty="0">
                <a:solidFill>
                  <a:srgbClr val="475569"/>
                </a:solidFill>
                <a:latin typeface="Arial"/>
              </a:rPr>
              <a:t>, </a:t>
            </a:r>
            <a:r>
              <a:rPr sz="1400" b="0" dirty="0" err="1">
                <a:solidFill>
                  <a:srgbClr val="475569"/>
                </a:solidFill>
                <a:latin typeface="Arial"/>
              </a:rPr>
              <a:t>hệ</a:t>
            </a:r>
            <a:r>
              <a:rPr sz="1400" b="0" dirty="0">
                <a:solidFill>
                  <a:srgbClr val="475569"/>
                </a:solidFill>
                <a:latin typeface="Arial"/>
              </a:rPr>
              <a:t> </a:t>
            </a:r>
            <a:r>
              <a:rPr sz="1400" b="0" dirty="0" err="1">
                <a:solidFill>
                  <a:srgbClr val="475569"/>
                </a:solidFill>
                <a:latin typeface="Arial"/>
              </a:rPr>
              <a:t>thống</a:t>
            </a:r>
            <a:r>
              <a:rPr sz="1400" b="0" dirty="0">
                <a:solidFill>
                  <a:srgbClr val="475569"/>
                </a:solidFill>
                <a:latin typeface="Arial"/>
              </a:rPr>
              <a:t> </a:t>
            </a:r>
            <a:r>
              <a:rPr sz="1400" b="0" dirty="0" err="1">
                <a:solidFill>
                  <a:srgbClr val="475569"/>
                </a:solidFill>
                <a:latin typeface="Arial"/>
              </a:rPr>
              <a:t>lấy</a:t>
            </a:r>
            <a:r>
              <a:rPr sz="1400" b="0" dirty="0">
                <a:solidFill>
                  <a:srgbClr val="475569"/>
                </a:solidFill>
                <a:latin typeface="Arial"/>
              </a:rPr>
              <a:t> </a:t>
            </a:r>
            <a:r>
              <a:rPr sz="1400" b="0" dirty="0" err="1">
                <a:solidFill>
                  <a:srgbClr val="475569"/>
                </a:solidFill>
                <a:latin typeface="Arial"/>
              </a:rPr>
              <a:t>câu</a:t>
            </a:r>
            <a:r>
              <a:rPr sz="1400" b="0" dirty="0">
                <a:solidFill>
                  <a:srgbClr val="475569"/>
                </a:solidFill>
                <a:latin typeface="Arial"/>
              </a:rPr>
              <a:t> </a:t>
            </a:r>
            <a:r>
              <a:rPr sz="1400" b="0" dirty="0" err="1">
                <a:solidFill>
                  <a:srgbClr val="475569"/>
                </a:solidFill>
                <a:latin typeface="Arial"/>
              </a:rPr>
              <a:t>trong</a:t>
            </a:r>
            <a:r>
              <a:rPr sz="1400" b="0" dirty="0">
                <a:solidFill>
                  <a:srgbClr val="475569"/>
                </a:solidFill>
                <a:latin typeface="Arial"/>
              </a:rPr>
              <a:t> </a:t>
            </a:r>
            <a:r>
              <a:rPr sz="1400" b="0" dirty="0" err="1">
                <a:solidFill>
                  <a:srgbClr val="475569"/>
                </a:solidFill>
                <a:latin typeface="Arial"/>
              </a:rPr>
              <a:t>nguồn</a:t>
            </a:r>
            <a:r>
              <a:rPr sz="1400" b="0" dirty="0">
                <a:solidFill>
                  <a:srgbClr val="475569"/>
                </a:solidFill>
                <a:latin typeface="Arial"/>
              </a:rPr>
              <a:t> </a:t>
            </a:r>
            <a:r>
              <a:rPr sz="1400" b="0" dirty="0" err="1">
                <a:solidFill>
                  <a:srgbClr val="475569"/>
                </a:solidFill>
                <a:latin typeface="Arial"/>
              </a:rPr>
              <a:t>chứa</a:t>
            </a:r>
            <a:r>
              <a:rPr sz="1400" b="0" dirty="0">
                <a:solidFill>
                  <a:srgbClr val="475569"/>
                </a:solidFill>
                <a:latin typeface="Arial"/>
              </a:rPr>
              <a:t> </a:t>
            </a:r>
            <a:r>
              <a:rPr sz="1400" b="0" dirty="0" err="1">
                <a:solidFill>
                  <a:srgbClr val="475569"/>
                </a:solidFill>
                <a:latin typeface="Arial"/>
              </a:rPr>
              <a:t>đáp</a:t>
            </a:r>
            <a:r>
              <a:rPr sz="1400" b="0" dirty="0">
                <a:solidFill>
                  <a:srgbClr val="475569"/>
                </a:solidFill>
                <a:latin typeface="Arial"/>
              </a:rPr>
              <a:t> </a:t>
            </a:r>
            <a:r>
              <a:rPr sz="1400" b="0" dirty="0" err="1">
                <a:solidFill>
                  <a:srgbClr val="475569"/>
                </a:solidFill>
                <a:latin typeface="Arial"/>
              </a:rPr>
              <a:t>án</a:t>
            </a:r>
            <a:r>
              <a:rPr sz="1400" b="0" dirty="0">
                <a:solidFill>
                  <a:srgbClr val="475569"/>
                </a:solidFill>
                <a:latin typeface="Arial"/>
              </a:rPr>
              <a:t> </a:t>
            </a:r>
            <a:r>
              <a:rPr sz="1400" b="0" dirty="0" err="1">
                <a:solidFill>
                  <a:srgbClr val="475569"/>
                </a:solidFill>
                <a:latin typeface="Arial"/>
              </a:rPr>
              <a:t>đầu</a:t>
            </a:r>
            <a:r>
              <a:rPr sz="1400" b="0" dirty="0">
                <a:solidFill>
                  <a:srgbClr val="475569"/>
                </a:solidFill>
                <a:latin typeface="Arial"/>
              </a:rPr>
              <a:t> </a:t>
            </a:r>
            <a:r>
              <a:rPr sz="1400" b="0" dirty="0" err="1">
                <a:solidFill>
                  <a:srgbClr val="475569"/>
                </a:solidFill>
                <a:latin typeface="Arial"/>
              </a:rPr>
              <a:t>tiên</a:t>
            </a:r>
            <a:r>
              <a:rPr sz="1400" b="0" dirty="0">
                <a:solidFill>
                  <a:srgbClr val="475569"/>
                </a:solidFill>
                <a:latin typeface="Arial"/>
              </a:rPr>
              <a:t> </a:t>
            </a:r>
            <a:r>
              <a:rPr sz="1400" b="0" dirty="0" err="1">
                <a:solidFill>
                  <a:srgbClr val="475569"/>
                </a:solidFill>
                <a:latin typeface="Arial"/>
              </a:rPr>
              <a:t>làm</a:t>
            </a:r>
            <a:r>
              <a:rPr sz="1400" b="0" dirty="0">
                <a:solidFill>
                  <a:srgbClr val="475569"/>
                </a:solidFill>
                <a:latin typeface="Arial"/>
              </a:rPr>
              <a:t> </a:t>
            </a:r>
            <a:r>
              <a:rPr sz="1400" b="0" dirty="0" err="1">
                <a:solidFill>
                  <a:srgbClr val="475569"/>
                </a:solidFill>
                <a:latin typeface="Arial"/>
              </a:rPr>
              <a:t>bằng</a:t>
            </a:r>
            <a:r>
              <a:rPr sz="1400" b="0" dirty="0">
                <a:solidFill>
                  <a:srgbClr val="475569"/>
                </a:solidFill>
                <a:latin typeface="Arial"/>
              </a:rPr>
              <a:t> </a:t>
            </a:r>
            <a:r>
              <a:rPr sz="1400" b="0" dirty="0" err="1">
                <a:solidFill>
                  <a:srgbClr val="475569"/>
                </a:solidFill>
                <a:latin typeface="Arial"/>
              </a:rPr>
              <a:t>chứng</a:t>
            </a:r>
            <a:r>
              <a:rPr sz="1400" b="0" dirty="0">
                <a:solidFill>
                  <a:srgbClr val="475569"/>
                </a:solidFill>
                <a:latin typeface="Arial"/>
              </a:rPr>
              <a:t> </a:t>
            </a:r>
            <a:r>
              <a:rPr sz="1400" b="0" dirty="0" err="1">
                <a:solidFill>
                  <a:srgbClr val="475569"/>
                </a:solidFill>
                <a:latin typeface="Arial"/>
              </a:rPr>
              <a:t>chuẩn</a:t>
            </a:r>
            <a:r>
              <a:rPr sz="1400" b="0" dirty="0">
                <a:solidFill>
                  <a:srgbClr val="475569"/>
                </a:solidFill>
                <a:latin typeface="Arial"/>
              </a:rPr>
              <a:t> </a:t>
            </a:r>
            <a:r>
              <a:rPr sz="1400" b="0" dirty="0" err="1">
                <a:solidFill>
                  <a:srgbClr val="475569"/>
                </a:solidFill>
                <a:latin typeface="Arial"/>
              </a:rPr>
              <a:t>để</a:t>
            </a:r>
            <a:r>
              <a:rPr sz="1400" b="0" dirty="0">
                <a:solidFill>
                  <a:srgbClr val="475569"/>
                </a:solidFill>
                <a:latin typeface="Arial"/>
              </a:rPr>
              <a:t> </a:t>
            </a:r>
            <a:r>
              <a:rPr sz="1400" b="0" dirty="0" err="1">
                <a:solidFill>
                  <a:srgbClr val="475569"/>
                </a:solidFill>
                <a:latin typeface="Arial"/>
              </a:rPr>
              <a:t>kiểm</a:t>
            </a:r>
            <a:r>
              <a:rPr sz="1400" b="0" dirty="0">
                <a:solidFill>
                  <a:srgbClr val="475569"/>
                </a:solidFill>
                <a:latin typeface="Arial"/>
              </a:rPr>
              <a:t> </a:t>
            </a:r>
            <a:r>
              <a:rPr sz="1400" b="0" dirty="0" err="1">
                <a:solidFill>
                  <a:srgbClr val="475569"/>
                </a:solidFill>
                <a:latin typeface="Arial"/>
              </a:rPr>
              <a:t>tra</a:t>
            </a:r>
            <a:r>
              <a:rPr sz="1400" b="0" dirty="0">
                <a:solidFill>
                  <a:srgbClr val="475569"/>
                </a:solidFill>
                <a:latin typeface="Arial"/>
              </a:rPr>
              <a:t> retrieval. </a:t>
            </a:r>
            <a:r>
              <a:rPr sz="1400" b="0" dirty="0" err="1">
                <a:solidFill>
                  <a:srgbClr val="475569"/>
                </a:solidFill>
                <a:latin typeface="Arial"/>
              </a:rPr>
              <a:t>Đây</a:t>
            </a:r>
            <a:r>
              <a:rPr sz="1400" b="0" dirty="0">
                <a:solidFill>
                  <a:srgbClr val="475569"/>
                </a:solidFill>
                <a:latin typeface="Arial"/>
              </a:rPr>
              <a:t> </a:t>
            </a:r>
            <a:r>
              <a:rPr sz="1400" b="0" dirty="0" err="1">
                <a:solidFill>
                  <a:srgbClr val="475569"/>
                </a:solidFill>
                <a:latin typeface="Arial"/>
              </a:rPr>
              <a:t>là</a:t>
            </a:r>
            <a:r>
              <a:rPr sz="1400" b="0" dirty="0">
                <a:solidFill>
                  <a:srgbClr val="475569"/>
                </a:solidFill>
                <a:latin typeface="Arial"/>
              </a:rPr>
              <a:t> benchmark </a:t>
            </a:r>
            <a:r>
              <a:rPr sz="1400" b="0" dirty="0" err="1">
                <a:solidFill>
                  <a:srgbClr val="475569"/>
                </a:solidFill>
                <a:latin typeface="Arial"/>
              </a:rPr>
              <a:t>cho</a:t>
            </a:r>
            <a:r>
              <a:rPr sz="1400" b="0" dirty="0">
                <a:solidFill>
                  <a:srgbClr val="475569"/>
                </a:solidFill>
                <a:latin typeface="Arial"/>
              </a:rPr>
              <a:t> </a:t>
            </a:r>
            <a:r>
              <a:rPr sz="1400" b="0" dirty="0" err="1">
                <a:solidFill>
                  <a:srgbClr val="475569"/>
                </a:solidFill>
                <a:latin typeface="Arial"/>
              </a:rPr>
              <a:t>bước</a:t>
            </a:r>
            <a:r>
              <a:rPr sz="1400" b="0" dirty="0">
                <a:solidFill>
                  <a:srgbClr val="475569"/>
                </a:solidFill>
                <a:latin typeface="Arial"/>
              </a:rPr>
              <a:t> </a:t>
            </a:r>
            <a:r>
              <a:rPr sz="1400" b="0" dirty="0" err="1">
                <a:solidFill>
                  <a:srgbClr val="475569"/>
                </a:solidFill>
                <a:latin typeface="Arial"/>
              </a:rPr>
              <a:t>truy</a:t>
            </a:r>
            <a:r>
              <a:rPr sz="1400" b="0" dirty="0">
                <a:solidFill>
                  <a:srgbClr val="475569"/>
                </a:solidFill>
                <a:latin typeface="Arial"/>
              </a:rPr>
              <a:t> </a:t>
            </a:r>
            <a:r>
              <a:rPr sz="1400" b="0" dirty="0" err="1">
                <a:solidFill>
                  <a:srgbClr val="475569"/>
                </a:solidFill>
                <a:latin typeface="Arial"/>
              </a:rPr>
              <a:t>xuất</a:t>
            </a:r>
            <a:r>
              <a:rPr sz="1400" b="0" dirty="0">
                <a:solidFill>
                  <a:srgbClr val="475569"/>
                </a:solidFill>
                <a:latin typeface="Arial"/>
              </a:rPr>
              <a:t>, </a:t>
            </a:r>
            <a:r>
              <a:rPr sz="1400" b="0" dirty="0" err="1">
                <a:solidFill>
                  <a:srgbClr val="475569"/>
                </a:solidFill>
                <a:latin typeface="Arial"/>
              </a:rPr>
              <a:t>không</a:t>
            </a:r>
            <a:r>
              <a:rPr sz="1400" b="0" dirty="0">
                <a:solidFill>
                  <a:srgbClr val="475569"/>
                </a:solidFill>
                <a:latin typeface="Arial"/>
              </a:rPr>
              <a:t> </a:t>
            </a:r>
            <a:r>
              <a:rPr sz="1400" b="0" dirty="0" err="1">
                <a:solidFill>
                  <a:srgbClr val="475569"/>
                </a:solidFill>
                <a:latin typeface="Arial"/>
              </a:rPr>
              <a:t>phải</a:t>
            </a:r>
            <a:r>
              <a:rPr sz="1400" b="0" dirty="0">
                <a:solidFill>
                  <a:srgbClr val="475569"/>
                </a:solidFill>
                <a:latin typeface="Arial"/>
              </a:rPr>
              <a:t> </a:t>
            </a:r>
            <a:r>
              <a:rPr sz="1400" b="0" dirty="0" err="1">
                <a:solidFill>
                  <a:srgbClr val="475569"/>
                </a:solidFill>
                <a:latin typeface="Arial"/>
              </a:rPr>
              <a:t>chấm</a:t>
            </a:r>
            <a:r>
              <a:rPr sz="1400" b="0" dirty="0">
                <a:solidFill>
                  <a:srgbClr val="475569"/>
                </a:solidFill>
                <a:latin typeface="Arial"/>
              </a:rPr>
              <a:t> </a:t>
            </a:r>
            <a:r>
              <a:rPr sz="1400" b="0" dirty="0" err="1">
                <a:solidFill>
                  <a:srgbClr val="475569"/>
                </a:solidFill>
                <a:latin typeface="Arial"/>
              </a:rPr>
              <a:t>câu</a:t>
            </a:r>
            <a:r>
              <a:rPr sz="1400" b="0" dirty="0">
                <a:solidFill>
                  <a:srgbClr val="475569"/>
                </a:solidFill>
                <a:latin typeface="Arial"/>
              </a:rPr>
              <a:t> </a:t>
            </a:r>
            <a:r>
              <a:rPr sz="1400" b="0" dirty="0" err="1">
                <a:solidFill>
                  <a:srgbClr val="475569"/>
                </a:solidFill>
                <a:latin typeface="Arial"/>
              </a:rPr>
              <a:t>trả</a:t>
            </a:r>
            <a:r>
              <a:rPr sz="1400" b="0" dirty="0">
                <a:solidFill>
                  <a:srgbClr val="475569"/>
                </a:solidFill>
                <a:latin typeface="Arial"/>
              </a:rPr>
              <a:t> </a:t>
            </a:r>
            <a:r>
              <a:rPr sz="1400" b="0" dirty="0" err="1">
                <a:solidFill>
                  <a:srgbClr val="475569"/>
                </a:solidFill>
                <a:latin typeface="Arial"/>
              </a:rPr>
              <a:t>lời</a:t>
            </a:r>
            <a:r>
              <a:rPr sz="1400" b="0" dirty="0">
                <a:solidFill>
                  <a:srgbClr val="475569"/>
                </a:solidFill>
                <a:latin typeface="Arial"/>
              </a:rPr>
              <a:t> LLM.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dirty="0" err="1">
                <a:solidFill>
                  <a:srgbClr val="0F172A"/>
                </a:solidFill>
                <a:latin typeface="Arial"/>
              </a:rPr>
              <a:t>Cách</a:t>
            </a:r>
            <a:r>
              <a:rPr sz="2800" b="1" dirty="0">
                <a:solidFill>
                  <a:srgbClr val="0F172A"/>
                </a:solidFill>
                <a:latin typeface="Arial"/>
              </a:rPr>
              <a:t> </a:t>
            </a:r>
            <a:r>
              <a:rPr sz="2800" b="1" dirty="0" err="1">
                <a:solidFill>
                  <a:srgbClr val="0F172A"/>
                </a:solidFill>
                <a:latin typeface="Arial"/>
              </a:rPr>
              <a:t>chúng</a:t>
            </a:r>
            <a:r>
              <a:rPr sz="2800" b="1" dirty="0">
                <a:solidFill>
                  <a:srgbClr val="0F172A"/>
                </a:solidFill>
                <a:latin typeface="Arial"/>
              </a:rPr>
              <a:t> </a:t>
            </a:r>
            <a:r>
              <a:rPr sz="2800" b="1" dirty="0" err="1">
                <a:solidFill>
                  <a:srgbClr val="0F172A"/>
                </a:solidFill>
                <a:latin typeface="Arial"/>
              </a:rPr>
              <a:t>tôi</a:t>
            </a:r>
            <a:r>
              <a:rPr sz="2800" b="1" dirty="0">
                <a:solidFill>
                  <a:srgbClr val="0F172A"/>
                </a:solidFill>
                <a:latin typeface="Arial"/>
              </a:rPr>
              <a:t> </a:t>
            </a:r>
            <a:r>
              <a:rPr sz="2800" b="1" dirty="0" err="1">
                <a:solidFill>
                  <a:srgbClr val="0F172A"/>
                </a:solidFill>
                <a:latin typeface="Arial"/>
              </a:rPr>
              <a:t>chấm</a:t>
            </a:r>
            <a:r>
              <a:rPr sz="2800" b="1" dirty="0">
                <a:solidFill>
                  <a:srgbClr val="0F172A"/>
                </a:solidFill>
                <a:latin typeface="Arial"/>
              </a:rPr>
              <a:t> </a:t>
            </a:r>
            <a:r>
              <a:rPr sz="2800" b="1" dirty="0" err="1">
                <a:solidFill>
                  <a:srgbClr val="0F172A"/>
                </a:solidFill>
                <a:latin typeface="Arial"/>
              </a:rPr>
              <a:t>kết</a:t>
            </a:r>
            <a:r>
              <a:rPr sz="2800" b="1" dirty="0">
                <a:solidFill>
                  <a:srgbClr val="0F172A"/>
                </a:solidFill>
                <a:latin typeface="Arial"/>
              </a:rPr>
              <a:t> </a:t>
            </a:r>
            <a:r>
              <a:rPr sz="2800" b="1" dirty="0" err="1">
                <a:solidFill>
                  <a:srgbClr val="0F172A"/>
                </a:solidFill>
                <a:latin typeface="Arial"/>
              </a:rPr>
              <a:t>quả</a:t>
            </a:r>
            <a:endParaRPr sz="2800" b="1" dirty="0">
              <a:solidFill>
                <a:srgbClr val="0F172A"/>
              </a:solidFill>
              <a:latin typeface="Arial"/>
            </a:endParaRP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“Bằng chứng” = câu trong tài liệu nguồn chứa đáp án chuẩn của câu hỏi</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ĐÁNH GIÁ</a:t>
            </a:r>
          </a:p>
        </p:txBody>
      </p:sp>
      <p:sp>
        <p:nvSpPr>
          <p:cNvPr id="6" name="TextBox 5"/>
          <p:cNvSpPr txBox="1"/>
          <p:nvPr/>
        </p:nvSpPr>
        <p:spPr>
          <a:xfrm>
            <a:off x="11658599" y="6369130"/>
            <a:ext cx="466725" cy="246221"/>
          </a:xfrm>
          <a:prstGeom prst="rect">
            <a:avLst/>
          </a:prstGeom>
          <a:noFill/>
        </p:spPr>
        <p:txBody>
          <a:bodyPr wrap="square" anchor="ctr">
            <a:spAutoFit/>
          </a:bodyPr>
          <a:lstStyle/>
          <a:p>
            <a:pPr algn="r"/>
            <a:r>
              <a:rPr sz="1000" b="0">
                <a:solidFill>
                  <a:srgbClr val="475569"/>
                </a:solidFill>
                <a:latin typeface="Arial"/>
              </a:rPr>
              <a:t>12</a:t>
            </a:r>
          </a:p>
        </p:txBody>
      </p:sp>
      <p:sp>
        <p:nvSpPr>
          <p:cNvPr id="7" name="Rounded Rectangle 6"/>
          <p:cNvSpPr/>
          <p:nvPr/>
        </p:nvSpPr>
        <p:spPr>
          <a:xfrm>
            <a:off x="685800" y="1572768"/>
            <a:ext cx="342900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572768"/>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682495"/>
            <a:ext cx="3108960" cy="256032"/>
          </a:xfrm>
          <a:prstGeom prst="rect">
            <a:avLst/>
          </a:prstGeom>
          <a:noFill/>
        </p:spPr>
        <p:txBody>
          <a:bodyPr wrap="square" anchor="ctr">
            <a:spAutoFit/>
          </a:bodyPr>
          <a:lstStyle/>
          <a:p>
            <a:pPr algn="l"/>
            <a:r>
              <a:rPr sz="1300" b="1">
                <a:solidFill>
                  <a:srgbClr val="0F172A"/>
                </a:solidFill>
                <a:latin typeface="Arial"/>
              </a:rPr>
              <a:t>Bước 1 — Đặt câu hỏi</a:t>
            </a:r>
          </a:p>
        </p:txBody>
      </p:sp>
      <p:sp>
        <p:nvSpPr>
          <p:cNvPr id="10" name="TextBox 9"/>
          <p:cNvSpPr txBox="1"/>
          <p:nvPr/>
        </p:nvSpPr>
        <p:spPr>
          <a:xfrm>
            <a:off x="886968" y="2048256"/>
            <a:ext cx="3108960" cy="384048"/>
          </a:xfrm>
          <a:prstGeom prst="rect">
            <a:avLst/>
          </a:prstGeom>
          <a:noFill/>
        </p:spPr>
        <p:txBody>
          <a:bodyPr wrap="square" anchor="ctr">
            <a:spAutoFit/>
          </a:bodyPr>
          <a:lstStyle/>
          <a:p>
            <a:pPr algn="l"/>
            <a:r>
              <a:rPr sz="2600" b="1">
                <a:solidFill>
                  <a:srgbClr val="0D9488"/>
                </a:solidFill>
                <a:latin typeface="Arial"/>
              </a:rPr>
              <a:t>?</a:t>
            </a:r>
          </a:p>
        </p:txBody>
      </p:sp>
      <p:sp>
        <p:nvSpPr>
          <p:cNvPr id="11" name="TextBox 10"/>
          <p:cNvSpPr txBox="1"/>
          <p:nvPr/>
        </p:nvSpPr>
        <p:spPr>
          <a:xfrm>
            <a:off x="886968" y="2478024"/>
            <a:ext cx="3108960" cy="265175"/>
          </a:xfrm>
          <a:prstGeom prst="rect">
            <a:avLst/>
          </a:prstGeom>
          <a:noFill/>
        </p:spPr>
        <p:txBody>
          <a:bodyPr wrap="square" anchor="t">
            <a:spAutoFit/>
          </a:bodyPr>
          <a:lstStyle/>
          <a:p>
            <a:pPr algn="l"/>
            <a:r>
              <a:rPr sz="1300" b="0">
                <a:solidFill>
                  <a:srgbClr val="475569"/>
                </a:solidFill>
                <a:latin typeface="Arial"/>
              </a:rPr>
              <a:t>Ví dụ: “Nhân vật X sinh năm nào?”</a:t>
            </a:r>
          </a:p>
        </p:txBody>
      </p:sp>
      <p:sp>
        <p:nvSpPr>
          <p:cNvPr id="12" name="Rounded Rectangle 11"/>
          <p:cNvSpPr/>
          <p:nvPr/>
        </p:nvSpPr>
        <p:spPr>
          <a:xfrm>
            <a:off x="4389120" y="1572768"/>
            <a:ext cx="342900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572768"/>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0288" y="1682495"/>
            <a:ext cx="3108960" cy="256032"/>
          </a:xfrm>
          <a:prstGeom prst="rect">
            <a:avLst/>
          </a:prstGeom>
          <a:noFill/>
        </p:spPr>
        <p:txBody>
          <a:bodyPr wrap="square" anchor="ctr">
            <a:spAutoFit/>
          </a:bodyPr>
          <a:lstStyle/>
          <a:p>
            <a:pPr algn="l"/>
            <a:r>
              <a:rPr sz="1300" b="1">
                <a:solidFill>
                  <a:srgbClr val="0F172A"/>
                </a:solidFill>
                <a:latin typeface="Arial"/>
              </a:rPr>
              <a:t>Bước 2 — Lấy top-5 chunk</a:t>
            </a:r>
          </a:p>
        </p:txBody>
      </p:sp>
      <p:sp>
        <p:nvSpPr>
          <p:cNvPr id="15" name="TextBox 14"/>
          <p:cNvSpPr txBox="1"/>
          <p:nvPr/>
        </p:nvSpPr>
        <p:spPr>
          <a:xfrm>
            <a:off x="4590288" y="2048256"/>
            <a:ext cx="3108960" cy="384048"/>
          </a:xfrm>
          <a:prstGeom prst="rect">
            <a:avLst/>
          </a:prstGeom>
          <a:noFill/>
        </p:spPr>
        <p:txBody>
          <a:bodyPr wrap="square" anchor="ctr">
            <a:spAutoFit/>
          </a:bodyPr>
          <a:lstStyle/>
          <a:p>
            <a:pPr algn="l"/>
            <a:r>
              <a:rPr sz="2600" b="1">
                <a:solidFill>
                  <a:srgbClr val="0D9488"/>
                </a:solidFill>
                <a:latin typeface="Arial"/>
              </a:rPr>
              <a:t>Top 5</a:t>
            </a:r>
          </a:p>
        </p:txBody>
      </p:sp>
      <p:sp>
        <p:nvSpPr>
          <p:cNvPr id="16" name="TextBox 15"/>
          <p:cNvSpPr txBox="1"/>
          <p:nvPr/>
        </p:nvSpPr>
        <p:spPr>
          <a:xfrm>
            <a:off x="4590288" y="2478024"/>
            <a:ext cx="3108960" cy="265175"/>
          </a:xfrm>
          <a:prstGeom prst="rect">
            <a:avLst/>
          </a:prstGeom>
          <a:noFill/>
        </p:spPr>
        <p:txBody>
          <a:bodyPr wrap="square" anchor="t">
            <a:spAutoFit/>
          </a:bodyPr>
          <a:lstStyle/>
          <a:p>
            <a:pPr algn="l"/>
            <a:r>
              <a:rPr sz="1300" b="0">
                <a:solidFill>
                  <a:srgbClr val="475569"/>
                </a:solidFill>
                <a:latin typeface="Arial"/>
              </a:rPr>
              <a:t>Retriever chọn 5 đoạn có độ tương đồng cao nhất.</a:t>
            </a:r>
          </a:p>
        </p:txBody>
      </p:sp>
      <p:sp>
        <p:nvSpPr>
          <p:cNvPr id="17" name="Rounded Rectangle 16"/>
          <p:cNvSpPr/>
          <p:nvPr/>
        </p:nvSpPr>
        <p:spPr>
          <a:xfrm>
            <a:off x="8092440" y="1572768"/>
            <a:ext cx="342900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572768"/>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3608" y="1682495"/>
            <a:ext cx="3108960" cy="256032"/>
          </a:xfrm>
          <a:prstGeom prst="rect">
            <a:avLst/>
          </a:prstGeom>
          <a:noFill/>
        </p:spPr>
        <p:txBody>
          <a:bodyPr wrap="square" anchor="ctr">
            <a:spAutoFit/>
          </a:bodyPr>
          <a:lstStyle/>
          <a:p>
            <a:pPr algn="l"/>
            <a:r>
              <a:rPr sz="1300" b="1">
                <a:solidFill>
                  <a:srgbClr val="0F172A"/>
                </a:solidFill>
                <a:latin typeface="Arial"/>
              </a:rPr>
              <a:t>Bước 3 — Kiểm tra</a:t>
            </a:r>
          </a:p>
        </p:txBody>
      </p:sp>
      <p:sp>
        <p:nvSpPr>
          <p:cNvPr id="20" name="TextBox 19"/>
          <p:cNvSpPr txBox="1"/>
          <p:nvPr/>
        </p:nvSpPr>
        <p:spPr>
          <a:xfrm>
            <a:off x="8293608" y="2048256"/>
            <a:ext cx="3108960" cy="384048"/>
          </a:xfrm>
          <a:prstGeom prst="rect">
            <a:avLst/>
          </a:prstGeom>
          <a:noFill/>
        </p:spPr>
        <p:txBody>
          <a:bodyPr wrap="square" anchor="ctr">
            <a:spAutoFit/>
          </a:bodyPr>
          <a:lstStyle/>
          <a:p>
            <a:pPr algn="l"/>
            <a:r>
              <a:rPr sz="2600" b="1">
                <a:solidFill>
                  <a:srgbClr val="0D9488"/>
                </a:solidFill>
                <a:latin typeface="Arial"/>
              </a:rPr>
              <a:t>HIT</a:t>
            </a:r>
          </a:p>
        </p:txBody>
      </p:sp>
      <p:sp>
        <p:nvSpPr>
          <p:cNvPr id="21" name="TextBox 20"/>
          <p:cNvSpPr txBox="1"/>
          <p:nvPr/>
        </p:nvSpPr>
        <p:spPr>
          <a:xfrm>
            <a:off x="8293608" y="2478024"/>
            <a:ext cx="3108960" cy="265175"/>
          </a:xfrm>
          <a:prstGeom prst="rect">
            <a:avLst/>
          </a:prstGeom>
          <a:noFill/>
        </p:spPr>
        <p:txBody>
          <a:bodyPr wrap="square" anchor="t">
            <a:spAutoFit/>
          </a:bodyPr>
          <a:lstStyle/>
          <a:p>
            <a:pPr algn="l"/>
            <a:r>
              <a:rPr sz="1300" b="0">
                <a:solidFill>
                  <a:srgbClr val="475569"/>
                </a:solidFill>
                <a:latin typeface="Arial"/>
              </a:rPr>
              <a:t>Nếu một chunk đúng nguồn chứa đầy đủ câu bằng chứng → tính là tìm đúng.</a:t>
            </a:r>
          </a:p>
        </p:txBody>
      </p:sp>
      <p:sp>
        <p:nvSpPr>
          <p:cNvPr id="22" name="Rounded Rectangle 21"/>
          <p:cNvSpPr/>
          <p:nvPr/>
        </p:nvSpPr>
        <p:spPr>
          <a:xfrm>
            <a:off x="868680" y="3246120"/>
            <a:ext cx="3246120" cy="14630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 y="3246120"/>
            <a:ext cx="73152" cy="1463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9848" y="3355848"/>
            <a:ext cx="2926079" cy="256032"/>
          </a:xfrm>
          <a:prstGeom prst="rect">
            <a:avLst/>
          </a:prstGeom>
          <a:noFill/>
        </p:spPr>
        <p:txBody>
          <a:bodyPr wrap="square" anchor="ctr">
            <a:spAutoFit/>
          </a:bodyPr>
          <a:lstStyle/>
          <a:p>
            <a:pPr algn="l"/>
            <a:r>
              <a:rPr sz="1300" b="1">
                <a:solidFill>
                  <a:srgbClr val="0F172A"/>
                </a:solidFill>
                <a:latin typeface="Arial"/>
              </a:rPr>
              <a:t>Tỷ lệ tìm đúng (Recall@5)</a:t>
            </a:r>
          </a:p>
        </p:txBody>
      </p:sp>
      <p:sp>
        <p:nvSpPr>
          <p:cNvPr id="25" name="TextBox 24"/>
          <p:cNvSpPr txBox="1"/>
          <p:nvPr/>
        </p:nvSpPr>
        <p:spPr>
          <a:xfrm>
            <a:off x="1069848" y="3721608"/>
            <a:ext cx="2926079" cy="877823"/>
          </a:xfrm>
          <a:prstGeom prst="rect">
            <a:avLst/>
          </a:prstGeom>
          <a:noFill/>
        </p:spPr>
        <p:txBody>
          <a:bodyPr wrap="square" anchor="t">
            <a:spAutoFit/>
          </a:bodyPr>
          <a:lstStyle/>
          <a:p>
            <a:pPr algn="l"/>
            <a:r>
              <a:rPr sz="1300" b="0">
                <a:solidFill>
                  <a:srgbClr val="475569"/>
                </a:solidFill>
                <a:latin typeface="Arial"/>
              </a:rPr>
              <a:t>Trong 957 câu hỏi, có bao nhiêu câu tìm thấy bằng chứng trong 5 chunk đầu?</a:t>
            </a:r>
          </a:p>
        </p:txBody>
      </p:sp>
      <p:sp>
        <p:nvSpPr>
          <p:cNvPr id="26" name="Rounded Rectangle 25"/>
          <p:cNvSpPr/>
          <p:nvPr/>
        </p:nvSpPr>
        <p:spPr>
          <a:xfrm>
            <a:off x="4480560" y="3246120"/>
            <a:ext cx="3246120" cy="14630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480560" y="3246120"/>
            <a:ext cx="73152" cy="1463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81728" y="3355848"/>
            <a:ext cx="2926079" cy="256032"/>
          </a:xfrm>
          <a:prstGeom prst="rect">
            <a:avLst/>
          </a:prstGeom>
          <a:noFill/>
        </p:spPr>
        <p:txBody>
          <a:bodyPr wrap="square" anchor="ctr">
            <a:spAutoFit/>
          </a:bodyPr>
          <a:lstStyle/>
          <a:p>
            <a:pPr algn="l"/>
            <a:r>
              <a:rPr sz="1300" b="1">
                <a:solidFill>
                  <a:srgbClr val="0F172A"/>
                </a:solidFill>
                <a:latin typeface="Arial"/>
              </a:rPr>
              <a:t>Vị trí của bằng chứng</a:t>
            </a:r>
          </a:p>
        </p:txBody>
      </p:sp>
      <p:sp>
        <p:nvSpPr>
          <p:cNvPr id="29" name="TextBox 28"/>
          <p:cNvSpPr txBox="1"/>
          <p:nvPr/>
        </p:nvSpPr>
        <p:spPr>
          <a:xfrm>
            <a:off x="4681728" y="3721608"/>
            <a:ext cx="2926079" cy="877823"/>
          </a:xfrm>
          <a:prstGeom prst="rect">
            <a:avLst/>
          </a:prstGeom>
          <a:noFill/>
        </p:spPr>
        <p:txBody>
          <a:bodyPr wrap="square" anchor="t">
            <a:spAutoFit/>
          </a:bodyPr>
          <a:lstStyle/>
          <a:p>
            <a:pPr algn="l"/>
            <a:r>
              <a:rPr sz="1300" b="0">
                <a:solidFill>
                  <a:srgbClr val="475569"/>
                </a:solidFill>
                <a:latin typeface="Arial"/>
              </a:rPr>
              <a:t>Bằng chứng xuất hiện càng sớm trong danh sách thì càng tốt. Báo cáo dùng MRR để ghi nhận điều này.</a:t>
            </a:r>
          </a:p>
        </p:txBody>
      </p:sp>
      <p:sp>
        <p:nvSpPr>
          <p:cNvPr id="30" name="Rounded Rectangle 29"/>
          <p:cNvSpPr/>
          <p:nvPr/>
        </p:nvSpPr>
        <p:spPr>
          <a:xfrm>
            <a:off x="8092440" y="3246120"/>
            <a:ext cx="3246120" cy="14630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92440" y="3246120"/>
            <a:ext cx="73152" cy="1463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93608" y="3355848"/>
            <a:ext cx="2926079" cy="256032"/>
          </a:xfrm>
          <a:prstGeom prst="rect">
            <a:avLst/>
          </a:prstGeom>
          <a:noFill/>
        </p:spPr>
        <p:txBody>
          <a:bodyPr wrap="square" anchor="ctr">
            <a:spAutoFit/>
          </a:bodyPr>
          <a:lstStyle/>
          <a:p>
            <a:pPr algn="l"/>
            <a:r>
              <a:rPr sz="1300" b="1">
                <a:solidFill>
                  <a:srgbClr val="0F172A"/>
                </a:solidFill>
                <a:latin typeface="Arial"/>
              </a:rPr>
              <a:t>Lượng văn bản lấy ra</a:t>
            </a:r>
          </a:p>
        </p:txBody>
      </p:sp>
      <p:sp>
        <p:nvSpPr>
          <p:cNvPr id="33" name="TextBox 32"/>
          <p:cNvSpPr txBox="1"/>
          <p:nvPr/>
        </p:nvSpPr>
        <p:spPr>
          <a:xfrm>
            <a:off x="8293608" y="3721608"/>
            <a:ext cx="2926079" cy="877823"/>
          </a:xfrm>
          <a:prstGeom prst="rect">
            <a:avLst/>
          </a:prstGeom>
          <a:noFill/>
        </p:spPr>
        <p:txBody>
          <a:bodyPr wrap="square" anchor="t">
            <a:spAutoFit/>
          </a:bodyPr>
          <a:lstStyle/>
          <a:p>
            <a:pPr algn="l"/>
            <a:r>
              <a:rPr sz="1300" b="0">
                <a:solidFill>
                  <a:srgbClr val="475569"/>
                </a:solidFill>
                <a:latin typeface="Arial"/>
              </a:rPr>
              <a:t>Hai phương pháp có thể cùng lấy 5 chunk nhưng kích thước chunk khác nhau, nên phải xem thêm lượng context.</a:t>
            </a:r>
          </a:p>
        </p:txBody>
      </p:sp>
      <p:sp>
        <p:nvSpPr>
          <p:cNvPr id="34" name="TextBox 33"/>
          <p:cNvSpPr txBox="1"/>
          <p:nvPr/>
        </p:nvSpPr>
        <p:spPr>
          <a:xfrm>
            <a:off x="914400" y="5257800"/>
            <a:ext cx="10332720" cy="594360"/>
          </a:xfrm>
          <a:prstGeom prst="rect">
            <a:avLst/>
          </a:prstGeom>
          <a:noFill/>
        </p:spPr>
        <p:txBody>
          <a:bodyPr wrap="square" anchor="ctr">
            <a:spAutoFit/>
          </a:bodyPr>
          <a:lstStyle/>
          <a:p>
            <a:pPr algn="ctr"/>
            <a:r>
              <a:rPr sz="1300" b="0">
                <a:solidFill>
                  <a:srgbClr val="475569"/>
                </a:solidFill>
                <a:latin typeface="Arial"/>
              </a:rPr>
              <a:t>Vì vậy, số liệu chính trên slide sẽ ưu tiên “tìm được bằng chứng hay không” và lượng văn bản phải truy xuất — thay vì dùng quá nhiều chỉ số kỹ thuật cùng lúc.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320040"/>
            <a:ext cx="10972800" cy="438912"/>
          </a:xfrm>
          <a:prstGeom prst="rect">
            <a:avLst/>
          </a:prstGeom>
          <a:noFill/>
          <a:ln/>
        </p:spPr>
        <p:txBody>
          <a:bodyPr wrap="square" lIns="0" tIns="0" rIns="0" bIns="0" rtlCol="0" anchor="ctr"/>
          <a:lstStyle/>
          <a:p>
            <a:r>
              <a:rPr sz="2800" b="1" dirty="0"/>
              <a:t>5. </a:t>
            </a:r>
            <a:r>
              <a:rPr sz="2800" b="1" dirty="0" err="1"/>
              <a:t>Kết</a:t>
            </a:r>
            <a:r>
              <a:rPr sz="2800" b="1" dirty="0"/>
              <a:t> </a:t>
            </a:r>
            <a:r>
              <a:rPr sz="2800" b="1" dirty="0" err="1"/>
              <a:t>quả</a:t>
            </a:r>
            <a:r>
              <a:rPr sz="2800" b="1" dirty="0"/>
              <a:t> </a:t>
            </a:r>
            <a:r>
              <a:rPr sz="2800" b="1" dirty="0" err="1"/>
              <a:t>chính</a:t>
            </a:r>
            <a:r>
              <a:rPr sz="2800" b="1" dirty="0"/>
              <a:t> — </a:t>
            </a:r>
            <a:r>
              <a:rPr sz="2800" b="1" dirty="0" err="1"/>
              <a:t>Tỷ</a:t>
            </a:r>
            <a:r>
              <a:rPr sz="2800" b="1" dirty="0"/>
              <a:t> </a:t>
            </a:r>
            <a:r>
              <a:rPr sz="2800" b="1" dirty="0" err="1"/>
              <a:t>lệ</a:t>
            </a:r>
            <a:r>
              <a:rPr sz="2800" b="1" dirty="0"/>
              <a:t> </a:t>
            </a:r>
            <a:r>
              <a:rPr sz="2800" b="1" dirty="0" err="1"/>
              <a:t>tìm</a:t>
            </a:r>
            <a:r>
              <a:rPr sz="2800" b="1" dirty="0"/>
              <a:t> </a:t>
            </a:r>
            <a:r>
              <a:rPr sz="2800" b="1" dirty="0" err="1"/>
              <a:t>được</a:t>
            </a:r>
            <a:r>
              <a:rPr sz="2800" b="1" dirty="0"/>
              <a:t> </a:t>
            </a:r>
            <a:r>
              <a:rPr sz="2800" b="1" dirty="0" err="1"/>
              <a:t>bằng</a:t>
            </a:r>
            <a:r>
              <a:rPr sz="2800" b="1" dirty="0"/>
              <a:t> </a:t>
            </a:r>
            <a:r>
              <a:rPr sz="2800" b="1" dirty="0" err="1"/>
              <a:t>chứng</a:t>
            </a:r>
            <a:r>
              <a:rPr sz="2800" b="1" dirty="0"/>
              <a:t> </a:t>
            </a:r>
            <a:r>
              <a:rPr sz="2800" b="1" dirty="0" err="1"/>
              <a:t>trong</a:t>
            </a:r>
            <a:r>
              <a:rPr sz="2800" b="1" dirty="0"/>
              <a:t> top-5</a:t>
            </a:r>
          </a:p>
        </p:txBody>
      </p:sp>
      <p:sp>
        <p:nvSpPr>
          <p:cNvPr id="3" name="Text 1"/>
          <p:cNvSpPr/>
          <p:nvPr/>
        </p:nvSpPr>
        <p:spPr>
          <a:xfrm>
            <a:off x="548640" y="804672"/>
            <a:ext cx="10972800" cy="256032"/>
          </a:xfrm>
          <a:prstGeom prst="rect">
            <a:avLst/>
          </a:prstGeom>
          <a:noFill/>
          <a:ln/>
        </p:spPr>
        <p:txBody>
          <a:bodyPr wrap="square" lIns="0" tIns="0" rIns="0" bIns="0" rtlCol="0" anchor="ctr"/>
          <a:lstStyle/>
          <a:p>
            <a:r>
              <a:t>Ours tốt hơn khi context ngắn, nhưng kém hơn khi ghép thành văn bản dài</a:t>
            </a:r>
          </a:p>
        </p:txBody>
      </p:sp>
      <p:sp>
        <p:nvSpPr>
          <p:cNvPr id="4" name="Shape 2"/>
          <p:cNvSpPr/>
          <p:nvPr/>
        </p:nvSpPr>
        <p:spPr>
          <a:xfrm>
            <a:off x="530352" y="1078992"/>
            <a:ext cx="1417320" cy="310896"/>
          </a:xfrm>
          <a:prstGeom prst="roundRect">
            <a:avLst>
              <a:gd name="adj" fmla="val 14706"/>
            </a:avLst>
          </a:prstGeom>
          <a:solidFill>
            <a:srgbClr val="E6FFFB"/>
          </a:solidFill>
          <a:ln w="12700">
            <a:solidFill>
              <a:srgbClr val="99F6E4"/>
            </a:solidFill>
            <a:prstDash val="solid"/>
          </a:ln>
        </p:spPr>
        <p:txBody>
          <a:bodyPr/>
          <a:lstStyle/>
          <a:p>
            <a:endParaRPr/>
          </a:p>
        </p:txBody>
      </p:sp>
      <p:sp>
        <p:nvSpPr>
          <p:cNvPr id="5" name="Text 3"/>
          <p:cNvSpPr/>
          <p:nvPr/>
        </p:nvSpPr>
        <p:spPr>
          <a:xfrm>
            <a:off x="603504" y="1124712"/>
            <a:ext cx="1271016" cy="182880"/>
          </a:xfrm>
          <a:prstGeom prst="rect">
            <a:avLst/>
          </a:prstGeom>
          <a:noFill/>
          <a:ln/>
        </p:spPr>
        <p:txBody>
          <a:bodyPr wrap="square" lIns="0" tIns="0" rIns="0" bIns="0" rtlCol="0" anchor="ctr"/>
          <a:lstStyle/>
          <a:p>
            <a:pPr marL="0" indent="0" algn="ctr">
              <a:buNone/>
            </a:pPr>
            <a:r>
              <a:rPr lang="en-US" sz="1100" b="1" dirty="0">
                <a:solidFill>
                  <a:srgbClr val="0F766E"/>
                </a:solidFill>
              </a:rPr>
              <a:t>MAIN RESULT</a:t>
            </a:r>
            <a:endParaRPr lang="en-US" sz="1100" dirty="0"/>
          </a:p>
        </p:txBody>
      </p:sp>
      <p:sp>
        <p:nvSpPr>
          <p:cNvPr id="6" name="Text 4"/>
          <p:cNvSpPr/>
          <p:nvPr/>
        </p:nvSpPr>
        <p:spPr>
          <a:xfrm>
            <a:off x="777240" y="1764792"/>
            <a:ext cx="1828800" cy="219456"/>
          </a:xfrm>
          <a:prstGeom prst="rect">
            <a:avLst/>
          </a:prstGeom>
          <a:noFill/>
          <a:ln/>
        </p:spPr>
        <p:txBody>
          <a:bodyPr wrap="square" lIns="0" tIns="0" rIns="0" bIns="0" rtlCol="0" anchor="ctr"/>
          <a:lstStyle/>
          <a:p>
            <a:pPr marL="0" indent="0">
              <a:buNone/>
            </a:pPr>
            <a:r>
              <a:rPr lang="en-US" sz="1300" b="1" dirty="0">
                <a:solidFill>
                  <a:srgbClr val="1F2937"/>
                </a:solidFill>
              </a:rPr>
              <a:t>Context gốc</a:t>
            </a:r>
            <a:endParaRPr lang="en-US" sz="1300" dirty="0"/>
          </a:p>
        </p:txBody>
      </p:sp>
      <p:sp>
        <p:nvSpPr>
          <p:cNvPr id="7" name="Text 5"/>
          <p:cNvSpPr/>
          <p:nvPr/>
        </p:nvSpPr>
        <p:spPr>
          <a:xfrm>
            <a:off x="2697480" y="1764792"/>
            <a:ext cx="731520" cy="164592"/>
          </a:xfrm>
          <a:prstGeom prst="rect">
            <a:avLst/>
          </a:prstGeom>
          <a:noFill/>
          <a:ln/>
        </p:spPr>
        <p:txBody>
          <a:bodyPr wrap="square" lIns="0" tIns="0" rIns="0" bIns="0" rtlCol="0" anchor="ctr"/>
          <a:lstStyle/>
          <a:p>
            <a:pPr marL="0" indent="0">
              <a:buNone/>
            </a:pPr>
            <a:r>
              <a:rPr lang="en-US" sz="1000" dirty="0">
                <a:solidFill>
                  <a:srgbClr val="6B7280"/>
                </a:solidFill>
              </a:rPr>
              <a:t>Max–Min</a:t>
            </a:r>
            <a:endParaRPr lang="en-US" sz="1000" dirty="0"/>
          </a:p>
        </p:txBody>
      </p:sp>
      <p:sp>
        <p:nvSpPr>
          <p:cNvPr id="8" name="Shape 6"/>
          <p:cNvSpPr/>
          <p:nvPr/>
        </p:nvSpPr>
        <p:spPr>
          <a:xfrm>
            <a:off x="3474720" y="1783080"/>
            <a:ext cx="7472806" cy="201168"/>
          </a:xfrm>
          <a:prstGeom prst="rect">
            <a:avLst/>
          </a:prstGeom>
          <a:solidFill>
            <a:srgbClr val="94A3B8"/>
          </a:solidFill>
          <a:ln w="12700">
            <a:solidFill>
              <a:srgbClr val="94A3B8"/>
            </a:solidFill>
            <a:prstDash val="solid"/>
          </a:ln>
        </p:spPr>
        <p:txBody>
          <a:bodyPr/>
          <a:lstStyle/>
          <a:p>
            <a:endParaRPr/>
          </a:p>
        </p:txBody>
      </p:sp>
      <p:sp>
        <p:nvSpPr>
          <p:cNvPr id="9" name="Text 7"/>
          <p:cNvSpPr/>
          <p:nvPr/>
        </p:nvSpPr>
        <p:spPr>
          <a:xfrm>
            <a:off x="11002390" y="1764792"/>
            <a:ext cx="685800" cy="164592"/>
          </a:xfrm>
          <a:prstGeom prst="rect">
            <a:avLst/>
          </a:prstGeom>
          <a:noFill/>
          <a:ln/>
        </p:spPr>
        <p:txBody>
          <a:bodyPr wrap="square" lIns="0" tIns="0" rIns="0" bIns="0" rtlCol="0" anchor="ctr"/>
          <a:lstStyle/>
          <a:p>
            <a:pPr marL="0" indent="0">
              <a:buNone/>
            </a:pPr>
            <a:r>
              <a:rPr lang="en-US" sz="1050" dirty="0">
                <a:solidFill>
                  <a:srgbClr val="1F2937"/>
                </a:solidFill>
              </a:rPr>
              <a:t>86.94%</a:t>
            </a:r>
            <a:endParaRPr lang="en-US" sz="1050" dirty="0"/>
          </a:p>
        </p:txBody>
      </p:sp>
      <p:sp>
        <p:nvSpPr>
          <p:cNvPr id="10" name="Text 8"/>
          <p:cNvSpPr/>
          <p:nvPr/>
        </p:nvSpPr>
        <p:spPr>
          <a:xfrm>
            <a:off x="2697480" y="2103120"/>
            <a:ext cx="731520" cy="164592"/>
          </a:xfrm>
          <a:prstGeom prst="rect">
            <a:avLst/>
          </a:prstGeom>
          <a:noFill/>
          <a:ln/>
        </p:spPr>
        <p:txBody>
          <a:bodyPr wrap="square" lIns="0" tIns="0" rIns="0" bIns="0" rtlCol="0" anchor="ctr"/>
          <a:lstStyle/>
          <a:p>
            <a:pPr marL="0" indent="0">
              <a:buNone/>
            </a:pPr>
            <a:r>
              <a:rPr lang="en-US" sz="1000" dirty="0">
                <a:solidFill>
                  <a:srgbClr val="6B7280"/>
                </a:solidFill>
              </a:rPr>
              <a:t>Ours</a:t>
            </a:r>
            <a:endParaRPr lang="en-US" sz="1000" dirty="0"/>
          </a:p>
        </p:txBody>
      </p:sp>
      <p:sp>
        <p:nvSpPr>
          <p:cNvPr id="11" name="Shape 9"/>
          <p:cNvSpPr/>
          <p:nvPr/>
        </p:nvSpPr>
        <p:spPr>
          <a:xfrm>
            <a:off x="3474720" y="2121408"/>
            <a:ext cx="7894838" cy="201168"/>
          </a:xfrm>
          <a:prstGeom prst="rect">
            <a:avLst/>
          </a:prstGeom>
          <a:solidFill>
            <a:srgbClr val="14B8A6"/>
          </a:solidFill>
          <a:ln w="12700">
            <a:solidFill>
              <a:srgbClr val="14B8A6"/>
            </a:solidFill>
            <a:prstDash val="solid"/>
          </a:ln>
        </p:spPr>
        <p:txBody>
          <a:bodyPr/>
          <a:lstStyle/>
          <a:p>
            <a:endParaRPr/>
          </a:p>
        </p:txBody>
      </p:sp>
      <p:sp>
        <p:nvSpPr>
          <p:cNvPr id="12" name="Text 10"/>
          <p:cNvSpPr/>
          <p:nvPr/>
        </p:nvSpPr>
        <p:spPr>
          <a:xfrm>
            <a:off x="11424422" y="2103120"/>
            <a:ext cx="685800" cy="164592"/>
          </a:xfrm>
          <a:prstGeom prst="rect">
            <a:avLst/>
          </a:prstGeom>
          <a:noFill/>
          <a:ln/>
        </p:spPr>
        <p:txBody>
          <a:bodyPr wrap="square" lIns="0" tIns="0" rIns="0" bIns="0" rtlCol="0" anchor="ctr"/>
          <a:lstStyle/>
          <a:p>
            <a:pPr marL="0" indent="0">
              <a:buNone/>
            </a:pPr>
            <a:r>
              <a:rPr lang="en-US" sz="1050" dirty="0">
                <a:solidFill>
                  <a:srgbClr val="1F2937"/>
                </a:solidFill>
              </a:rPr>
              <a:t>91.85%</a:t>
            </a:r>
            <a:endParaRPr lang="en-US" sz="1050" dirty="0"/>
          </a:p>
        </p:txBody>
      </p:sp>
      <p:sp>
        <p:nvSpPr>
          <p:cNvPr id="13" name="Text 11"/>
          <p:cNvSpPr/>
          <p:nvPr/>
        </p:nvSpPr>
        <p:spPr>
          <a:xfrm>
            <a:off x="777240" y="2770632"/>
            <a:ext cx="1828800" cy="219456"/>
          </a:xfrm>
          <a:prstGeom prst="rect">
            <a:avLst/>
          </a:prstGeom>
          <a:noFill/>
          <a:ln/>
        </p:spPr>
        <p:txBody>
          <a:bodyPr wrap="square" lIns="0" tIns="0" rIns="0" bIns="0" rtlCol="0" anchor="ctr"/>
          <a:lstStyle/>
          <a:p>
            <a:pPr marL="0" indent="0">
              <a:buNone/>
            </a:pPr>
            <a:r>
              <a:rPr lang="en-US" sz="1300" b="1" dirty="0">
                <a:solidFill>
                  <a:srgbClr val="1F2937"/>
                </a:solidFill>
              </a:rPr>
              <a:t>Văn bản ghép dài</a:t>
            </a:r>
            <a:endParaRPr lang="en-US" sz="1300" dirty="0"/>
          </a:p>
        </p:txBody>
      </p:sp>
      <p:sp>
        <p:nvSpPr>
          <p:cNvPr id="14" name="Text 12"/>
          <p:cNvSpPr/>
          <p:nvPr/>
        </p:nvSpPr>
        <p:spPr>
          <a:xfrm>
            <a:off x="2697480" y="2770632"/>
            <a:ext cx="731520" cy="164592"/>
          </a:xfrm>
          <a:prstGeom prst="rect">
            <a:avLst/>
          </a:prstGeom>
          <a:noFill/>
          <a:ln/>
        </p:spPr>
        <p:txBody>
          <a:bodyPr wrap="square" lIns="0" tIns="0" rIns="0" bIns="0" rtlCol="0" anchor="ctr"/>
          <a:lstStyle/>
          <a:p>
            <a:pPr marL="0" indent="0">
              <a:buNone/>
            </a:pPr>
            <a:r>
              <a:rPr lang="en-US" sz="1000" dirty="0">
                <a:solidFill>
                  <a:srgbClr val="6B7280"/>
                </a:solidFill>
              </a:rPr>
              <a:t>Max–Min</a:t>
            </a:r>
            <a:endParaRPr lang="en-US" sz="1000" dirty="0"/>
          </a:p>
        </p:txBody>
      </p:sp>
      <p:sp>
        <p:nvSpPr>
          <p:cNvPr id="15" name="Shape 13"/>
          <p:cNvSpPr/>
          <p:nvPr/>
        </p:nvSpPr>
        <p:spPr>
          <a:xfrm>
            <a:off x="3474720" y="2788920"/>
            <a:ext cx="7329263" cy="201168"/>
          </a:xfrm>
          <a:prstGeom prst="rect">
            <a:avLst/>
          </a:prstGeom>
          <a:solidFill>
            <a:srgbClr val="94A3B8"/>
          </a:solidFill>
          <a:ln w="12700">
            <a:solidFill>
              <a:srgbClr val="94A3B8"/>
            </a:solidFill>
            <a:prstDash val="solid"/>
          </a:ln>
        </p:spPr>
        <p:txBody>
          <a:bodyPr/>
          <a:lstStyle/>
          <a:p>
            <a:endParaRPr/>
          </a:p>
        </p:txBody>
      </p:sp>
      <p:sp>
        <p:nvSpPr>
          <p:cNvPr id="16" name="Text 14"/>
          <p:cNvSpPr/>
          <p:nvPr/>
        </p:nvSpPr>
        <p:spPr>
          <a:xfrm>
            <a:off x="10858847" y="2770632"/>
            <a:ext cx="685800" cy="164592"/>
          </a:xfrm>
          <a:prstGeom prst="rect">
            <a:avLst/>
          </a:prstGeom>
          <a:noFill/>
          <a:ln/>
        </p:spPr>
        <p:txBody>
          <a:bodyPr wrap="square" lIns="0" tIns="0" rIns="0" bIns="0" rtlCol="0" anchor="ctr"/>
          <a:lstStyle/>
          <a:p>
            <a:pPr marL="0" indent="0">
              <a:buNone/>
            </a:pPr>
            <a:r>
              <a:rPr lang="en-US" sz="1050" dirty="0">
                <a:solidFill>
                  <a:srgbClr val="1F2937"/>
                </a:solidFill>
              </a:rPr>
              <a:t>85.27%</a:t>
            </a:r>
            <a:endParaRPr lang="en-US" sz="1050" dirty="0"/>
          </a:p>
        </p:txBody>
      </p:sp>
      <p:sp>
        <p:nvSpPr>
          <p:cNvPr id="17" name="Text 15"/>
          <p:cNvSpPr/>
          <p:nvPr/>
        </p:nvSpPr>
        <p:spPr>
          <a:xfrm>
            <a:off x="2697480" y="3108960"/>
            <a:ext cx="731520" cy="164592"/>
          </a:xfrm>
          <a:prstGeom prst="rect">
            <a:avLst/>
          </a:prstGeom>
          <a:noFill/>
          <a:ln/>
        </p:spPr>
        <p:txBody>
          <a:bodyPr wrap="square" lIns="0" tIns="0" rIns="0" bIns="0" rtlCol="0" anchor="ctr"/>
          <a:lstStyle/>
          <a:p>
            <a:pPr marL="0" indent="0">
              <a:buNone/>
            </a:pPr>
            <a:r>
              <a:rPr lang="en-US" sz="1000" dirty="0">
                <a:solidFill>
                  <a:srgbClr val="6B7280"/>
                </a:solidFill>
              </a:rPr>
              <a:t>Ours</a:t>
            </a:r>
            <a:endParaRPr lang="en-US" sz="1000" dirty="0"/>
          </a:p>
        </p:txBody>
      </p:sp>
      <p:sp>
        <p:nvSpPr>
          <p:cNvPr id="18" name="Shape 16"/>
          <p:cNvSpPr/>
          <p:nvPr/>
        </p:nvSpPr>
        <p:spPr>
          <a:xfrm>
            <a:off x="3474720" y="3127248"/>
            <a:ext cx="6924422" cy="201168"/>
          </a:xfrm>
          <a:prstGeom prst="rect">
            <a:avLst/>
          </a:prstGeom>
          <a:solidFill>
            <a:srgbClr val="14B8A6"/>
          </a:solidFill>
          <a:ln w="12700">
            <a:solidFill>
              <a:srgbClr val="14B8A6"/>
            </a:solidFill>
            <a:prstDash val="solid"/>
          </a:ln>
        </p:spPr>
        <p:txBody>
          <a:bodyPr/>
          <a:lstStyle/>
          <a:p>
            <a:endParaRPr/>
          </a:p>
        </p:txBody>
      </p:sp>
      <p:sp>
        <p:nvSpPr>
          <p:cNvPr id="19" name="Text 17"/>
          <p:cNvSpPr/>
          <p:nvPr/>
        </p:nvSpPr>
        <p:spPr>
          <a:xfrm>
            <a:off x="10454006" y="3108960"/>
            <a:ext cx="685800" cy="164592"/>
          </a:xfrm>
          <a:prstGeom prst="rect">
            <a:avLst/>
          </a:prstGeom>
          <a:noFill/>
          <a:ln/>
        </p:spPr>
        <p:txBody>
          <a:bodyPr wrap="square" lIns="0" tIns="0" rIns="0" bIns="0" rtlCol="0" anchor="ctr"/>
          <a:lstStyle/>
          <a:p>
            <a:pPr marL="0" indent="0">
              <a:buNone/>
            </a:pPr>
            <a:r>
              <a:rPr lang="en-US" sz="1050" dirty="0">
                <a:solidFill>
                  <a:srgbClr val="1F2937"/>
                </a:solidFill>
              </a:rPr>
              <a:t>80.56%</a:t>
            </a:r>
            <a:endParaRPr lang="en-US" sz="1050" dirty="0"/>
          </a:p>
        </p:txBody>
      </p:sp>
      <p:sp>
        <p:nvSpPr>
          <p:cNvPr id="20" name="Shape 18"/>
          <p:cNvSpPr/>
          <p:nvPr/>
        </p:nvSpPr>
        <p:spPr>
          <a:xfrm>
            <a:off x="960120" y="4160520"/>
            <a:ext cx="3063240" cy="1325880"/>
          </a:xfrm>
          <a:prstGeom prst="roundRect">
            <a:avLst>
              <a:gd name="adj" fmla="val 3448"/>
            </a:avLst>
          </a:prstGeom>
          <a:solidFill>
            <a:srgbClr val="ECFDF5"/>
          </a:solidFill>
          <a:ln w="12700">
            <a:solidFill>
              <a:srgbClr val="E5E7EB"/>
            </a:solidFill>
            <a:prstDash val="solid"/>
          </a:ln>
        </p:spPr>
        <p:txBody>
          <a:bodyPr/>
          <a:lstStyle/>
          <a:p>
            <a:endParaRPr/>
          </a:p>
        </p:txBody>
      </p:sp>
      <p:sp>
        <p:nvSpPr>
          <p:cNvPr id="21" name="Text 19"/>
          <p:cNvSpPr/>
          <p:nvPr/>
        </p:nvSpPr>
        <p:spPr>
          <a:xfrm>
            <a:off x="1106424" y="4270248"/>
            <a:ext cx="2770632" cy="201168"/>
          </a:xfrm>
          <a:prstGeom prst="rect">
            <a:avLst/>
          </a:prstGeom>
          <a:noFill/>
          <a:ln/>
        </p:spPr>
        <p:txBody>
          <a:bodyPr wrap="square" lIns="0" tIns="0" rIns="0" bIns="0" rtlCol="0" anchor="ctr"/>
          <a:lstStyle/>
          <a:p>
            <a:pPr marL="0" indent="0" algn="ctr">
              <a:buNone/>
            </a:pPr>
            <a:r>
              <a:rPr lang="en-US" sz="1200" b="1" dirty="0">
                <a:solidFill>
                  <a:srgbClr val="6B7280"/>
                </a:solidFill>
              </a:rPr>
              <a:t>Context gốc</a:t>
            </a:r>
            <a:endParaRPr lang="en-US" sz="1200" dirty="0"/>
          </a:p>
        </p:txBody>
      </p:sp>
      <p:sp>
        <p:nvSpPr>
          <p:cNvPr id="22" name="Text 20"/>
          <p:cNvSpPr/>
          <p:nvPr/>
        </p:nvSpPr>
        <p:spPr>
          <a:xfrm>
            <a:off x="1069848" y="4544568"/>
            <a:ext cx="2843784" cy="475488"/>
          </a:xfrm>
          <a:prstGeom prst="rect">
            <a:avLst/>
          </a:prstGeom>
          <a:noFill/>
          <a:ln/>
        </p:spPr>
        <p:txBody>
          <a:bodyPr wrap="square" lIns="0" tIns="0" rIns="0" bIns="0" rtlCol="0" anchor="ctr"/>
          <a:lstStyle/>
          <a:p>
            <a:pPr marL="0" indent="0" algn="ctr">
              <a:buNone/>
            </a:pPr>
            <a:r>
              <a:rPr lang="en-US" sz="2600" b="1" dirty="0">
                <a:solidFill>
                  <a:srgbClr val="166534"/>
                </a:solidFill>
              </a:rPr>
              <a:t>+4.91 điểm %</a:t>
            </a:r>
            <a:endParaRPr lang="en-US" sz="2600" dirty="0"/>
          </a:p>
        </p:txBody>
      </p:sp>
      <p:sp>
        <p:nvSpPr>
          <p:cNvPr id="23" name="Text 21"/>
          <p:cNvSpPr/>
          <p:nvPr/>
        </p:nvSpPr>
        <p:spPr>
          <a:xfrm>
            <a:off x="1069848" y="5074920"/>
            <a:ext cx="2843784" cy="256032"/>
          </a:xfrm>
          <a:prstGeom prst="rect">
            <a:avLst/>
          </a:prstGeom>
          <a:noFill/>
          <a:ln/>
        </p:spPr>
        <p:txBody>
          <a:bodyPr wrap="square" lIns="0" tIns="0" rIns="0" bIns="0" rtlCol="0" anchor="ctr"/>
          <a:lstStyle/>
          <a:p>
            <a:r>
              <a:rPr sz="1600" dirty="0"/>
              <a:t>Ours </a:t>
            </a:r>
            <a:r>
              <a:rPr sz="1600" dirty="0" err="1"/>
              <a:t>tìm</a:t>
            </a:r>
            <a:r>
              <a:rPr sz="1600" dirty="0"/>
              <a:t> </a:t>
            </a:r>
            <a:r>
              <a:rPr sz="1600" dirty="0" err="1"/>
              <a:t>đúng</a:t>
            </a:r>
            <a:r>
              <a:rPr sz="1600" dirty="0"/>
              <a:t> </a:t>
            </a:r>
            <a:r>
              <a:rPr sz="1600" dirty="0" err="1"/>
              <a:t>thêm</a:t>
            </a:r>
            <a:r>
              <a:rPr sz="1600" dirty="0"/>
              <a:t> 47/957 </a:t>
            </a:r>
            <a:r>
              <a:rPr sz="1600" dirty="0" err="1"/>
              <a:t>câu</a:t>
            </a:r>
            <a:r>
              <a:rPr sz="1600" dirty="0"/>
              <a:t> </a:t>
            </a:r>
            <a:r>
              <a:rPr sz="1600" dirty="0" err="1"/>
              <a:t>hỏi</a:t>
            </a:r>
            <a:endParaRPr sz="1600" dirty="0"/>
          </a:p>
        </p:txBody>
      </p:sp>
      <p:sp>
        <p:nvSpPr>
          <p:cNvPr id="24" name="Shape 22"/>
          <p:cNvSpPr/>
          <p:nvPr/>
        </p:nvSpPr>
        <p:spPr>
          <a:xfrm>
            <a:off x="4553712" y="4160520"/>
            <a:ext cx="3063240" cy="1325880"/>
          </a:xfrm>
          <a:prstGeom prst="roundRect">
            <a:avLst>
              <a:gd name="adj" fmla="val 3448"/>
            </a:avLst>
          </a:prstGeom>
          <a:solidFill>
            <a:srgbClr val="FEF2F2"/>
          </a:solidFill>
          <a:ln w="12700">
            <a:solidFill>
              <a:srgbClr val="E5E7EB"/>
            </a:solidFill>
            <a:prstDash val="solid"/>
          </a:ln>
        </p:spPr>
        <p:txBody>
          <a:bodyPr/>
          <a:lstStyle/>
          <a:p>
            <a:endParaRPr/>
          </a:p>
        </p:txBody>
      </p:sp>
      <p:sp>
        <p:nvSpPr>
          <p:cNvPr id="25" name="Text 23"/>
          <p:cNvSpPr/>
          <p:nvPr/>
        </p:nvSpPr>
        <p:spPr>
          <a:xfrm>
            <a:off x="4700016" y="4270248"/>
            <a:ext cx="2770632" cy="201168"/>
          </a:xfrm>
          <a:prstGeom prst="rect">
            <a:avLst/>
          </a:prstGeom>
          <a:noFill/>
          <a:ln/>
        </p:spPr>
        <p:txBody>
          <a:bodyPr wrap="square" lIns="0" tIns="0" rIns="0" bIns="0" rtlCol="0" anchor="ctr"/>
          <a:lstStyle/>
          <a:p>
            <a:pPr marL="0" indent="0" algn="ctr">
              <a:buNone/>
            </a:pPr>
            <a:r>
              <a:rPr lang="en-US" sz="1200" b="1" dirty="0">
                <a:solidFill>
                  <a:srgbClr val="6B7280"/>
                </a:solidFill>
              </a:rPr>
              <a:t>Ghép dài</a:t>
            </a:r>
            <a:endParaRPr lang="en-US" sz="1200" dirty="0"/>
          </a:p>
        </p:txBody>
      </p:sp>
      <p:sp>
        <p:nvSpPr>
          <p:cNvPr id="26" name="Text 24"/>
          <p:cNvSpPr/>
          <p:nvPr/>
        </p:nvSpPr>
        <p:spPr>
          <a:xfrm>
            <a:off x="4663440" y="4544568"/>
            <a:ext cx="2843784" cy="475488"/>
          </a:xfrm>
          <a:prstGeom prst="rect">
            <a:avLst/>
          </a:prstGeom>
          <a:noFill/>
          <a:ln/>
        </p:spPr>
        <p:txBody>
          <a:bodyPr wrap="square" lIns="0" tIns="0" rIns="0" bIns="0" rtlCol="0" anchor="ctr"/>
          <a:lstStyle/>
          <a:p>
            <a:pPr marL="0" indent="0" algn="ctr">
              <a:buNone/>
            </a:pPr>
            <a:r>
              <a:rPr lang="en-US" sz="2600" b="1" dirty="0">
                <a:solidFill>
                  <a:srgbClr val="B91C1C"/>
                </a:solidFill>
              </a:rPr>
              <a:t>−4.70 điểm %</a:t>
            </a:r>
            <a:endParaRPr lang="en-US" sz="2600" dirty="0"/>
          </a:p>
        </p:txBody>
      </p:sp>
      <p:sp>
        <p:nvSpPr>
          <p:cNvPr id="27" name="Text 25"/>
          <p:cNvSpPr/>
          <p:nvPr/>
        </p:nvSpPr>
        <p:spPr>
          <a:xfrm>
            <a:off x="4663440" y="5074920"/>
            <a:ext cx="2843784" cy="256032"/>
          </a:xfrm>
          <a:prstGeom prst="rect">
            <a:avLst/>
          </a:prstGeom>
          <a:noFill/>
          <a:ln/>
        </p:spPr>
        <p:txBody>
          <a:bodyPr wrap="square" lIns="0" tIns="0" rIns="0" bIns="0" rtlCol="0" anchor="ctr"/>
          <a:lstStyle/>
          <a:p>
            <a:r>
              <a:rPr sz="1600" dirty="0"/>
              <a:t>Max–Min </a:t>
            </a:r>
            <a:r>
              <a:rPr sz="1600" dirty="0" err="1"/>
              <a:t>tìm</a:t>
            </a:r>
            <a:r>
              <a:rPr sz="1600" dirty="0"/>
              <a:t> </a:t>
            </a:r>
            <a:r>
              <a:rPr sz="1600" dirty="0" err="1"/>
              <a:t>đúng</a:t>
            </a:r>
            <a:r>
              <a:rPr sz="1600" dirty="0"/>
              <a:t> </a:t>
            </a:r>
            <a:r>
              <a:rPr sz="1600" dirty="0" err="1"/>
              <a:t>thêm</a:t>
            </a:r>
            <a:r>
              <a:rPr sz="1600" dirty="0"/>
              <a:t> 45/957 </a:t>
            </a:r>
            <a:r>
              <a:rPr sz="1600" dirty="0" err="1"/>
              <a:t>câu</a:t>
            </a:r>
            <a:r>
              <a:rPr sz="1600" dirty="0"/>
              <a:t> </a:t>
            </a:r>
            <a:r>
              <a:rPr sz="1600" dirty="0" err="1"/>
              <a:t>hỏi</a:t>
            </a:r>
            <a:endParaRPr sz="1600" dirty="0"/>
          </a:p>
        </p:txBody>
      </p:sp>
      <p:sp>
        <p:nvSpPr>
          <p:cNvPr id="28" name="Shape 26"/>
          <p:cNvSpPr/>
          <p:nvPr/>
        </p:nvSpPr>
        <p:spPr>
          <a:xfrm>
            <a:off x="8147304" y="4200906"/>
            <a:ext cx="3063240" cy="1325880"/>
          </a:xfrm>
          <a:prstGeom prst="roundRect">
            <a:avLst>
              <a:gd name="adj" fmla="val 3448"/>
            </a:avLst>
          </a:prstGeom>
          <a:solidFill>
            <a:srgbClr val="F8FAFC"/>
          </a:solidFill>
          <a:ln w="12700">
            <a:solidFill>
              <a:srgbClr val="E5E7EB"/>
            </a:solidFill>
            <a:prstDash val="solid"/>
          </a:ln>
        </p:spPr>
        <p:txBody>
          <a:bodyPr/>
          <a:lstStyle/>
          <a:p>
            <a:endParaRPr/>
          </a:p>
        </p:txBody>
      </p:sp>
      <p:sp>
        <p:nvSpPr>
          <p:cNvPr id="29" name="Text 27"/>
          <p:cNvSpPr/>
          <p:nvPr/>
        </p:nvSpPr>
        <p:spPr>
          <a:xfrm>
            <a:off x="8293608" y="4270248"/>
            <a:ext cx="2770632" cy="201168"/>
          </a:xfrm>
          <a:prstGeom prst="rect">
            <a:avLst/>
          </a:prstGeom>
          <a:noFill/>
          <a:ln/>
        </p:spPr>
        <p:txBody>
          <a:bodyPr wrap="square" lIns="0" tIns="0" rIns="0" bIns="0" rtlCol="0" anchor="ctr"/>
          <a:lstStyle/>
          <a:p>
            <a:pPr marL="0" indent="0" algn="ctr">
              <a:buNone/>
            </a:pPr>
            <a:r>
              <a:rPr lang="en-US" sz="1200" b="1" dirty="0">
                <a:solidFill>
                  <a:srgbClr val="6B7280"/>
                </a:solidFill>
              </a:rPr>
              <a:t>Kết luận</a:t>
            </a:r>
            <a:endParaRPr lang="en-US" sz="1200" dirty="0"/>
          </a:p>
        </p:txBody>
      </p:sp>
      <p:sp>
        <p:nvSpPr>
          <p:cNvPr id="30" name="Text 28"/>
          <p:cNvSpPr/>
          <p:nvPr/>
        </p:nvSpPr>
        <p:spPr>
          <a:xfrm>
            <a:off x="8257032" y="4484370"/>
            <a:ext cx="2843784" cy="475488"/>
          </a:xfrm>
          <a:prstGeom prst="rect">
            <a:avLst/>
          </a:prstGeom>
          <a:noFill/>
          <a:ln/>
        </p:spPr>
        <p:txBody>
          <a:bodyPr wrap="square" lIns="0" tIns="0" rIns="0" bIns="0" rtlCol="0" anchor="ctr"/>
          <a:lstStyle/>
          <a:p>
            <a:r>
              <a:rPr sz="1600" dirty="0" err="1"/>
              <a:t>Không</a:t>
            </a:r>
            <a:r>
              <a:rPr sz="1600" dirty="0"/>
              <a:t> </a:t>
            </a:r>
            <a:r>
              <a:rPr sz="1600" dirty="0" err="1"/>
              <a:t>có</a:t>
            </a:r>
            <a:r>
              <a:rPr sz="1600" dirty="0"/>
              <a:t> </a:t>
            </a:r>
            <a:r>
              <a:rPr sz="1600" dirty="0" err="1"/>
              <a:t>phương</a:t>
            </a:r>
            <a:r>
              <a:rPr sz="1600" dirty="0"/>
              <a:t> </a:t>
            </a:r>
            <a:r>
              <a:rPr sz="1600" dirty="0" err="1"/>
              <a:t>pháp</a:t>
            </a:r>
            <a:r>
              <a:rPr sz="1600" dirty="0"/>
              <a:t> </a:t>
            </a:r>
            <a:r>
              <a:rPr sz="1600" dirty="0" err="1"/>
              <a:t>thắng</a:t>
            </a:r>
            <a:r>
              <a:rPr sz="1600" dirty="0"/>
              <a:t> </a:t>
            </a:r>
            <a:r>
              <a:rPr sz="1600" dirty="0" err="1"/>
              <a:t>mọi</a:t>
            </a:r>
            <a:r>
              <a:rPr sz="1600" dirty="0"/>
              <a:t> </a:t>
            </a:r>
            <a:r>
              <a:rPr sz="1600" dirty="0" err="1"/>
              <a:t>trường</a:t>
            </a:r>
            <a:r>
              <a:rPr sz="1600" dirty="0"/>
              <a:t> </a:t>
            </a:r>
            <a:r>
              <a:rPr sz="1600" dirty="0" err="1"/>
              <a:t>hợp</a:t>
            </a:r>
            <a:endParaRPr sz="1600" dirty="0"/>
          </a:p>
        </p:txBody>
      </p:sp>
      <p:sp>
        <p:nvSpPr>
          <p:cNvPr id="31" name="Text 29"/>
          <p:cNvSpPr/>
          <p:nvPr/>
        </p:nvSpPr>
        <p:spPr>
          <a:xfrm>
            <a:off x="8257032" y="5074920"/>
            <a:ext cx="2843784" cy="256032"/>
          </a:xfrm>
          <a:prstGeom prst="rect">
            <a:avLst/>
          </a:prstGeom>
          <a:noFill/>
          <a:ln/>
        </p:spPr>
        <p:txBody>
          <a:bodyPr wrap="square" lIns="0" tIns="0" rIns="0" bIns="0" rtlCol="0" anchor="ctr"/>
          <a:lstStyle/>
          <a:p>
            <a:r>
              <a:rPr sz="1600" dirty="0" err="1"/>
              <a:t>Kết</a:t>
            </a:r>
            <a:r>
              <a:rPr sz="1600" dirty="0"/>
              <a:t> </a:t>
            </a:r>
            <a:r>
              <a:rPr sz="1600" dirty="0" err="1"/>
              <a:t>quả</a:t>
            </a:r>
            <a:r>
              <a:rPr sz="1600" dirty="0"/>
              <a:t> </a:t>
            </a:r>
            <a:r>
              <a:rPr sz="1600" dirty="0" err="1"/>
              <a:t>phụ</a:t>
            </a:r>
            <a:r>
              <a:rPr sz="1600" dirty="0"/>
              <a:t> </a:t>
            </a:r>
            <a:r>
              <a:rPr sz="1600" dirty="0" err="1"/>
              <a:t>thuộc</a:t>
            </a:r>
            <a:r>
              <a:rPr sz="1600" dirty="0"/>
              <a:t> </a:t>
            </a:r>
            <a:r>
              <a:rPr sz="1600" dirty="0" err="1"/>
              <a:t>độ</a:t>
            </a:r>
            <a:r>
              <a:rPr sz="1600" dirty="0"/>
              <a:t> </a:t>
            </a:r>
            <a:r>
              <a:rPr sz="1600" dirty="0" err="1"/>
              <a:t>dài</a:t>
            </a:r>
            <a:r>
              <a:rPr sz="1600" dirty="0"/>
              <a:t> </a:t>
            </a:r>
            <a:r>
              <a:rPr sz="1600" dirty="0" err="1"/>
              <a:t>và</a:t>
            </a:r>
            <a:r>
              <a:rPr sz="1600" dirty="0"/>
              <a:t> </a:t>
            </a:r>
            <a:r>
              <a:rPr sz="1600" dirty="0" err="1"/>
              <a:t>cách</a:t>
            </a:r>
            <a:r>
              <a:rPr sz="1600" dirty="0"/>
              <a:t> </a:t>
            </a:r>
            <a:r>
              <a:rPr sz="1600" dirty="0" err="1"/>
              <a:t>tổ</a:t>
            </a:r>
            <a:r>
              <a:rPr sz="1600" dirty="0"/>
              <a:t> </a:t>
            </a:r>
            <a:r>
              <a:rPr sz="1600" dirty="0" err="1"/>
              <a:t>chức</a:t>
            </a:r>
            <a:r>
              <a:rPr sz="1600" dirty="0"/>
              <a:t> </a:t>
            </a:r>
            <a:r>
              <a:rPr sz="1600" dirty="0" err="1"/>
              <a:t>tài</a:t>
            </a:r>
            <a:r>
              <a:rPr sz="1600" dirty="0"/>
              <a:t> </a:t>
            </a:r>
            <a:r>
              <a:rPr sz="1600" dirty="0" err="1"/>
              <a:t>liệu</a:t>
            </a:r>
            <a:endParaRPr sz="1600" dirty="0"/>
          </a:p>
        </p:txBody>
      </p:sp>
      <p:sp>
        <p:nvSpPr>
          <p:cNvPr id="32" name="Text 30"/>
          <p:cNvSpPr/>
          <p:nvPr/>
        </p:nvSpPr>
        <p:spPr>
          <a:xfrm>
            <a:off x="1005840" y="5806440"/>
            <a:ext cx="10149840" cy="365760"/>
          </a:xfrm>
          <a:prstGeom prst="rect">
            <a:avLst/>
          </a:prstGeom>
          <a:noFill/>
          <a:ln/>
        </p:spPr>
        <p:txBody>
          <a:bodyPr wrap="square" lIns="0" tIns="0" rIns="0" bIns="0" rtlCol="0" anchor="ctr"/>
          <a:lstStyle/>
          <a:p>
            <a:r>
              <a:t>Điểm quan trọng: không chỉ hỏi “ai cao hơn?”, mà cần giải thích vì sao kết quả thay đổi khi tài liệu dài hơn.</a:t>
            </a:r>
          </a:p>
        </p:txBody>
      </p:sp>
      <p:sp>
        <p:nvSpPr>
          <p:cNvPr id="33" name="Slide Number Placeholder 0"/>
          <p:cNvSpPr>
            <a:spLocks noGrp="1"/>
          </p:cNvSpPr>
          <p:nvPr>
            <p:ph type="sldNum" sz="quarter" idx="4294967295"/>
          </p:nvPr>
        </p:nvSpPr>
        <p:spPr>
          <a:xfrm>
            <a:off x="11722608" y="6446520"/>
            <a:ext cx="387614"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9CA3AF"/>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Vì sao kết quả thay đổi?</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Ours tạo ít chunk hơn, nhưng mỗi chunk lớn hơn nhiều</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GIẢI THÍCH</a:t>
            </a:r>
          </a:p>
        </p:txBody>
      </p:sp>
      <p:sp>
        <p:nvSpPr>
          <p:cNvPr id="6" name="TextBox 5"/>
          <p:cNvSpPr txBox="1"/>
          <p:nvPr/>
        </p:nvSpPr>
        <p:spPr>
          <a:xfrm>
            <a:off x="11658599" y="6369130"/>
            <a:ext cx="466725" cy="246221"/>
          </a:xfrm>
          <a:prstGeom prst="rect">
            <a:avLst/>
          </a:prstGeom>
          <a:noFill/>
        </p:spPr>
        <p:txBody>
          <a:bodyPr wrap="square" anchor="ctr">
            <a:spAutoFit/>
          </a:bodyPr>
          <a:lstStyle/>
          <a:p>
            <a:pPr algn="r"/>
            <a:r>
              <a:rPr sz="1000" b="0">
                <a:solidFill>
                  <a:srgbClr val="475569"/>
                </a:solidFill>
                <a:latin typeface="Arial"/>
              </a:rPr>
              <a:t>14</a:t>
            </a:r>
          </a:p>
        </p:txBody>
      </p:sp>
      <p:sp>
        <p:nvSpPr>
          <p:cNvPr id="7" name="Rounded Rectangle 6"/>
          <p:cNvSpPr/>
          <p:nvPr/>
        </p:nvSpPr>
        <p:spPr>
          <a:xfrm>
            <a:off x="731520" y="1600200"/>
            <a:ext cx="260604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600200"/>
            <a:ext cx="73152" cy="13716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09928"/>
            <a:ext cx="2286000" cy="256032"/>
          </a:xfrm>
          <a:prstGeom prst="rect">
            <a:avLst/>
          </a:prstGeom>
          <a:noFill/>
        </p:spPr>
        <p:txBody>
          <a:bodyPr wrap="square" anchor="ctr">
            <a:spAutoFit/>
          </a:bodyPr>
          <a:lstStyle/>
          <a:p>
            <a:pPr algn="l"/>
            <a:r>
              <a:rPr sz="1300" b="1">
                <a:solidFill>
                  <a:srgbClr val="0F172A"/>
                </a:solidFill>
                <a:latin typeface="Arial"/>
              </a:rPr>
              <a:t>Context gốc — Max–Min</a:t>
            </a:r>
          </a:p>
        </p:txBody>
      </p:sp>
      <p:sp>
        <p:nvSpPr>
          <p:cNvPr id="10" name="TextBox 9"/>
          <p:cNvSpPr txBox="1"/>
          <p:nvPr/>
        </p:nvSpPr>
        <p:spPr>
          <a:xfrm>
            <a:off x="932688" y="2075688"/>
            <a:ext cx="2286000" cy="384048"/>
          </a:xfrm>
          <a:prstGeom prst="rect">
            <a:avLst/>
          </a:prstGeom>
          <a:noFill/>
        </p:spPr>
        <p:txBody>
          <a:bodyPr wrap="square" anchor="ctr">
            <a:spAutoFit/>
          </a:bodyPr>
          <a:lstStyle/>
          <a:p>
            <a:pPr algn="l"/>
            <a:r>
              <a:rPr sz="2600" b="1">
                <a:solidFill>
                  <a:srgbClr val="64748B"/>
                </a:solidFill>
                <a:latin typeface="Arial"/>
              </a:rPr>
              <a:t>Nhỏ &amp; nhiều</a:t>
            </a:r>
          </a:p>
        </p:txBody>
      </p:sp>
      <p:sp>
        <p:nvSpPr>
          <p:cNvPr id="11" name="TextBox 10"/>
          <p:cNvSpPr txBox="1"/>
          <p:nvPr/>
        </p:nvSpPr>
        <p:spPr>
          <a:xfrm>
            <a:off x="932688" y="2505456"/>
            <a:ext cx="2286000" cy="356615"/>
          </a:xfrm>
          <a:prstGeom prst="rect">
            <a:avLst/>
          </a:prstGeom>
          <a:noFill/>
        </p:spPr>
        <p:txBody>
          <a:bodyPr wrap="square" anchor="t">
            <a:spAutoFit/>
          </a:bodyPr>
          <a:lstStyle/>
          <a:p>
            <a:pPr algn="l"/>
            <a:r>
              <a:rPr sz="1300" b="0">
                <a:solidFill>
                  <a:srgbClr val="475569"/>
                </a:solidFill>
                <a:latin typeface="Arial"/>
              </a:rPr>
              <a:t>583 chunk
Độ dài TB: 56.9 đơn vị</a:t>
            </a:r>
          </a:p>
        </p:txBody>
      </p:sp>
      <p:sp>
        <p:nvSpPr>
          <p:cNvPr id="12" name="Rounded Rectangle 11"/>
          <p:cNvSpPr/>
          <p:nvPr/>
        </p:nvSpPr>
        <p:spPr>
          <a:xfrm>
            <a:off x="3520440" y="1600200"/>
            <a:ext cx="260604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0440" y="1600200"/>
            <a:ext cx="73152"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21608" y="1709928"/>
            <a:ext cx="2286000" cy="256032"/>
          </a:xfrm>
          <a:prstGeom prst="rect">
            <a:avLst/>
          </a:prstGeom>
          <a:noFill/>
        </p:spPr>
        <p:txBody>
          <a:bodyPr wrap="square" anchor="ctr">
            <a:spAutoFit/>
          </a:bodyPr>
          <a:lstStyle/>
          <a:p>
            <a:pPr algn="l"/>
            <a:r>
              <a:rPr sz="1300" b="1">
                <a:solidFill>
                  <a:srgbClr val="0F172A"/>
                </a:solidFill>
                <a:latin typeface="Arial"/>
              </a:rPr>
              <a:t>Context gốc — Ours</a:t>
            </a:r>
          </a:p>
        </p:txBody>
      </p:sp>
      <p:sp>
        <p:nvSpPr>
          <p:cNvPr id="15" name="TextBox 14"/>
          <p:cNvSpPr txBox="1"/>
          <p:nvPr/>
        </p:nvSpPr>
        <p:spPr>
          <a:xfrm>
            <a:off x="3721608" y="2075688"/>
            <a:ext cx="2286000" cy="384048"/>
          </a:xfrm>
          <a:prstGeom prst="rect">
            <a:avLst/>
          </a:prstGeom>
          <a:noFill/>
        </p:spPr>
        <p:txBody>
          <a:bodyPr wrap="square" anchor="ctr">
            <a:spAutoFit/>
          </a:bodyPr>
          <a:lstStyle/>
          <a:p>
            <a:pPr algn="l"/>
            <a:r>
              <a:rPr sz="2600" b="1">
                <a:solidFill>
                  <a:srgbClr val="0D9488"/>
                </a:solidFill>
                <a:latin typeface="Arial"/>
              </a:rPr>
              <a:t>Lớn &amp; ít</a:t>
            </a:r>
          </a:p>
        </p:txBody>
      </p:sp>
      <p:sp>
        <p:nvSpPr>
          <p:cNvPr id="16" name="TextBox 15"/>
          <p:cNvSpPr txBox="1"/>
          <p:nvPr/>
        </p:nvSpPr>
        <p:spPr>
          <a:xfrm>
            <a:off x="3721608" y="2505456"/>
            <a:ext cx="2286000" cy="356615"/>
          </a:xfrm>
          <a:prstGeom prst="rect">
            <a:avLst/>
          </a:prstGeom>
          <a:noFill/>
        </p:spPr>
        <p:txBody>
          <a:bodyPr wrap="square" anchor="t">
            <a:spAutoFit/>
          </a:bodyPr>
          <a:lstStyle/>
          <a:p>
            <a:pPr algn="l"/>
            <a:r>
              <a:rPr sz="1300" b="0">
                <a:solidFill>
                  <a:srgbClr val="475569"/>
                </a:solidFill>
                <a:latin typeface="Arial"/>
              </a:rPr>
              <a:t>226 chunk
Độ dài TB: 153.6 đơn vị</a:t>
            </a:r>
          </a:p>
        </p:txBody>
      </p:sp>
      <p:sp>
        <p:nvSpPr>
          <p:cNvPr id="17" name="Rounded Rectangle 16"/>
          <p:cNvSpPr/>
          <p:nvPr/>
        </p:nvSpPr>
        <p:spPr>
          <a:xfrm>
            <a:off x="6309360" y="1600200"/>
            <a:ext cx="260604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1600200"/>
            <a:ext cx="73152" cy="13716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8" y="1709928"/>
            <a:ext cx="2286000" cy="256032"/>
          </a:xfrm>
          <a:prstGeom prst="rect">
            <a:avLst/>
          </a:prstGeom>
          <a:noFill/>
        </p:spPr>
        <p:txBody>
          <a:bodyPr wrap="square" anchor="ctr">
            <a:spAutoFit/>
          </a:bodyPr>
          <a:lstStyle/>
          <a:p>
            <a:pPr algn="l"/>
            <a:r>
              <a:rPr sz="1300" b="1">
                <a:solidFill>
                  <a:srgbClr val="0F172A"/>
                </a:solidFill>
                <a:latin typeface="Arial"/>
              </a:rPr>
              <a:t>Ghép dài — Max–Min</a:t>
            </a:r>
          </a:p>
        </p:txBody>
      </p:sp>
      <p:sp>
        <p:nvSpPr>
          <p:cNvPr id="20" name="TextBox 19"/>
          <p:cNvSpPr txBox="1"/>
          <p:nvPr/>
        </p:nvSpPr>
        <p:spPr>
          <a:xfrm>
            <a:off x="6510528" y="2075688"/>
            <a:ext cx="2286000" cy="384048"/>
          </a:xfrm>
          <a:prstGeom prst="rect">
            <a:avLst/>
          </a:prstGeom>
          <a:noFill/>
        </p:spPr>
        <p:txBody>
          <a:bodyPr wrap="square" anchor="ctr">
            <a:spAutoFit/>
          </a:bodyPr>
          <a:lstStyle/>
          <a:p>
            <a:pPr algn="l"/>
            <a:r>
              <a:rPr sz="2600" b="1">
                <a:solidFill>
                  <a:srgbClr val="64748B"/>
                </a:solidFill>
                <a:latin typeface="Arial"/>
              </a:rPr>
              <a:t>Nhỏ &amp; nhiều</a:t>
            </a:r>
          </a:p>
        </p:txBody>
      </p:sp>
      <p:sp>
        <p:nvSpPr>
          <p:cNvPr id="21" name="TextBox 20"/>
          <p:cNvSpPr txBox="1"/>
          <p:nvPr/>
        </p:nvSpPr>
        <p:spPr>
          <a:xfrm>
            <a:off x="6510528" y="2505456"/>
            <a:ext cx="2286000" cy="356615"/>
          </a:xfrm>
          <a:prstGeom prst="rect">
            <a:avLst/>
          </a:prstGeom>
          <a:noFill/>
        </p:spPr>
        <p:txBody>
          <a:bodyPr wrap="square" anchor="t">
            <a:spAutoFit/>
          </a:bodyPr>
          <a:lstStyle/>
          <a:p>
            <a:pPr algn="l"/>
            <a:r>
              <a:rPr sz="1300" b="0">
                <a:solidFill>
                  <a:srgbClr val="475569"/>
                </a:solidFill>
                <a:latin typeface="Arial"/>
              </a:rPr>
              <a:t>556 chunk
Độ dài TB: 59.7 đơn vị</a:t>
            </a:r>
          </a:p>
        </p:txBody>
      </p:sp>
      <p:sp>
        <p:nvSpPr>
          <p:cNvPr id="22" name="Rounded Rectangle 21"/>
          <p:cNvSpPr/>
          <p:nvPr/>
        </p:nvSpPr>
        <p:spPr>
          <a:xfrm>
            <a:off x="9098280" y="1600200"/>
            <a:ext cx="233172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600200"/>
            <a:ext cx="73152"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99448" y="1709928"/>
            <a:ext cx="2011679" cy="256032"/>
          </a:xfrm>
          <a:prstGeom prst="rect">
            <a:avLst/>
          </a:prstGeom>
          <a:noFill/>
        </p:spPr>
        <p:txBody>
          <a:bodyPr wrap="square" anchor="ctr">
            <a:spAutoFit/>
          </a:bodyPr>
          <a:lstStyle/>
          <a:p>
            <a:pPr algn="l"/>
            <a:r>
              <a:rPr sz="1300" b="1">
                <a:solidFill>
                  <a:srgbClr val="0F172A"/>
                </a:solidFill>
                <a:latin typeface="Arial"/>
              </a:rPr>
              <a:t>Ghép dài — Ours</a:t>
            </a:r>
          </a:p>
        </p:txBody>
      </p:sp>
      <p:sp>
        <p:nvSpPr>
          <p:cNvPr id="25" name="TextBox 24"/>
          <p:cNvSpPr txBox="1"/>
          <p:nvPr/>
        </p:nvSpPr>
        <p:spPr>
          <a:xfrm>
            <a:off x="9299448" y="2075688"/>
            <a:ext cx="2011679" cy="384048"/>
          </a:xfrm>
          <a:prstGeom prst="rect">
            <a:avLst/>
          </a:prstGeom>
          <a:noFill/>
        </p:spPr>
        <p:txBody>
          <a:bodyPr wrap="square" anchor="ctr">
            <a:spAutoFit/>
          </a:bodyPr>
          <a:lstStyle/>
          <a:p>
            <a:pPr algn="l"/>
            <a:r>
              <a:rPr sz="2600" b="1">
                <a:solidFill>
                  <a:srgbClr val="0D9488"/>
                </a:solidFill>
                <a:latin typeface="Arial"/>
              </a:rPr>
              <a:t>Lớn &amp; ít</a:t>
            </a:r>
          </a:p>
        </p:txBody>
      </p:sp>
      <p:sp>
        <p:nvSpPr>
          <p:cNvPr id="26" name="TextBox 25"/>
          <p:cNvSpPr txBox="1"/>
          <p:nvPr/>
        </p:nvSpPr>
        <p:spPr>
          <a:xfrm>
            <a:off x="9299448" y="2505456"/>
            <a:ext cx="2011679" cy="356615"/>
          </a:xfrm>
          <a:prstGeom prst="rect">
            <a:avLst/>
          </a:prstGeom>
          <a:noFill/>
        </p:spPr>
        <p:txBody>
          <a:bodyPr wrap="square" anchor="t">
            <a:spAutoFit/>
          </a:bodyPr>
          <a:lstStyle/>
          <a:p>
            <a:pPr algn="l"/>
            <a:r>
              <a:rPr sz="1300" b="0">
                <a:solidFill>
                  <a:srgbClr val="475569"/>
                </a:solidFill>
                <a:latin typeface="Arial"/>
              </a:rPr>
              <a:t>191 chunk
Độ dài TB: 194.1 đơn vị</a:t>
            </a:r>
          </a:p>
        </p:txBody>
      </p:sp>
      <p:sp>
        <p:nvSpPr>
          <p:cNvPr id="27" name="Rounded Rectangle 26"/>
          <p:cNvSpPr/>
          <p:nvPr/>
        </p:nvSpPr>
        <p:spPr>
          <a:xfrm>
            <a:off x="868680" y="3429000"/>
            <a:ext cx="507492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8680" y="3429000"/>
            <a:ext cx="73152"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9848" y="3538728"/>
            <a:ext cx="4754880" cy="256032"/>
          </a:xfrm>
          <a:prstGeom prst="rect">
            <a:avLst/>
          </a:prstGeom>
          <a:noFill/>
        </p:spPr>
        <p:txBody>
          <a:bodyPr wrap="square" anchor="ctr">
            <a:spAutoFit/>
          </a:bodyPr>
          <a:lstStyle/>
          <a:p>
            <a:pPr algn="l"/>
            <a:r>
              <a:rPr sz="1300" b="1">
                <a:solidFill>
                  <a:srgbClr val="0F172A"/>
                </a:solidFill>
                <a:latin typeface="Arial"/>
              </a:rPr>
              <a:t>Lợi ích của chunk lớn</a:t>
            </a:r>
          </a:p>
        </p:txBody>
      </p:sp>
      <p:sp>
        <p:nvSpPr>
          <p:cNvPr id="30" name="TextBox 29"/>
          <p:cNvSpPr txBox="1"/>
          <p:nvPr/>
        </p:nvSpPr>
        <p:spPr>
          <a:xfrm>
            <a:off x="1069848" y="3904487"/>
            <a:ext cx="4754880" cy="832104"/>
          </a:xfrm>
          <a:prstGeom prst="rect">
            <a:avLst/>
          </a:prstGeom>
          <a:noFill/>
        </p:spPr>
        <p:txBody>
          <a:bodyPr wrap="square" anchor="t">
            <a:spAutoFit/>
          </a:bodyPr>
          <a:lstStyle/>
          <a:p>
            <a:pPr algn="l"/>
            <a:r>
              <a:rPr sz="1300" b="0">
                <a:solidFill>
                  <a:srgbClr val="475569"/>
                </a:solidFill>
                <a:latin typeface="Arial"/>
              </a:rPr>
              <a:t>Giữ được nhiều ngữ cảnh và ít làm câu bằng chứng bị chia đôi.</a:t>
            </a:r>
          </a:p>
        </p:txBody>
      </p:sp>
      <p:sp>
        <p:nvSpPr>
          <p:cNvPr id="31" name="Rounded Rectangle 30"/>
          <p:cNvSpPr/>
          <p:nvPr/>
        </p:nvSpPr>
        <p:spPr>
          <a:xfrm>
            <a:off x="6217920" y="3429000"/>
            <a:ext cx="507492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17920" y="3429000"/>
            <a:ext cx="73152" cy="1417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9088" y="3538728"/>
            <a:ext cx="4754880" cy="256032"/>
          </a:xfrm>
          <a:prstGeom prst="rect">
            <a:avLst/>
          </a:prstGeom>
          <a:noFill/>
        </p:spPr>
        <p:txBody>
          <a:bodyPr wrap="square" anchor="ctr">
            <a:spAutoFit/>
          </a:bodyPr>
          <a:lstStyle/>
          <a:p>
            <a:pPr algn="l"/>
            <a:r>
              <a:rPr sz="1300" b="1">
                <a:solidFill>
                  <a:srgbClr val="0F172A"/>
                </a:solidFill>
                <a:latin typeface="Arial"/>
              </a:rPr>
              <a:t>Rủi ro của chunk lớn</a:t>
            </a:r>
          </a:p>
        </p:txBody>
      </p:sp>
      <p:sp>
        <p:nvSpPr>
          <p:cNvPr id="34" name="TextBox 33"/>
          <p:cNvSpPr txBox="1"/>
          <p:nvPr/>
        </p:nvSpPr>
        <p:spPr>
          <a:xfrm>
            <a:off x="6419088" y="3904487"/>
            <a:ext cx="4754880" cy="832104"/>
          </a:xfrm>
          <a:prstGeom prst="rect">
            <a:avLst/>
          </a:prstGeom>
          <a:noFill/>
        </p:spPr>
        <p:txBody>
          <a:bodyPr wrap="square" anchor="t">
            <a:spAutoFit/>
          </a:bodyPr>
          <a:lstStyle/>
          <a:p>
            <a:pPr algn="l"/>
            <a:r>
              <a:rPr sz="1300" b="0">
                <a:solidFill>
                  <a:srgbClr val="475569"/>
                </a:solidFill>
                <a:latin typeface="Arial"/>
              </a:rPr>
              <a:t>Một vector phải đại diện cho quá nhiều nội dung → có thể khó khớp chính xác với câu hỏi.</a:t>
            </a:r>
          </a:p>
        </p:txBody>
      </p:sp>
      <p:sp>
        <p:nvSpPr>
          <p:cNvPr id="35" name="TextBox 34"/>
          <p:cNvSpPr txBox="1"/>
          <p:nvPr/>
        </p:nvSpPr>
        <p:spPr>
          <a:xfrm>
            <a:off x="914400" y="5257800"/>
            <a:ext cx="10332720" cy="548640"/>
          </a:xfrm>
          <a:prstGeom prst="rect">
            <a:avLst/>
          </a:prstGeom>
          <a:noFill/>
        </p:spPr>
        <p:txBody>
          <a:bodyPr wrap="square" anchor="ctr">
            <a:spAutoFit/>
          </a:bodyPr>
          <a:lstStyle/>
          <a:p>
            <a:pPr algn="ctr"/>
            <a:r>
              <a:rPr sz="1300" b="0">
                <a:solidFill>
                  <a:srgbClr val="475569"/>
                </a:solidFill>
                <a:latin typeface="Arial"/>
              </a:rPr>
              <a:t>Đây là lý do Ours có thể giữ bằng chứng rất tốt nhưng chưa chắc xếp chunk chứa bằng chứng lên top đầu khi tài liệu dài.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Khi giới hạn lượng văn bản được phép truy xuất</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Thử cùng trần 512 token để tránh việc một phương pháp được lấy quá nhiều context hơn</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CÙNG NGÂN SÁCH</a:t>
            </a:r>
          </a:p>
        </p:txBody>
      </p:sp>
      <p:sp>
        <p:nvSpPr>
          <p:cNvPr id="6" name="TextBox 5"/>
          <p:cNvSpPr txBox="1"/>
          <p:nvPr/>
        </p:nvSpPr>
        <p:spPr>
          <a:xfrm>
            <a:off x="11658599" y="6369130"/>
            <a:ext cx="409575" cy="246221"/>
          </a:xfrm>
          <a:prstGeom prst="rect">
            <a:avLst/>
          </a:prstGeom>
          <a:noFill/>
        </p:spPr>
        <p:txBody>
          <a:bodyPr wrap="square" anchor="ctr">
            <a:spAutoFit/>
          </a:bodyPr>
          <a:lstStyle/>
          <a:p>
            <a:pPr algn="r"/>
            <a:r>
              <a:rPr sz="1000" b="0">
                <a:solidFill>
                  <a:srgbClr val="475569"/>
                </a:solidFill>
                <a:latin typeface="Arial"/>
              </a:rPr>
              <a:t>15</a:t>
            </a:r>
          </a:p>
        </p:txBody>
      </p:sp>
      <p:sp>
        <p:nvSpPr>
          <p:cNvPr id="7" name="TextBox 6"/>
          <p:cNvSpPr txBox="1"/>
          <p:nvPr/>
        </p:nvSpPr>
        <p:spPr>
          <a:xfrm>
            <a:off x="868680" y="1728216"/>
            <a:ext cx="5074920" cy="210312"/>
          </a:xfrm>
          <a:prstGeom prst="rect">
            <a:avLst/>
          </a:prstGeom>
          <a:noFill/>
        </p:spPr>
        <p:txBody>
          <a:bodyPr wrap="square" anchor="ctr">
            <a:spAutoFit/>
          </a:bodyPr>
          <a:lstStyle/>
          <a:p>
            <a:pPr algn="l"/>
            <a:r>
              <a:rPr sz="1200" b="1">
                <a:solidFill>
                  <a:srgbClr val="475569"/>
                </a:solidFill>
                <a:latin typeface="Arial"/>
              </a:rPr>
              <a:t>Context gốc — tỷ lệ tìm đúng trong 512 token</a:t>
            </a:r>
          </a:p>
        </p:txBody>
      </p:sp>
      <p:sp>
        <p:nvSpPr>
          <p:cNvPr id="8" name="TextBox 7"/>
          <p:cNvSpPr txBox="1"/>
          <p:nvPr/>
        </p:nvSpPr>
        <p:spPr>
          <a:xfrm>
            <a:off x="868680" y="2011679"/>
            <a:ext cx="960120" cy="228600"/>
          </a:xfrm>
          <a:prstGeom prst="rect">
            <a:avLst/>
          </a:prstGeom>
          <a:noFill/>
        </p:spPr>
        <p:txBody>
          <a:bodyPr wrap="square" anchor="ctr">
            <a:spAutoFit/>
          </a:bodyPr>
          <a:lstStyle/>
          <a:p>
            <a:pPr algn="l"/>
            <a:r>
              <a:rPr sz="1100" b="0">
                <a:solidFill>
                  <a:srgbClr val="475569"/>
                </a:solidFill>
                <a:latin typeface="Arial"/>
              </a:rPr>
              <a:t>Max–Min</a:t>
            </a:r>
          </a:p>
        </p:txBody>
      </p:sp>
      <p:sp>
        <p:nvSpPr>
          <p:cNvPr id="9" name="Rectangle 8"/>
          <p:cNvSpPr/>
          <p:nvPr/>
        </p:nvSpPr>
        <p:spPr>
          <a:xfrm>
            <a:off x="1920239" y="2029967"/>
            <a:ext cx="3063239" cy="16459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56631" y="1975103"/>
            <a:ext cx="731520" cy="256032"/>
          </a:xfrm>
          <a:prstGeom prst="rect">
            <a:avLst/>
          </a:prstGeom>
          <a:noFill/>
        </p:spPr>
        <p:txBody>
          <a:bodyPr wrap="square" anchor="ctr">
            <a:spAutoFit/>
          </a:bodyPr>
          <a:lstStyle/>
          <a:p>
            <a:pPr algn="l"/>
            <a:r>
              <a:rPr sz="1100" b="1">
                <a:solidFill>
                  <a:srgbClr val="0F172A"/>
                </a:solidFill>
                <a:latin typeface="Arial"/>
              </a:rPr>
              <a:t>85.58%</a:t>
            </a:r>
          </a:p>
        </p:txBody>
      </p:sp>
      <p:sp>
        <p:nvSpPr>
          <p:cNvPr id="11" name="TextBox 10"/>
          <p:cNvSpPr txBox="1"/>
          <p:nvPr/>
        </p:nvSpPr>
        <p:spPr>
          <a:xfrm>
            <a:off x="868680" y="2350008"/>
            <a:ext cx="960120" cy="228600"/>
          </a:xfrm>
          <a:prstGeom prst="rect">
            <a:avLst/>
          </a:prstGeom>
          <a:noFill/>
        </p:spPr>
        <p:txBody>
          <a:bodyPr wrap="square" anchor="ctr">
            <a:spAutoFit/>
          </a:bodyPr>
          <a:lstStyle/>
          <a:p>
            <a:pPr algn="l"/>
            <a:r>
              <a:rPr sz="1100" b="0">
                <a:solidFill>
                  <a:srgbClr val="475569"/>
                </a:solidFill>
                <a:latin typeface="Arial"/>
              </a:rPr>
              <a:t>Ours</a:t>
            </a:r>
          </a:p>
        </p:txBody>
      </p:sp>
      <p:sp>
        <p:nvSpPr>
          <p:cNvPr id="12" name="Rectangle 11"/>
          <p:cNvSpPr/>
          <p:nvPr/>
        </p:nvSpPr>
        <p:spPr>
          <a:xfrm>
            <a:off x="1920239" y="2368296"/>
            <a:ext cx="3048206"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41598" y="2313432"/>
            <a:ext cx="731520" cy="256032"/>
          </a:xfrm>
          <a:prstGeom prst="rect">
            <a:avLst/>
          </a:prstGeom>
          <a:noFill/>
        </p:spPr>
        <p:txBody>
          <a:bodyPr wrap="square" anchor="ctr">
            <a:spAutoFit/>
          </a:bodyPr>
          <a:lstStyle/>
          <a:p>
            <a:pPr algn="l"/>
            <a:r>
              <a:rPr sz="1100" b="1">
                <a:solidFill>
                  <a:srgbClr val="0F172A"/>
                </a:solidFill>
                <a:latin typeface="Arial"/>
              </a:rPr>
              <a:t>85.16%</a:t>
            </a:r>
          </a:p>
        </p:txBody>
      </p:sp>
      <p:sp>
        <p:nvSpPr>
          <p:cNvPr id="14" name="TextBox 13"/>
          <p:cNvSpPr txBox="1"/>
          <p:nvPr/>
        </p:nvSpPr>
        <p:spPr>
          <a:xfrm>
            <a:off x="6263640" y="1728216"/>
            <a:ext cx="5074920" cy="210312"/>
          </a:xfrm>
          <a:prstGeom prst="rect">
            <a:avLst/>
          </a:prstGeom>
          <a:noFill/>
        </p:spPr>
        <p:txBody>
          <a:bodyPr wrap="square" anchor="ctr">
            <a:spAutoFit/>
          </a:bodyPr>
          <a:lstStyle/>
          <a:p>
            <a:pPr algn="l"/>
            <a:r>
              <a:rPr sz="1200" b="1">
                <a:solidFill>
                  <a:srgbClr val="475569"/>
                </a:solidFill>
                <a:latin typeface="Arial"/>
              </a:rPr>
              <a:t>Văn bản ghép dài — tỷ lệ tìm đúng trong 512 token</a:t>
            </a:r>
          </a:p>
        </p:txBody>
      </p:sp>
      <p:sp>
        <p:nvSpPr>
          <p:cNvPr id="15" name="TextBox 14"/>
          <p:cNvSpPr txBox="1"/>
          <p:nvPr/>
        </p:nvSpPr>
        <p:spPr>
          <a:xfrm>
            <a:off x="6263640" y="2011679"/>
            <a:ext cx="960120" cy="228600"/>
          </a:xfrm>
          <a:prstGeom prst="rect">
            <a:avLst/>
          </a:prstGeom>
          <a:noFill/>
        </p:spPr>
        <p:txBody>
          <a:bodyPr wrap="square" anchor="ctr">
            <a:spAutoFit/>
          </a:bodyPr>
          <a:lstStyle/>
          <a:p>
            <a:pPr algn="l"/>
            <a:r>
              <a:rPr sz="1100" b="0">
                <a:solidFill>
                  <a:srgbClr val="475569"/>
                </a:solidFill>
                <a:latin typeface="Arial"/>
              </a:rPr>
              <a:t>Max–Min</a:t>
            </a:r>
          </a:p>
        </p:txBody>
      </p:sp>
      <p:sp>
        <p:nvSpPr>
          <p:cNvPr id="16" name="Rectangle 15"/>
          <p:cNvSpPr/>
          <p:nvPr/>
        </p:nvSpPr>
        <p:spPr>
          <a:xfrm>
            <a:off x="7315200" y="2029967"/>
            <a:ext cx="3063239" cy="16459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51592" y="1975103"/>
            <a:ext cx="731520" cy="256032"/>
          </a:xfrm>
          <a:prstGeom prst="rect">
            <a:avLst/>
          </a:prstGeom>
          <a:noFill/>
        </p:spPr>
        <p:txBody>
          <a:bodyPr wrap="square" anchor="ctr">
            <a:spAutoFit/>
          </a:bodyPr>
          <a:lstStyle/>
          <a:p>
            <a:pPr algn="l"/>
            <a:r>
              <a:rPr sz="1100" b="1">
                <a:solidFill>
                  <a:srgbClr val="0F172A"/>
                </a:solidFill>
                <a:latin typeface="Arial"/>
              </a:rPr>
              <a:t>83.59%</a:t>
            </a:r>
          </a:p>
        </p:txBody>
      </p:sp>
      <p:sp>
        <p:nvSpPr>
          <p:cNvPr id="18" name="TextBox 17"/>
          <p:cNvSpPr txBox="1"/>
          <p:nvPr/>
        </p:nvSpPr>
        <p:spPr>
          <a:xfrm>
            <a:off x="6263640" y="2350008"/>
            <a:ext cx="960120" cy="228600"/>
          </a:xfrm>
          <a:prstGeom prst="rect">
            <a:avLst/>
          </a:prstGeom>
          <a:noFill/>
        </p:spPr>
        <p:txBody>
          <a:bodyPr wrap="square" anchor="ctr">
            <a:spAutoFit/>
          </a:bodyPr>
          <a:lstStyle/>
          <a:p>
            <a:pPr algn="l"/>
            <a:r>
              <a:rPr sz="1100" b="0">
                <a:solidFill>
                  <a:srgbClr val="475569"/>
                </a:solidFill>
                <a:latin typeface="Arial"/>
              </a:rPr>
              <a:t>Ours</a:t>
            </a:r>
          </a:p>
        </p:txBody>
      </p:sp>
      <p:sp>
        <p:nvSpPr>
          <p:cNvPr id="19" name="Rectangle 18"/>
          <p:cNvSpPr/>
          <p:nvPr/>
        </p:nvSpPr>
        <p:spPr>
          <a:xfrm>
            <a:off x="7315200" y="2368296"/>
            <a:ext cx="23321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20504" y="2313432"/>
            <a:ext cx="731520" cy="256032"/>
          </a:xfrm>
          <a:prstGeom prst="rect">
            <a:avLst/>
          </a:prstGeom>
          <a:noFill/>
        </p:spPr>
        <p:txBody>
          <a:bodyPr wrap="square" anchor="ctr">
            <a:spAutoFit/>
          </a:bodyPr>
          <a:lstStyle/>
          <a:p>
            <a:pPr algn="l"/>
            <a:r>
              <a:rPr sz="1100" b="1">
                <a:solidFill>
                  <a:srgbClr val="0F172A"/>
                </a:solidFill>
                <a:latin typeface="Arial"/>
              </a:rPr>
              <a:t>63.64%</a:t>
            </a:r>
          </a:p>
        </p:txBody>
      </p:sp>
      <p:sp>
        <p:nvSpPr>
          <p:cNvPr id="21" name="Rounded Rectangle 20"/>
          <p:cNvSpPr/>
          <p:nvPr/>
        </p:nvSpPr>
        <p:spPr>
          <a:xfrm>
            <a:off x="914400" y="3886200"/>
            <a:ext cx="4983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4400" y="3886200"/>
            <a:ext cx="73152" cy="13258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5568" y="3995928"/>
            <a:ext cx="4663440" cy="256032"/>
          </a:xfrm>
          <a:prstGeom prst="rect">
            <a:avLst/>
          </a:prstGeom>
          <a:noFill/>
        </p:spPr>
        <p:txBody>
          <a:bodyPr wrap="square" anchor="ctr">
            <a:spAutoFit/>
          </a:bodyPr>
          <a:lstStyle/>
          <a:p>
            <a:pPr algn="l"/>
            <a:r>
              <a:rPr sz="1300" b="1">
                <a:solidFill>
                  <a:srgbClr val="0F172A"/>
                </a:solidFill>
                <a:latin typeface="Arial"/>
              </a:rPr>
              <a:t>Context gốc</a:t>
            </a:r>
          </a:p>
        </p:txBody>
      </p:sp>
      <p:sp>
        <p:nvSpPr>
          <p:cNvPr id="24" name="TextBox 23"/>
          <p:cNvSpPr txBox="1"/>
          <p:nvPr/>
        </p:nvSpPr>
        <p:spPr>
          <a:xfrm>
            <a:off x="1115568" y="4361688"/>
            <a:ext cx="4663440" cy="740664"/>
          </a:xfrm>
          <a:prstGeom prst="rect">
            <a:avLst/>
          </a:prstGeom>
          <a:noFill/>
        </p:spPr>
        <p:txBody>
          <a:bodyPr wrap="square" anchor="t">
            <a:spAutoFit/>
          </a:bodyPr>
          <a:lstStyle/>
          <a:p>
            <a:pPr algn="l"/>
            <a:r>
              <a:rPr sz="1300" b="0">
                <a:solidFill>
                  <a:srgbClr val="475569"/>
                </a:solidFill>
                <a:latin typeface="Arial"/>
              </a:rPr>
              <a:t>Hai phương pháp gần như ngang nhau: 85.58% và 85.16%. Lợi thế của Ours ở top-5 ban đầu giảm rõ khi giới hạn lượng văn bản.</a:t>
            </a:r>
          </a:p>
        </p:txBody>
      </p:sp>
      <p:sp>
        <p:nvSpPr>
          <p:cNvPr id="25" name="Rounded Rectangle 24"/>
          <p:cNvSpPr/>
          <p:nvPr/>
        </p:nvSpPr>
        <p:spPr>
          <a:xfrm>
            <a:off x="6263640" y="3886200"/>
            <a:ext cx="4983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63640" y="3886200"/>
            <a:ext cx="73152" cy="13258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64807" y="3995928"/>
            <a:ext cx="4663440" cy="256032"/>
          </a:xfrm>
          <a:prstGeom prst="rect">
            <a:avLst/>
          </a:prstGeom>
          <a:noFill/>
        </p:spPr>
        <p:txBody>
          <a:bodyPr wrap="square" anchor="ctr">
            <a:spAutoFit/>
          </a:bodyPr>
          <a:lstStyle/>
          <a:p>
            <a:pPr algn="l"/>
            <a:r>
              <a:rPr sz="1300" b="1">
                <a:solidFill>
                  <a:srgbClr val="0F172A"/>
                </a:solidFill>
                <a:latin typeface="Arial"/>
              </a:rPr>
              <a:t>Văn bản ghép dài</a:t>
            </a:r>
          </a:p>
        </p:txBody>
      </p:sp>
      <p:sp>
        <p:nvSpPr>
          <p:cNvPr id="28" name="TextBox 27"/>
          <p:cNvSpPr txBox="1"/>
          <p:nvPr/>
        </p:nvSpPr>
        <p:spPr>
          <a:xfrm>
            <a:off x="6464807" y="4361688"/>
            <a:ext cx="4663440" cy="740664"/>
          </a:xfrm>
          <a:prstGeom prst="rect">
            <a:avLst/>
          </a:prstGeom>
          <a:noFill/>
        </p:spPr>
        <p:txBody>
          <a:bodyPr wrap="square" anchor="t">
            <a:spAutoFit/>
          </a:bodyPr>
          <a:lstStyle/>
          <a:p>
            <a:pPr algn="l"/>
            <a:r>
              <a:rPr sz="1300" b="0">
                <a:solidFill>
                  <a:srgbClr val="475569"/>
                </a:solidFill>
                <a:latin typeface="Arial"/>
              </a:rPr>
              <a:t>Max–Min tốt hơn rõ rệt khi chỉ cho phép tối đa 512 token context.</a:t>
            </a:r>
          </a:p>
        </p:txBody>
      </p:sp>
      <p:sp>
        <p:nvSpPr>
          <p:cNvPr id="29" name="TextBox 28"/>
          <p:cNvSpPr txBox="1"/>
          <p:nvPr/>
        </p:nvSpPr>
        <p:spPr>
          <a:xfrm>
            <a:off x="914400" y="5623560"/>
            <a:ext cx="10332720" cy="438912"/>
          </a:xfrm>
          <a:prstGeom prst="rect">
            <a:avLst/>
          </a:prstGeom>
          <a:noFill/>
        </p:spPr>
        <p:txBody>
          <a:bodyPr wrap="square" anchor="ctr">
            <a:spAutoFit/>
          </a:bodyPr>
          <a:lstStyle/>
          <a:p>
            <a:pPr algn="ctr"/>
            <a:r>
              <a:rPr sz="1250" b="0">
                <a:solidFill>
                  <a:srgbClr val="475569"/>
                </a:solidFill>
                <a:latin typeface="Arial"/>
              </a:rPr>
              <a:t>512 token ở đây chỉ dùng như một phép kiểm tra bổ sung để nhìn công bằng hơn về lượng context; không phải thí nghiệm RAG end-to-end.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Chunk quá dài có thể bị embedding “đọc thiếu”</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Mô hình embedding hiện tại chỉ dùng tối đa 128 token cho mỗi đoạn khi tạo vector</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ĐỘ DÀI CHUNK</a:t>
            </a:r>
          </a:p>
        </p:txBody>
      </p:sp>
      <p:sp>
        <p:nvSpPr>
          <p:cNvPr id="6" name="TextBox 5"/>
          <p:cNvSpPr txBox="1"/>
          <p:nvPr/>
        </p:nvSpPr>
        <p:spPr>
          <a:xfrm>
            <a:off x="11658600" y="6369130"/>
            <a:ext cx="419100" cy="246221"/>
          </a:xfrm>
          <a:prstGeom prst="rect">
            <a:avLst/>
          </a:prstGeom>
          <a:noFill/>
        </p:spPr>
        <p:txBody>
          <a:bodyPr wrap="square" anchor="ctr">
            <a:spAutoFit/>
          </a:bodyPr>
          <a:lstStyle/>
          <a:p>
            <a:pPr algn="r"/>
            <a:r>
              <a:rPr sz="1000" b="0">
                <a:solidFill>
                  <a:srgbClr val="475569"/>
                </a:solidFill>
                <a:latin typeface="Arial"/>
              </a:rPr>
              <a:t>16</a:t>
            </a:r>
          </a:p>
        </p:txBody>
      </p:sp>
      <p:sp>
        <p:nvSpPr>
          <p:cNvPr id="7" name="Rounded Rectangle 6"/>
          <p:cNvSpPr/>
          <p:nvPr/>
        </p:nvSpPr>
        <p:spPr>
          <a:xfrm>
            <a:off x="822960" y="1554480"/>
            <a:ext cx="5074920" cy="1554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554480"/>
            <a:ext cx="73152" cy="15544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1664207"/>
            <a:ext cx="4754880" cy="256032"/>
          </a:xfrm>
          <a:prstGeom prst="rect">
            <a:avLst/>
          </a:prstGeom>
          <a:noFill/>
        </p:spPr>
        <p:txBody>
          <a:bodyPr wrap="square" anchor="ctr">
            <a:spAutoFit/>
          </a:bodyPr>
          <a:lstStyle/>
          <a:p>
            <a:pPr algn="l"/>
            <a:r>
              <a:rPr sz="1300" b="1">
                <a:solidFill>
                  <a:srgbClr val="0F172A"/>
                </a:solidFill>
                <a:latin typeface="Arial"/>
              </a:rPr>
              <a:t>Ví dụ đơn giản</a:t>
            </a:r>
          </a:p>
        </p:txBody>
      </p:sp>
      <p:sp>
        <p:nvSpPr>
          <p:cNvPr id="10" name="TextBox 9"/>
          <p:cNvSpPr txBox="1"/>
          <p:nvPr/>
        </p:nvSpPr>
        <p:spPr>
          <a:xfrm>
            <a:off x="1024128" y="2029967"/>
            <a:ext cx="4754880" cy="384048"/>
          </a:xfrm>
          <a:prstGeom prst="rect">
            <a:avLst/>
          </a:prstGeom>
          <a:noFill/>
        </p:spPr>
        <p:txBody>
          <a:bodyPr wrap="square" anchor="ctr">
            <a:spAutoFit/>
          </a:bodyPr>
          <a:lstStyle/>
          <a:p>
            <a:pPr algn="l"/>
            <a:r>
              <a:rPr sz="2600" b="1">
                <a:solidFill>
                  <a:srgbClr val="B45309"/>
                </a:solidFill>
                <a:latin typeface="Arial"/>
              </a:rPr>
              <a:t>200 → 128</a:t>
            </a:r>
          </a:p>
        </p:txBody>
      </p:sp>
      <p:sp>
        <p:nvSpPr>
          <p:cNvPr id="11" name="TextBox 10"/>
          <p:cNvSpPr txBox="1"/>
          <p:nvPr/>
        </p:nvSpPr>
        <p:spPr>
          <a:xfrm>
            <a:off x="1024128" y="2459735"/>
            <a:ext cx="4754880" cy="539496"/>
          </a:xfrm>
          <a:prstGeom prst="rect">
            <a:avLst/>
          </a:prstGeom>
          <a:noFill/>
        </p:spPr>
        <p:txBody>
          <a:bodyPr wrap="square" anchor="t">
            <a:spAutoFit/>
          </a:bodyPr>
          <a:lstStyle/>
          <a:p>
            <a:pPr algn="l"/>
            <a:r>
              <a:rPr sz="1300" b="0">
                <a:solidFill>
                  <a:srgbClr val="475569"/>
                </a:solidFill>
                <a:latin typeface="Arial"/>
              </a:rPr>
              <a:t>Chunk có 200 token
→ model chỉ dùng tối đa 128 token để tạo vector
→ phần còn lại có thể không ảnh hưởng tới vector.</a:t>
            </a:r>
          </a:p>
        </p:txBody>
      </p:sp>
      <p:sp>
        <p:nvSpPr>
          <p:cNvPr id="12" name="Rounded Rectangle 11"/>
          <p:cNvSpPr/>
          <p:nvPr/>
        </p:nvSpPr>
        <p:spPr>
          <a:xfrm>
            <a:off x="6263640" y="1554480"/>
            <a:ext cx="5074920" cy="1554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554480"/>
            <a:ext cx="73152" cy="1554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664207"/>
            <a:ext cx="4754880" cy="256032"/>
          </a:xfrm>
          <a:prstGeom prst="rect">
            <a:avLst/>
          </a:prstGeom>
          <a:noFill/>
        </p:spPr>
        <p:txBody>
          <a:bodyPr wrap="square" anchor="ctr">
            <a:spAutoFit/>
          </a:bodyPr>
          <a:lstStyle/>
          <a:p>
            <a:pPr algn="l"/>
            <a:r>
              <a:rPr sz="1300" b="1">
                <a:solidFill>
                  <a:srgbClr val="0F172A"/>
                </a:solidFill>
                <a:latin typeface="Arial"/>
              </a:rPr>
              <a:t>Tỷ lệ chunk dài hơn 128 token</a:t>
            </a:r>
          </a:p>
        </p:txBody>
      </p:sp>
      <p:sp>
        <p:nvSpPr>
          <p:cNvPr id="15" name="TextBox 14"/>
          <p:cNvSpPr txBox="1"/>
          <p:nvPr/>
        </p:nvSpPr>
        <p:spPr>
          <a:xfrm>
            <a:off x="6464807" y="2029967"/>
            <a:ext cx="4754880" cy="384048"/>
          </a:xfrm>
          <a:prstGeom prst="rect">
            <a:avLst/>
          </a:prstGeom>
          <a:noFill/>
        </p:spPr>
        <p:txBody>
          <a:bodyPr wrap="square" anchor="ctr">
            <a:spAutoFit/>
          </a:bodyPr>
          <a:lstStyle/>
          <a:p>
            <a:pPr algn="l"/>
            <a:r>
              <a:rPr sz="2600" b="1">
                <a:solidFill>
                  <a:srgbClr val="0D9488"/>
                </a:solidFill>
                <a:latin typeface="Arial"/>
              </a:rPr>
              <a:t>Ours dài hơn</a:t>
            </a:r>
          </a:p>
        </p:txBody>
      </p:sp>
      <p:sp>
        <p:nvSpPr>
          <p:cNvPr id="16" name="TextBox 15"/>
          <p:cNvSpPr txBox="1"/>
          <p:nvPr/>
        </p:nvSpPr>
        <p:spPr>
          <a:xfrm>
            <a:off x="6464807" y="2459735"/>
            <a:ext cx="4754880" cy="539496"/>
          </a:xfrm>
          <a:prstGeom prst="rect">
            <a:avLst/>
          </a:prstGeom>
          <a:noFill/>
        </p:spPr>
        <p:txBody>
          <a:bodyPr wrap="square" anchor="t">
            <a:spAutoFit/>
          </a:bodyPr>
          <a:lstStyle/>
          <a:p>
            <a:pPr algn="l"/>
            <a:r>
              <a:rPr sz="1300" b="0">
                <a:solidFill>
                  <a:srgbClr val="475569"/>
                </a:solidFill>
                <a:latin typeface="Arial"/>
              </a:rPr>
              <a:t>Context gốc: Max–Min 13.04% • Ours 86.73%
Ghép dài: Max–Min 14.39% • Ours 97.91%</a:t>
            </a:r>
          </a:p>
        </p:txBody>
      </p:sp>
      <p:sp>
        <p:nvSpPr>
          <p:cNvPr id="17" name="Rounded Rectangle 16"/>
          <p:cNvSpPr/>
          <p:nvPr/>
        </p:nvSpPr>
        <p:spPr>
          <a:xfrm>
            <a:off x="822960" y="3520440"/>
            <a:ext cx="507492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 y="3520440"/>
            <a:ext cx="73152" cy="1417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3630168"/>
            <a:ext cx="4754880" cy="256032"/>
          </a:xfrm>
          <a:prstGeom prst="rect">
            <a:avLst/>
          </a:prstGeom>
          <a:noFill/>
        </p:spPr>
        <p:txBody>
          <a:bodyPr wrap="square" anchor="ctr">
            <a:spAutoFit/>
          </a:bodyPr>
          <a:lstStyle/>
          <a:p>
            <a:pPr algn="l"/>
            <a:r>
              <a:rPr sz="1300" b="1">
                <a:solidFill>
                  <a:srgbClr val="0F172A"/>
                </a:solidFill>
                <a:latin typeface="Arial"/>
              </a:rPr>
              <a:t>Điều có thể xảy ra</a:t>
            </a:r>
          </a:p>
        </p:txBody>
      </p:sp>
      <p:sp>
        <p:nvSpPr>
          <p:cNvPr id="20" name="TextBox 19"/>
          <p:cNvSpPr txBox="1"/>
          <p:nvPr/>
        </p:nvSpPr>
        <p:spPr>
          <a:xfrm>
            <a:off x="1024128" y="3995928"/>
            <a:ext cx="4754880" cy="832104"/>
          </a:xfrm>
          <a:prstGeom prst="rect">
            <a:avLst/>
          </a:prstGeom>
          <a:noFill/>
        </p:spPr>
        <p:txBody>
          <a:bodyPr wrap="square" anchor="t">
            <a:spAutoFit/>
          </a:bodyPr>
          <a:lstStyle/>
          <a:p>
            <a:pPr algn="l"/>
            <a:r>
              <a:rPr sz="1300" b="0">
                <a:solidFill>
                  <a:srgbClr val="475569"/>
                </a:solidFill>
                <a:latin typeface="Arial"/>
              </a:rPr>
              <a:t>Nếu thông tin quan trọng nằm ở cuối một chunk quá dài, vector embedding có thể không phản ánh đầy đủ phần đó.</a:t>
            </a:r>
          </a:p>
        </p:txBody>
      </p:sp>
      <p:sp>
        <p:nvSpPr>
          <p:cNvPr id="21" name="Rounded Rectangle 20"/>
          <p:cNvSpPr/>
          <p:nvPr/>
        </p:nvSpPr>
        <p:spPr>
          <a:xfrm>
            <a:off x="6263640" y="3520440"/>
            <a:ext cx="507492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63640" y="3520440"/>
            <a:ext cx="73152"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7" y="3630168"/>
            <a:ext cx="4754880" cy="256032"/>
          </a:xfrm>
          <a:prstGeom prst="rect">
            <a:avLst/>
          </a:prstGeom>
          <a:noFill/>
        </p:spPr>
        <p:txBody>
          <a:bodyPr wrap="square" anchor="ctr">
            <a:spAutoFit/>
          </a:bodyPr>
          <a:lstStyle/>
          <a:p>
            <a:pPr algn="l"/>
            <a:r>
              <a:rPr sz="1300" b="1">
                <a:solidFill>
                  <a:srgbClr val="0F172A"/>
                </a:solidFill>
                <a:latin typeface="Arial"/>
              </a:rPr>
              <a:t>Điều chưa được chứng minh</a:t>
            </a:r>
          </a:p>
        </p:txBody>
      </p:sp>
      <p:sp>
        <p:nvSpPr>
          <p:cNvPr id="24" name="TextBox 23"/>
          <p:cNvSpPr txBox="1"/>
          <p:nvPr/>
        </p:nvSpPr>
        <p:spPr>
          <a:xfrm>
            <a:off x="6464807" y="3995928"/>
            <a:ext cx="4754880" cy="832104"/>
          </a:xfrm>
          <a:prstGeom prst="rect">
            <a:avLst/>
          </a:prstGeom>
          <a:noFill/>
        </p:spPr>
        <p:txBody>
          <a:bodyPr wrap="square" anchor="t">
            <a:spAutoFit/>
          </a:bodyPr>
          <a:lstStyle/>
          <a:p>
            <a:pPr algn="l"/>
            <a:r>
              <a:rPr sz="1300" b="0">
                <a:solidFill>
                  <a:srgbClr val="475569"/>
                </a:solidFill>
                <a:latin typeface="Arial"/>
              </a:rPr>
              <a:t>Chúng ta chưa đo chính xác câu bằng chứng có nằm ngoài 128 token hay không, nên chưa thể nói đây chắc chắn là nguyên nhân làm Recall giảm.</a:t>
            </a:r>
          </a:p>
        </p:txBody>
      </p:sp>
      <p:sp>
        <p:nvSpPr>
          <p:cNvPr id="25" name="TextBox 24"/>
          <p:cNvSpPr txBox="1"/>
          <p:nvPr/>
        </p:nvSpPr>
        <p:spPr>
          <a:xfrm>
            <a:off x="914400" y="5394960"/>
            <a:ext cx="10332720" cy="548640"/>
          </a:xfrm>
          <a:prstGeom prst="rect">
            <a:avLst/>
          </a:prstGeom>
          <a:noFill/>
        </p:spPr>
        <p:txBody>
          <a:bodyPr wrap="square" anchor="ctr">
            <a:spAutoFit/>
          </a:bodyPr>
          <a:lstStyle/>
          <a:p>
            <a:pPr algn="ctr"/>
            <a:r>
              <a:rPr sz="1250" b="0">
                <a:solidFill>
                  <a:srgbClr val="475569"/>
                </a:solidFill>
                <a:latin typeface="Arial"/>
              </a:rPr>
              <a:t>Thuật ngữ kỹ thuật: hiện tượng phần văn bản vượt giới hạn bị cắt trước khi encode được gọi là “truncation”.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Bằng chứng bị cắt mất hay chỉ chưa được tìm thấy?</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“Bằng chứng” = câu trong tài liệu nguồn chứa đáp án chuẩn</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PHÂN TÍCH LỖI</a:t>
            </a:r>
          </a:p>
        </p:txBody>
      </p:sp>
      <p:sp>
        <p:nvSpPr>
          <p:cNvPr id="6" name="TextBox 5"/>
          <p:cNvSpPr txBox="1"/>
          <p:nvPr/>
        </p:nvSpPr>
        <p:spPr>
          <a:xfrm>
            <a:off x="11658599" y="6369130"/>
            <a:ext cx="390525" cy="246221"/>
          </a:xfrm>
          <a:prstGeom prst="rect">
            <a:avLst/>
          </a:prstGeom>
          <a:noFill/>
        </p:spPr>
        <p:txBody>
          <a:bodyPr wrap="square" anchor="ctr">
            <a:spAutoFit/>
          </a:bodyPr>
          <a:lstStyle/>
          <a:p>
            <a:pPr algn="r"/>
            <a:r>
              <a:rPr sz="1000" b="0">
                <a:solidFill>
                  <a:srgbClr val="475569"/>
                </a:solidFill>
                <a:latin typeface="Arial"/>
              </a:rPr>
              <a:t>17</a:t>
            </a:r>
          </a:p>
        </p:txBody>
      </p:sp>
      <p:sp>
        <p:nvSpPr>
          <p:cNvPr id="7" name="Rounded Rectangle 6"/>
          <p:cNvSpPr/>
          <p:nvPr/>
        </p:nvSpPr>
        <p:spPr>
          <a:xfrm>
            <a:off x="731520" y="1554480"/>
            <a:ext cx="525780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54480"/>
            <a:ext cx="73152" cy="141732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664207"/>
            <a:ext cx="4937760" cy="256032"/>
          </a:xfrm>
          <a:prstGeom prst="rect">
            <a:avLst/>
          </a:prstGeom>
          <a:noFill/>
        </p:spPr>
        <p:txBody>
          <a:bodyPr wrap="square" anchor="ctr">
            <a:spAutoFit/>
          </a:bodyPr>
          <a:lstStyle/>
          <a:p>
            <a:pPr algn="l"/>
            <a:r>
              <a:rPr sz="1300" b="1">
                <a:solidFill>
                  <a:srgbClr val="0F172A"/>
                </a:solidFill>
                <a:latin typeface="Arial"/>
              </a:rPr>
              <a:t>Loại 1 — Bằng chứng bị chia/cắt</a:t>
            </a:r>
          </a:p>
        </p:txBody>
      </p:sp>
      <p:sp>
        <p:nvSpPr>
          <p:cNvPr id="10" name="TextBox 9"/>
          <p:cNvSpPr txBox="1"/>
          <p:nvPr/>
        </p:nvSpPr>
        <p:spPr>
          <a:xfrm>
            <a:off x="932688" y="2029967"/>
            <a:ext cx="4937760" cy="384048"/>
          </a:xfrm>
          <a:prstGeom prst="rect">
            <a:avLst/>
          </a:prstGeom>
          <a:noFill/>
        </p:spPr>
        <p:txBody>
          <a:bodyPr wrap="square" anchor="ctr">
            <a:spAutoFit/>
          </a:bodyPr>
          <a:lstStyle/>
          <a:p>
            <a:pPr algn="l"/>
            <a:r>
              <a:rPr sz="2600" b="1">
                <a:solidFill>
                  <a:srgbClr val="B91C1C"/>
                </a:solidFill>
                <a:latin typeface="Arial"/>
              </a:rPr>
              <a:t>MẤT BẰNG CHỨNG</a:t>
            </a:r>
          </a:p>
        </p:txBody>
      </p:sp>
      <p:sp>
        <p:nvSpPr>
          <p:cNvPr id="11" name="TextBox 10"/>
          <p:cNvSpPr txBox="1"/>
          <p:nvPr/>
        </p:nvSpPr>
        <p:spPr>
          <a:xfrm>
            <a:off x="932688" y="2459735"/>
            <a:ext cx="4937760" cy="402336"/>
          </a:xfrm>
          <a:prstGeom prst="rect">
            <a:avLst/>
          </a:prstGeom>
          <a:noFill/>
        </p:spPr>
        <p:txBody>
          <a:bodyPr wrap="square" anchor="t">
            <a:spAutoFit/>
          </a:bodyPr>
          <a:lstStyle/>
          <a:p>
            <a:pPr algn="l"/>
            <a:r>
              <a:rPr sz="1300" b="0">
                <a:solidFill>
                  <a:srgbClr val="475569"/>
                </a:solidFill>
                <a:latin typeface="Arial"/>
              </a:rPr>
              <a:t>Không có chunk nào chứa trọn câu bằng chứng. Đây là lỗi trực tiếp do cách chia chunk.</a:t>
            </a:r>
          </a:p>
        </p:txBody>
      </p:sp>
      <p:sp>
        <p:nvSpPr>
          <p:cNvPr id="12" name="Rounded Rectangle 11"/>
          <p:cNvSpPr/>
          <p:nvPr/>
        </p:nvSpPr>
        <p:spPr>
          <a:xfrm>
            <a:off x="6217920" y="1554480"/>
            <a:ext cx="525780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554480"/>
            <a:ext cx="73152" cy="1417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664207"/>
            <a:ext cx="4937760" cy="256032"/>
          </a:xfrm>
          <a:prstGeom prst="rect">
            <a:avLst/>
          </a:prstGeom>
          <a:noFill/>
        </p:spPr>
        <p:txBody>
          <a:bodyPr wrap="square" anchor="ctr">
            <a:spAutoFit/>
          </a:bodyPr>
          <a:lstStyle/>
          <a:p>
            <a:pPr algn="l"/>
            <a:r>
              <a:rPr sz="1300" b="1">
                <a:solidFill>
                  <a:srgbClr val="0F172A"/>
                </a:solidFill>
                <a:latin typeface="Arial"/>
              </a:rPr>
              <a:t>Loại 2 — Có bằng chứng nhưng xếp hạng thấp</a:t>
            </a:r>
          </a:p>
        </p:txBody>
      </p:sp>
      <p:sp>
        <p:nvSpPr>
          <p:cNvPr id="15" name="TextBox 14"/>
          <p:cNvSpPr txBox="1"/>
          <p:nvPr/>
        </p:nvSpPr>
        <p:spPr>
          <a:xfrm>
            <a:off x="6419088" y="2029967"/>
            <a:ext cx="4937760" cy="384048"/>
          </a:xfrm>
          <a:prstGeom prst="rect">
            <a:avLst/>
          </a:prstGeom>
          <a:noFill/>
        </p:spPr>
        <p:txBody>
          <a:bodyPr wrap="square" anchor="ctr">
            <a:spAutoFit/>
          </a:bodyPr>
          <a:lstStyle/>
          <a:p>
            <a:pPr algn="l"/>
            <a:r>
              <a:rPr sz="2600" b="1">
                <a:solidFill>
                  <a:srgbClr val="B45309"/>
                </a:solidFill>
                <a:latin typeface="Arial"/>
              </a:rPr>
              <a:t>KHÔNG VÀO TOP-5</a:t>
            </a:r>
          </a:p>
        </p:txBody>
      </p:sp>
      <p:sp>
        <p:nvSpPr>
          <p:cNvPr id="16" name="TextBox 15"/>
          <p:cNvSpPr txBox="1"/>
          <p:nvPr/>
        </p:nvSpPr>
        <p:spPr>
          <a:xfrm>
            <a:off x="6419088" y="2459735"/>
            <a:ext cx="4937760" cy="402336"/>
          </a:xfrm>
          <a:prstGeom prst="rect">
            <a:avLst/>
          </a:prstGeom>
          <a:noFill/>
        </p:spPr>
        <p:txBody>
          <a:bodyPr wrap="square" anchor="t">
            <a:spAutoFit/>
          </a:bodyPr>
          <a:lstStyle/>
          <a:p>
            <a:pPr algn="l"/>
            <a:r>
              <a:rPr sz="1300" b="0">
                <a:solidFill>
                  <a:srgbClr val="475569"/>
                </a:solidFill>
                <a:latin typeface="Arial"/>
              </a:rPr>
              <a:t>Chunk chứa đầy đủ bằng chứng vẫn tồn tại, nhưng không nằm trong 5 kết quả đầu.</a:t>
            </a:r>
          </a:p>
        </p:txBody>
      </p:sp>
      <p:sp>
        <p:nvSpPr>
          <p:cNvPr id="17" name="Rounded Rectangle 16"/>
          <p:cNvSpPr/>
          <p:nvPr/>
        </p:nvSpPr>
        <p:spPr>
          <a:xfrm>
            <a:off x="868680" y="3429000"/>
            <a:ext cx="4983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68680" y="3429000"/>
            <a:ext cx="73152" cy="13258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9848" y="3538728"/>
            <a:ext cx="4663440" cy="256032"/>
          </a:xfrm>
          <a:prstGeom prst="rect">
            <a:avLst/>
          </a:prstGeom>
          <a:noFill/>
        </p:spPr>
        <p:txBody>
          <a:bodyPr wrap="square" anchor="ctr">
            <a:spAutoFit/>
          </a:bodyPr>
          <a:lstStyle/>
          <a:p>
            <a:pPr algn="l"/>
            <a:r>
              <a:rPr sz="1300" b="1">
                <a:solidFill>
                  <a:srgbClr val="0F172A"/>
                </a:solidFill>
                <a:latin typeface="Arial"/>
              </a:rPr>
              <a:t>Văn bản ghép dài — Max–Min</a:t>
            </a:r>
          </a:p>
        </p:txBody>
      </p:sp>
      <p:sp>
        <p:nvSpPr>
          <p:cNvPr id="20" name="TextBox 19"/>
          <p:cNvSpPr txBox="1"/>
          <p:nvPr/>
        </p:nvSpPr>
        <p:spPr>
          <a:xfrm>
            <a:off x="1069848" y="3904487"/>
            <a:ext cx="4663440" cy="740664"/>
          </a:xfrm>
          <a:prstGeom prst="rect">
            <a:avLst/>
          </a:prstGeom>
          <a:noFill/>
        </p:spPr>
        <p:txBody>
          <a:bodyPr wrap="square" anchor="t">
            <a:spAutoFit/>
          </a:bodyPr>
          <a:lstStyle/>
          <a:p>
            <a:pPr algn="l"/>
            <a:r>
              <a:rPr sz="1300" b="0">
                <a:solidFill>
                  <a:srgbClr val="475569"/>
                </a:solidFill>
                <a:latin typeface="Arial"/>
              </a:rPr>
              <a:t>11 câu hỏi bị mất bằng chứng do chia chunk
130 câu có bằng chứng nhưng không vào top-5</a:t>
            </a:r>
          </a:p>
        </p:txBody>
      </p:sp>
      <p:sp>
        <p:nvSpPr>
          <p:cNvPr id="21" name="Rounded Rectangle 20"/>
          <p:cNvSpPr/>
          <p:nvPr/>
        </p:nvSpPr>
        <p:spPr>
          <a:xfrm>
            <a:off x="6263640" y="3429000"/>
            <a:ext cx="4983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63640" y="3429000"/>
            <a:ext cx="73152" cy="13258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7" y="3538728"/>
            <a:ext cx="4663440" cy="256032"/>
          </a:xfrm>
          <a:prstGeom prst="rect">
            <a:avLst/>
          </a:prstGeom>
          <a:noFill/>
        </p:spPr>
        <p:txBody>
          <a:bodyPr wrap="square" anchor="ctr">
            <a:spAutoFit/>
          </a:bodyPr>
          <a:lstStyle/>
          <a:p>
            <a:pPr algn="l"/>
            <a:r>
              <a:rPr sz="1300" b="1">
                <a:solidFill>
                  <a:srgbClr val="0F172A"/>
                </a:solidFill>
                <a:latin typeface="Arial"/>
              </a:rPr>
              <a:t>Văn bản ghép dài — Ours</a:t>
            </a:r>
          </a:p>
        </p:txBody>
      </p:sp>
      <p:sp>
        <p:nvSpPr>
          <p:cNvPr id="24" name="TextBox 23"/>
          <p:cNvSpPr txBox="1"/>
          <p:nvPr/>
        </p:nvSpPr>
        <p:spPr>
          <a:xfrm>
            <a:off x="6464807" y="3904487"/>
            <a:ext cx="4663440" cy="740664"/>
          </a:xfrm>
          <a:prstGeom prst="rect">
            <a:avLst/>
          </a:prstGeom>
          <a:noFill/>
        </p:spPr>
        <p:txBody>
          <a:bodyPr wrap="square" anchor="t">
            <a:spAutoFit/>
          </a:bodyPr>
          <a:lstStyle/>
          <a:p>
            <a:pPr algn="l"/>
            <a:r>
              <a:rPr sz="1300" b="0">
                <a:solidFill>
                  <a:srgbClr val="475569"/>
                </a:solidFill>
                <a:latin typeface="Arial"/>
              </a:rPr>
              <a:t>0 câu hỏi bị mất bằng chứng do chia chunk
186 câu có bằng chứng nhưng không vào top-5</a:t>
            </a:r>
          </a:p>
        </p:txBody>
      </p:sp>
      <p:sp>
        <p:nvSpPr>
          <p:cNvPr id="25" name="TextBox 24"/>
          <p:cNvSpPr txBox="1"/>
          <p:nvPr/>
        </p:nvSpPr>
        <p:spPr>
          <a:xfrm>
            <a:off x="914400" y="5257800"/>
            <a:ext cx="10332720" cy="621792"/>
          </a:xfrm>
          <a:prstGeom prst="rect">
            <a:avLst/>
          </a:prstGeom>
          <a:noFill/>
        </p:spPr>
        <p:txBody>
          <a:bodyPr wrap="square" anchor="ctr">
            <a:spAutoFit/>
          </a:bodyPr>
          <a:lstStyle/>
          <a:p>
            <a:pPr algn="ctr"/>
            <a:r>
              <a:rPr sz="1300" b="1">
                <a:solidFill>
                  <a:srgbClr val="0F172A"/>
                </a:solidFill>
                <a:latin typeface="Arial"/>
              </a:rPr>
              <a:t>Ý nghĩa: Ours giữ nguyên câu bằng chứng rất tốt, nhưng trên tài liệu dài, chunk chứa bằng chứng lại khó được retriever xếp vào top-5.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Kiểm tra luật liên kết câu tiếng Việt</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Ví dụ: không nên cắt giữa “Nếu …” và “Thì …”</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KIỂM TRA NHỎ</a:t>
            </a:r>
          </a:p>
        </p:txBody>
      </p:sp>
      <p:sp>
        <p:nvSpPr>
          <p:cNvPr id="6" name="TextBox 5"/>
          <p:cNvSpPr txBox="1"/>
          <p:nvPr/>
        </p:nvSpPr>
        <p:spPr>
          <a:xfrm>
            <a:off x="11658600" y="6369130"/>
            <a:ext cx="533400" cy="246221"/>
          </a:xfrm>
          <a:prstGeom prst="rect">
            <a:avLst/>
          </a:prstGeom>
          <a:noFill/>
        </p:spPr>
        <p:txBody>
          <a:bodyPr wrap="square" anchor="ctr">
            <a:spAutoFit/>
          </a:bodyPr>
          <a:lstStyle/>
          <a:p>
            <a:pPr algn="r"/>
            <a:r>
              <a:rPr sz="1000" b="0">
                <a:solidFill>
                  <a:srgbClr val="475569"/>
                </a:solidFill>
                <a:latin typeface="Arial"/>
              </a:rPr>
              <a:t>18</a:t>
            </a:r>
          </a:p>
        </p:txBody>
      </p:sp>
      <p:sp>
        <p:nvSpPr>
          <p:cNvPr id="7" name="Rounded Rectangle 6"/>
          <p:cNvSpPr/>
          <p:nvPr/>
        </p:nvSpPr>
        <p:spPr>
          <a:xfrm>
            <a:off x="868680" y="1645920"/>
            <a:ext cx="498348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1645920"/>
            <a:ext cx="73152" cy="14173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1755648"/>
            <a:ext cx="4663440" cy="256032"/>
          </a:xfrm>
          <a:prstGeom prst="rect">
            <a:avLst/>
          </a:prstGeom>
          <a:noFill/>
        </p:spPr>
        <p:txBody>
          <a:bodyPr wrap="square" anchor="ctr">
            <a:spAutoFit/>
          </a:bodyPr>
          <a:lstStyle/>
          <a:p>
            <a:pPr algn="l"/>
            <a:r>
              <a:rPr sz="1300" b="1">
                <a:solidFill>
                  <a:srgbClr val="0F172A"/>
                </a:solidFill>
                <a:latin typeface="Arial"/>
              </a:rPr>
              <a:t>Max–Min</a:t>
            </a:r>
          </a:p>
        </p:txBody>
      </p:sp>
      <p:sp>
        <p:nvSpPr>
          <p:cNvPr id="10" name="TextBox 9"/>
          <p:cNvSpPr txBox="1"/>
          <p:nvPr/>
        </p:nvSpPr>
        <p:spPr>
          <a:xfrm>
            <a:off x="1069848" y="2121408"/>
            <a:ext cx="4663440" cy="384048"/>
          </a:xfrm>
          <a:prstGeom prst="rect">
            <a:avLst/>
          </a:prstGeom>
          <a:noFill/>
        </p:spPr>
        <p:txBody>
          <a:bodyPr wrap="square" anchor="ctr">
            <a:spAutoFit/>
          </a:bodyPr>
          <a:lstStyle/>
          <a:p>
            <a:pPr algn="l"/>
            <a:r>
              <a:rPr sz="2600" b="1">
                <a:solidFill>
                  <a:srgbClr val="64748B"/>
                </a:solidFill>
                <a:latin typeface="Arial"/>
              </a:rPr>
              <a:t>2 / 3</a:t>
            </a:r>
          </a:p>
        </p:txBody>
      </p:sp>
      <p:sp>
        <p:nvSpPr>
          <p:cNvPr id="11" name="TextBox 10"/>
          <p:cNvSpPr txBox="1"/>
          <p:nvPr/>
        </p:nvSpPr>
        <p:spPr>
          <a:xfrm>
            <a:off x="1069848" y="2551176"/>
            <a:ext cx="4663440" cy="402336"/>
          </a:xfrm>
          <a:prstGeom prst="rect">
            <a:avLst/>
          </a:prstGeom>
          <a:noFill/>
        </p:spPr>
        <p:txBody>
          <a:bodyPr wrap="square" anchor="t">
            <a:spAutoFit/>
          </a:bodyPr>
          <a:lstStyle/>
          <a:p>
            <a:pPr algn="l"/>
            <a:r>
              <a:rPr sz="1300" b="0" dirty="0" err="1">
                <a:solidFill>
                  <a:srgbClr val="475569"/>
                </a:solidFill>
                <a:latin typeface="Arial"/>
              </a:rPr>
              <a:t>Cắt</a:t>
            </a:r>
            <a:r>
              <a:rPr sz="1300" b="0" dirty="0">
                <a:solidFill>
                  <a:srgbClr val="475569"/>
                </a:solidFill>
                <a:latin typeface="Arial"/>
              </a:rPr>
              <a:t> </a:t>
            </a:r>
            <a:r>
              <a:rPr sz="1300" b="0" dirty="0" err="1">
                <a:solidFill>
                  <a:srgbClr val="475569"/>
                </a:solidFill>
                <a:latin typeface="Arial"/>
              </a:rPr>
              <a:t>sai</a:t>
            </a:r>
            <a:r>
              <a:rPr sz="1300" b="0" dirty="0">
                <a:solidFill>
                  <a:srgbClr val="475569"/>
                </a:solidFill>
                <a:latin typeface="Arial"/>
              </a:rPr>
              <a:t> 2 </a:t>
            </a:r>
            <a:r>
              <a:rPr sz="1300" b="0" dirty="0" err="1">
                <a:solidFill>
                  <a:srgbClr val="475569"/>
                </a:solidFill>
                <a:latin typeface="Arial"/>
              </a:rPr>
              <a:t>trong</a:t>
            </a:r>
            <a:r>
              <a:rPr sz="1300" b="0" dirty="0">
                <a:solidFill>
                  <a:srgbClr val="475569"/>
                </a:solidFill>
                <a:latin typeface="Arial"/>
              </a:rPr>
              <a:t> 3 </a:t>
            </a:r>
            <a:r>
              <a:rPr sz="1300" b="0" dirty="0" err="1">
                <a:solidFill>
                  <a:srgbClr val="475569"/>
                </a:solidFill>
                <a:latin typeface="Arial"/>
              </a:rPr>
              <a:t>ranh</a:t>
            </a:r>
            <a:r>
              <a:rPr sz="1300" b="0" dirty="0">
                <a:solidFill>
                  <a:srgbClr val="475569"/>
                </a:solidFill>
                <a:latin typeface="Arial"/>
              </a:rPr>
              <a:t> </a:t>
            </a:r>
            <a:r>
              <a:rPr sz="1300" b="0" dirty="0" err="1">
                <a:solidFill>
                  <a:srgbClr val="475569"/>
                </a:solidFill>
                <a:latin typeface="Arial"/>
              </a:rPr>
              <a:t>giới</a:t>
            </a:r>
            <a:r>
              <a:rPr sz="1300" b="0" dirty="0">
                <a:solidFill>
                  <a:srgbClr val="475569"/>
                </a:solidFill>
                <a:latin typeface="Arial"/>
              </a:rPr>
              <a:t> </a:t>
            </a:r>
            <a:r>
              <a:rPr sz="1300" b="0" dirty="0" err="1">
                <a:solidFill>
                  <a:srgbClr val="475569"/>
                </a:solidFill>
                <a:latin typeface="Arial"/>
              </a:rPr>
              <a:t>được</a:t>
            </a:r>
            <a:r>
              <a:rPr sz="1300" b="0" dirty="0">
                <a:solidFill>
                  <a:srgbClr val="475569"/>
                </a:solidFill>
                <a:latin typeface="Arial"/>
              </a:rPr>
              <a:t> </a:t>
            </a:r>
            <a:r>
              <a:rPr sz="1300" b="0" dirty="0" err="1">
                <a:solidFill>
                  <a:srgbClr val="475569"/>
                </a:solidFill>
                <a:latin typeface="Arial"/>
              </a:rPr>
              <a:t>gán</a:t>
            </a:r>
            <a:r>
              <a:rPr sz="1300" b="0" dirty="0">
                <a:solidFill>
                  <a:srgbClr val="475569"/>
                </a:solidFill>
                <a:latin typeface="Arial"/>
              </a:rPr>
              <a:t> </a:t>
            </a:r>
            <a:r>
              <a:rPr sz="1300" b="0" dirty="0" err="1">
                <a:solidFill>
                  <a:srgbClr val="475569"/>
                </a:solidFill>
                <a:latin typeface="Arial"/>
              </a:rPr>
              <a:t>nhãn</a:t>
            </a:r>
            <a:r>
              <a:rPr sz="1300" b="0" dirty="0">
                <a:solidFill>
                  <a:srgbClr val="475569"/>
                </a:solidFill>
                <a:latin typeface="Arial"/>
              </a:rPr>
              <a:t>.</a:t>
            </a:r>
          </a:p>
        </p:txBody>
      </p:sp>
      <p:sp>
        <p:nvSpPr>
          <p:cNvPr id="12" name="Rounded Rectangle 11"/>
          <p:cNvSpPr/>
          <p:nvPr/>
        </p:nvSpPr>
        <p:spPr>
          <a:xfrm>
            <a:off x="6263640" y="1645920"/>
            <a:ext cx="4983480" cy="1417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45920"/>
            <a:ext cx="73152"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755648"/>
            <a:ext cx="4663440" cy="256032"/>
          </a:xfrm>
          <a:prstGeom prst="rect">
            <a:avLst/>
          </a:prstGeom>
          <a:noFill/>
        </p:spPr>
        <p:txBody>
          <a:bodyPr wrap="square" anchor="ctr">
            <a:spAutoFit/>
          </a:bodyPr>
          <a:lstStyle/>
          <a:p>
            <a:pPr algn="l"/>
            <a:r>
              <a:rPr sz="1300" b="1">
                <a:solidFill>
                  <a:srgbClr val="0F172A"/>
                </a:solidFill>
                <a:latin typeface="Arial"/>
              </a:rPr>
              <a:t>Ours</a:t>
            </a:r>
          </a:p>
        </p:txBody>
      </p:sp>
      <p:sp>
        <p:nvSpPr>
          <p:cNvPr id="15" name="TextBox 14"/>
          <p:cNvSpPr txBox="1"/>
          <p:nvPr/>
        </p:nvSpPr>
        <p:spPr>
          <a:xfrm>
            <a:off x="6464807" y="2121408"/>
            <a:ext cx="4663440" cy="384048"/>
          </a:xfrm>
          <a:prstGeom prst="rect">
            <a:avLst/>
          </a:prstGeom>
          <a:noFill/>
        </p:spPr>
        <p:txBody>
          <a:bodyPr wrap="square" anchor="ctr">
            <a:spAutoFit/>
          </a:bodyPr>
          <a:lstStyle/>
          <a:p>
            <a:pPr algn="l"/>
            <a:r>
              <a:rPr sz="2600" b="1">
                <a:solidFill>
                  <a:srgbClr val="0D9488"/>
                </a:solidFill>
                <a:latin typeface="Arial"/>
              </a:rPr>
              <a:t>0 / 3</a:t>
            </a:r>
          </a:p>
        </p:txBody>
      </p:sp>
      <p:sp>
        <p:nvSpPr>
          <p:cNvPr id="16" name="TextBox 15"/>
          <p:cNvSpPr txBox="1"/>
          <p:nvPr/>
        </p:nvSpPr>
        <p:spPr>
          <a:xfrm>
            <a:off x="6464807" y="2551176"/>
            <a:ext cx="4663440" cy="402336"/>
          </a:xfrm>
          <a:prstGeom prst="rect">
            <a:avLst/>
          </a:prstGeom>
          <a:noFill/>
        </p:spPr>
        <p:txBody>
          <a:bodyPr wrap="square" anchor="t">
            <a:spAutoFit/>
          </a:bodyPr>
          <a:lstStyle/>
          <a:p>
            <a:pPr algn="l"/>
            <a:r>
              <a:rPr sz="1300" b="0">
                <a:solidFill>
                  <a:srgbClr val="475569"/>
                </a:solidFill>
                <a:latin typeface="Arial"/>
              </a:rPr>
              <a:t>Không cắt sai trong 3 ranh giới này.</a:t>
            </a:r>
          </a:p>
        </p:txBody>
      </p:sp>
      <p:sp>
        <p:nvSpPr>
          <p:cNvPr id="17" name="Rounded Rectangle 16"/>
          <p:cNvSpPr/>
          <p:nvPr/>
        </p:nvSpPr>
        <p:spPr>
          <a:xfrm>
            <a:off x="914400" y="3520440"/>
            <a:ext cx="1028700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4400" y="3520440"/>
            <a:ext cx="73152" cy="13258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5568" y="3630168"/>
            <a:ext cx="9966960" cy="256032"/>
          </a:xfrm>
          <a:prstGeom prst="rect">
            <a:avLst/>
          </a:prstGeom>
          <a:noFill/>
        </p:spPr>
        <p:txBody>
          <a:bodyPr wrap="square" anchor="ctr">
            <a:spAutoFit/>
          </a:bodyPr>
          <a:lstStyle/>
          <a:p>
            <a:pPr algn="l"/>
            <a:r>
              <a:rPr sz="1300" b="1">
                <a:solidFill>
                  <a:srgbClr val="0F172A"/>
                </a:solidFill>
                <a:latin typeface="Arial"/>
              </a:rPr>
              <a:t>Nhưng chưa thể kết luận luật dependency là nguyên nhân</a:t>
            </a:r>
          </a:p>
        </p:txBody>
      </p:sp>
      <p:sp>
        <p:nvSpPr>
          <p:cNvPr id="20" name="TextBox 19"/>
          <p:cNvSpPr txBox="1"/>
          <p:nvPr/>
        </p:nvSpPr>
        <p:spPr>
          <a:xfrm>
            <a:off x="1115568" y="3995928"/>
            <a:ext cx="9966960" cy="584775"/>
          </a:xfrm>
          <a:prstGeom prst="rect">
            <a:avLst/>
          </a:prstGeom>
          <a:noFill/>
        </p:spPr>
        <p:txBody>
          <a:bodyPr wrap="square" anchor="t">
            <a:spAutoFit/>
          </a:bodyPr>
          <a:lstStyle/>
          <a:p>
            <a:pPr algn="l"/>
            <a:r>
              <a:rPr sz="1600" b="0" dirty="0">
                <a:solidFill>
                  <a:srgbClr val="475569"/>
                </a:solidFill>
                <a:latin typeface="Arial"/>
              </a:rPr>
              <a:t>Ba </a:t>
            </a:r>
            <a:r>
              <a:rPr sz="1600" b="0" dirty="0" err="1">
                <a:solidFill>
                  <a:srgbClr val="475569"/>
                </a:solidFill>
                <a:latin typeface="Arial"/>
              </a:rPr>
              <a:t>mẫu</a:t>
            </a:r>
            <a:r>
              <a:rPr sz="1600" b="0" dirty="0">
                <a:solidFill>
                  <a:srgbClr val="475569"/>
                </a:solidFill>
                <a:latin typeface="Arial"/>
              </a:rPr>
              <a:t> </a:t>
            </a:r>
            <a:r>
              <a:rPr sz="1600" b="0" dirty="0" err="1">
                <a:solidFill>
                  <a:srgbClr val="475569"/>
                </a:solidFill>
                <a:latin typeface="Arial"/>
              </a:rPr>
              <a:t>này</a:t>
            </a:r>
            <a:r>
              <a:rPr sz="1600" b="0" dirty="0">
                <a:solidFill>
                  <a:srgbClr val="475569"/>
                </a:solidFill>
                <a:latin typeface="Arial"/>
              </a:rPr>
              <a:t> </a:t>
            </a:r>
            <a:r>
              <a:rPr sz="1600" b="0" dirty="0" err="1">
                <a:solidFill>
                  <a:srgbClr val="475569"/>
                </a:solidFill>
                <a:latin typeface="Arial"/>
              </a:rPr>
              <a:t>đều</a:t>
            </a:r>
            <a:r>
              <a:rPr sz="1600" b="0" dirty="0">
                <a:solidFill>
                  <a:srgbClr val="475569"/>
                </a:solidFill>
                <a:latin typeface="Arial"/>
              </a:rPr>
              <a:t> </a:t>
            </a:r>
            <a:r>
              <a:rPr sz="1600" b="0" dirty="0" err="1">
                <a:solidFill>
                  <a:srgbClr val="475569"/>
                </a:solidFill>
                <a:latin typeface="Arial"/>
              </a:rPr>
              <a:t>ngắn</a:t>
            </a:r>
            <a:r>
              <a:rPr sz="1600" b="0" dirty="0">
                <a:solidFill>
                  <a:srgbClr val="475569"/>
                </a:solidFill>
                <a:latin typeface="Arial"/>
              </a:rPr>
              <a:t> </a:t>
            </a:r>
            <a:r>
              <a:rPr sz="1600" b="0" dirty="0" err="1">
                <a:solidFill>
                  <a:srgbClr val="475569"/>
                </a:solidFill>
                <a:latin typeface="Arial"/>
              </a:rPr>
              <a:t>hơn</a:t>
            </a:r>
            <a:r>
              <a:rPr sz="1600" b="0" dirty="0">
                <a:solidFill>
                  <a:srgbClr val="475569"/>
                </a:solidFill>
                <a:latin typeface="Arial"/>
              </a:rPr>
              <a:t> 240 </a:t>
            </a:r>
            <a:r>
              <a:rPr sz="1600" b="0" dirty="0" err="1">
                <a:solidFill>
                  <a:srgbClr val="475569"/>
                </a:solidFill>
                <a:latin typeface="Arial"/>
              </a:rPr>
              <a:t>đơn</a:t>
            </a:r>
            <a:r>
              <a:rPr sz="1600" b="0" dirty="0">
                <a:solidFill>
                  <a:srgbClr val="475569"/>
                </a:solidFill>
                <a:latin typeface="Arial"/>
              </a:rPr>
              <a:t> </a:t>
            </a:r>
            <a:r>
              <a:rPr sz="1600" b="0" dirty="0" err="1">
                <a:solidFill>
                  <a:srgbClr val="475569"/>
                </a:solidFill>
                <a:latin typeface="Arial"/>
              </a:rPr>
              <a:t>vị</a:t>
            </a:r>
            <a:r>
              <a:rPr sz="1600" b="0" dirty="0">
                <a:solidFill>
                  <a:srgbClr val="475569"/>
                </a:solidFill>
                <a:latin typeface="Arial"/>
              </a:rPr>
              <a:t> </a:t>
            </a:r>
            <a:r>
              <a:rPr sz="1600" b="0" dirty="0" err="1">
                <a:solidFill>
                  <a:srgbClr val="475569"/>
                </a:solidFill>
                <a:latin typeface="Arial"/>
              </a:rPr>
              <a:t>nên</a:t>
            </a:r>
            <a:r>
              <a:rPr sz="1600" b="0" dirty="0">
                <a:solidFill>
                  <a:srgbClr val="475569"/>
                </a:solidFill>
                <a:latin typeface="Arial"/>
              </a:rPr>
              <a:t> </a:t>
            </a:r>
            <a:r>
              <a:rPr sz="1600" b="0" dirty="0" err="1">
                <a:solidFill>
                  <a:srgbClr val="475569"/>
                </a:solidFill>
                <a:latin typeface="Arial"/>
              </a:rPr>
              <a:t>nhánh</a:t>
            </a:r>
            <a:r>
              <a:rPr sz="1600" b="0" dirty="0">
                <a:solidFill>
                  <a:srgbClr val="475569"/>
                </a:solidFill>
                <a:latin typeface="Arial"/>
              </a:rPr>
              <a:t> penalty </a:t>
            </a:r>
            <a:r>
              <a:rPr sz="1600" b="0" dirty="0" err="1">
                <a:solidFill>
                  <a:srgbClr val="475569"/>
                </a:solidFill>
                <a:latin typeface="Arial"/>
              </a:rPr>
              <a:t>chưa</a:t>
            </a:r>
            <a:r>
              <a:rPr sz="1600" b="0" dirty="0">
                <a:solidFill>
                  <a:srgbClr val="475569"/>
                </a:solidFill>
                <a:latin typeface="Arial"/>
              </a:rPr>
              <a:t> </a:t>
            </a:r>
            <a:r>
              <a:rPr sz="1600" b="0" dirty="0" err="1">
                <a:solidFill>
                  <a:srgbClr val="475569"/>
                </a:solidFill>
                <a:latin typeface="Arial"/>
              </a:rPr>
              <a:t>thực</a:t>
            </a:r>
            <a:r>
              <a:rPr sz="1600" b="0" dirty="0">
                <a:solidFill>
                  <a:srgbClr val="475569"/>
                </a:solidFill>
                <a:latin typeface="Arial"/>
              </a:rPr>
              <a:t> </a:t>
            </a:r>
            <a:r>
              <a:rPr sz="1600" b="0" dirty="0" err="1">
                <a:solidFill>
                  <a:srgbClr val="475569"/>
                </a:solidFill>
                <a:latin typeface="Arial"/>
              </a:rPr>
              <a:t>sự</a:t>
            </a:r>
            <a:r>
              <a:rPr sz="1600" b="0" dirty="0">
                <a:solidFill>
                  <a:srgbClr val="475569"/>
                </a:solidFill>
                <a:latin typeface="Arial"/>
              </a:rPr>
              <a:t> </a:t>
            </a:r>
            <a:r>
              <a:rPr sz="1600" b="0" dirty="0" err="1">
                <a:solidFill>
                  <a:srgbClr val="475569"/>
                </a:solidFill>
                <a:latin typeface="Arial"/>
              </a:rPr>
              <a:t>được</a:t>
            </a:r>
            <a:r>
              <a:rPr sz="1600" b="0" dirty="0">
                <a:solidFill>
                  <a:srgbClr val="475569"/>
                </a:solidFill>
                <a:latin typeface="Arial"/>
              </a:rPr>
              <a:t> </a:t>
            </a:r>
            <a:r>
              <a:rPr sz="1600" b="0" dirty="0" err="1">
                <a:solidFill>
                  <a:srgbClr val="475569"/>
                </a:solidFill>
                <a:latin typeface="Arial"/>
              </a:rPr>
              <a:t>kích</a:t>
            </a:r>
            <a:r>
              <a:rPr sz="1600" b="0" dirty="0">
                <a:solidFill>
                  <a:srgbClr val="475569"/>
                </a:solidFill>
                <a:latin typeface="Arial"/>
              </a:rPr>
              <a:t> </a:t>
            </a:r>
            <a:r>
              <a:rPr sz="1600" b="0" dirty="0" err="1">
                <a:solidFill>
                  <a:srgbClr val="475569"/>
                </a:solidFill>
                <a:latin typeface="Arial"/>
              </a:rPr>
              <a:t>hoạt</a:t>
            </a:r>
            <a:r>
              <a:rPr sz="1600" b="0" dirty="0">
                <a:solidFill>
                  <a:srgbClr val="475569"/>
                </a:solidFill>
                <a:latin typeface="Arial"/>
              </a:rPr>
              <a:t>. </a:t>
            </a:r>
            <a:r>
              <a:rPr sz="1600" b="0" dirty="0" err="1">
                <a:solidFill>
                  <a:srgbClr val="475569"/>
                </a:solidFill>
                <a:latin typeface="Arial"/>
              </a:rPr>
              <a:t>Kết</a:t>
            </a:r>
            <a:r>
              <a:rPr sz="1600" b="0" dirty="0">
                <a:solidFill>
                  <a:srgbClr val="475569"/>
                </a:solidFill>
                <a:latin typeface="Arial"/>
              </a:rPr>
              <a:t> </a:t>
            </a:r>
            <a:r>
              <a:rPr sz="1600" b="0" dirty="0" err="1">
                <a:solidFill>
                  <a:srgbClr val="475569"/>
                </a:solidFill>
                <a:latin typeface="Arial"/>
              </a:rPr>
              <a:t>quả</a:t>
            </a:r>
            <a:r>
              <a:rPr sz="1600" b="0" dirty="0">
                <a:solidFill>
                  <a:srgbClr val="475569"/>
                </a:solidFill>
                <a:latin typeface="Arial"/>
              </a:rPr>
              <a:t> </a:t>
            </a:r>
            <a:r>
              <a:rPr sz="1600" b="0" dirty="0" err="1">
                <a:solidFill>
                  <a:srgbClr val="475569"/>
                </a:solidFill>
                <a:latin typeface="Arial"/>
              </a:rPr>
              <a:t>chỉ</a:t>
            </a:r>
            <a:r>
              <a:rPr sz="1600" b="0" dirty="0">
                <a:solidFill>
                  <a:srgbClr val="475569"/>
                </a:solidFill>
                <a:latin typeface="Arial"/>
              </a:rPr>
              <a:t> </a:t>
            </a:r>
            <a:r>
              <a:rPr sz="1600" b="0" dirty="0" err="1">
                <a:solidFill>
                  <a:srgbClr val="475569"/>
                </a:solidFill>
                <a:latin typeface="Arial"/>
              </a:rPr>
              <a:t>cho</a:t>
            </a:r>
            <a:r>
              <a:rPr sz="1600" b="0" dirty="0">
                <a:solidFill>
                  <a:srgbClr val="475569"/>
                </a:solidFill>
                <a:latin typeface="Arial"/>
              </a:rPr>
              <a:t> </a:t>
            </a:r>
            <a:r>
              <a:rPr sz="1600" b="0" dirty="0" err="1">
                <a:solidFill>
                  <a:srgbClr val="475569"/>
                </a:solidFill>
                <a:latin typeface="Arial"/>
              </a:rPr>
              <a:t>thấy</a:t>
            </a:r>
            <a:r>
              <a:rPr sz="1600" b="0" dirty="0">
                <a:solidFill>
                  <a:srgbClr val="475569"/>
                </a:solidFill>
                <a:latin typeface="Arial"/>
              </a:rPr>
              <a:t> </a:t>
            </a:r>
            <a:r>
              <a:rPr sz="1600" b="0" dirty="0" err="1">
                <a:solidFill>
                  <a:srgbClr val="475569"/>
                </a:solidFill>
                <a:latin typeface="Arial"/>
              </a:rPr>
              <a:t>hành</a:t>
            </a:r>
            <a:r>
              <a:rPr sz="1600" b="0" dirty="0">
                <a:solidFill>
                  <a:srgbClr val="475569"/>
                </a:solidFill>
                <a:latin typeface="Arial"/>
              </a:rPr>
              <a:t> vi </a:t>
            </a:r>
            <a:r>
              <a:rPr sz="1600" b="0" dirty="0" err="1">
                <a:solidFill>
                  <a:srgbClr val="475569"/>
                </a:solidFill>
                <a:latin typeface="Arial"/>
              </a:rPr>
              <a:t>tổng</a:t>
            </a:r>
            <a:r>
              <a:rPr sz="1600" b="0" dirty="0">
                <a:solidFill>
                  <a:srgbClr val="475569"/>
                </a:solidFill>
                <a:latin typeface="Arial"/>
              </a:rPr>
              <a:t> </a:t>
            </a:r>
            <a:r>
              <a:rPr sz="1600" b="0" dirty="0" err="1">
                <a:solidFill>
                  <a:srgbClr val="475569"/>
                </a:solidFill>
                <a:latin typeface="Arial"/>
              </a:rPr>
              <a:t>thể</a:t>
            </a:r>
            <a:r>
              <a:rPr sz="1600" b="0" dirty="0">
                <a:solidFill>
                  <a:srgbClr val="475569"/>
                </a:solidFill>
                <a:latin typeface="Arial"/>
              </a:rPr>
              <a:t> </a:t>
            </a:r>
            <a:r>
              <a:rPr sz="1600" b="0" dirty="0" err="1">
                <a:solidFill>
                  <a:srgbClr val="475569"/>
                </a:solidFill>
                <a:latin typeface="Arial"/>
              </a:rPr>
              <a:t>trên</a:t>
            </a:r>
            <a:r>
              <a:rPr sz="1600" b="0" dirty="0">
                <a:solidFill>
                  <a:srgbClr val="475569"/>
                </a:solidFill>
                <a:latin typeface="Arial"/>
              </a:rPr>
              <a:t> </a:t>
            </a:r>
            <a:r>
              <a:rPr sz="1600" b="0" dirty="0" err="1">
                <a:solidFill>
                  <a:srgbClr val="475569"/>
                </a:solidFill>
                <a:latin typeface="Arial"/>
              </a:rPr>
              <a:t>một</a:t>
            </a:r>
            <a:r>
              <a:rPr sz="1600" b="0" dirty="0">
                <a:solidFill>
                  <a:srgbClr val="475569"/>
                </a:solidFill>
                <a:latin typeface="Arial"/>
              </a:rPr>
              <a:t> </a:t>
            </a:r>
            <a:r>
              <a:rPr sz="1600" b="0" dirty="0" err="1">
                <a:solidFill>
                  <a:srgbClr val="475569"/>
                </a:solidFill>
                <a:latin typeface="Arial"/>
              </a:rPr>
              <a:t>bộ</a:t>
            </a:r>
            <a:r>
              <a:rPr sz="1600" b="0" dirty="0">
                <a:solidFill>
                  <a:srgbClr val="475569"/>
                </a:solidFill>
                <a:latin typeface="Arial"/>
              </a:rPr>
              <a:t> </a:t>
            </a:r>
            <a:r>
              <a:rPr sz="1600" b="0" dirty="0" err="1">
                <a:solidFill>
                  <a:srgbClr val="475569"/>
                </a:solidFill>
                <a:latin typeface="Arial"/>
              </a:rPr>
              <a:t>kiểm</a:t>
            </a:r>
            <a:r>
              <a:rPr sz="1600" b="0" dirty="0">
                <a:solidFill>
                  <a:srgbClr val="475569"/>
                </a:solidFill>
                <a:latin typeface="Arial"/>
              </a:rPr>
              <a:t> </a:t>
            </a:r>
            <a:r>
              <a:rPr sz="1600" b="0" dirty="0" err="1">
                <a:solidFill>
                  <a:srgbClr val="475569"/>
                </a:solidFill>
                <a:latin typeface="Arial"/>
              </a:rPr>
              <a:t>tra</a:t>
            </a:r>
            <a:r>
              <a:rPr sz="1600" b="0" dirty="0">
                <a:solidFill>
                  <a:srgbClr val="475569"/>
                </a:solidFill>
                <a:latin typeface="Arial"/>
              </a:rPr>
              <a:t> </a:t>
            </a:r>
            <a:r>
              <a:rPr sz="1600" b="0" dirty="0" err="1">
                <a:solidFill>
                  <a:srgbClr val="475569"/>
                </a:solidFill>
                <a:latin typeface="Arial"/>
              </a:rPr>
              <a:t>nhỏ</a:t>
            </a:r>
            <a:r>
              <a:rPr sz="1600" b="0" dirty="0">
                <a:solidFill>
                  <a:srgbClr val="475569"/>
                </a:solidFill>
                <a:latin typeface="Arial"/>
              </a:rPr>
              <a:t>, </a:t>
            </a:r>
            <a:r>
              <a:rPr sz="1600" b="0" dirty="0" err="1">
                <a:solidFill>
                  <a:srgbClr val="475569"/>
                </a:solidFill>
                <a:latin typeface="Arial"/>
              </a:rPr>
              <a:t>không</a:t>
            </a:r>
            <a:r>
              <a:rPr sz="1600" b="0" dirty="0">
                <a:solidFill>
                  <a:srgbClr val="475569"/>
                </a:solidFill>
                <a:latin typeface="Arial"/>
              </a:rPr>
              <a:t> </a:t>
            </a:r>
            <a:r>
              <a:rPr sz="1600" b="0" dirty="0" err="1">
                <a:solidFill>
                  <a:srgbClr val="475569"/>
                </a:solidFill>
                <a:latin typeface="Arial"/>
              </a:rPr>
              <a:t>phải</a:t>
            </a:r>
            <a:r>
              <a:rPr sz="1600" b="0" dirty="0">
                <a:solidFill>
                  <a:srgbClr val="475569"/>
                </a:solidFill>
                <a:latin typeface="Arial"/>
              </a:rPr>
              <a:t> </a:t>
            </a:r>
            <a:r>
              <a:rPr sz="1600" b="0" dirty="0" err="1">
                <a:solidFill>
                  <a:srgbClr val="475569"/>
                </a:solidFill>
                <a:latin typeface="Arial"/>
              </a:rPr>
              <a:t>bằng</a:t>
            </a:r>
            <a:r>
              <a:rPr sz="1600" b="0" dirty="0">
                <a:solidFill>
                  <a:srgbClr val="475569"/>
                </a:solidFill>
                <a:latin typeface="Arial"/>
              </a:rPr>
              <a:t> </a:t>
            </a:r>
            <a:r>
              <a:rPr sz="1600" b="0" dirty="0" err="1">
                <a:solidFill>
                  <a:srgbClr val="475569"/>
                </a:solidFill>
                <a:latin typeface="Arial"/>
              </a:rPr>
              <a:t>chứng</a:t>
            </a:r>
            <a:r>
              <a:rPr sz="1600" b="0" dirty="0">
                <a:solidFill>
                  <a:srgbClr val="475569"/>
                </a:solidFill>
                <a:latin typeface="Arial"/>
              </a:rPr>
              <a:t> </a:t>
            </a:r>
            <a:r>
              <a:rPr sz="1600" b="0" dirty="0" err="1">
                <a:solidFill>
                  <a:srgbClr val="475569"/>
                </a:solidFill>
                <a:latin typeface="Arial"/>
              </a:rPr>
              <a:t>tổng</a:t>
            </a:r>
            <a:r>
              <a:rPr sz="1600" b="0" dirty="0">
                <a:solidFill>
                  <a:srgbClr val="475569"/>
                </a:solidFill>
                <a:latin typeface="Arial"/>
              </a:rPr>
              <a:t> </a:t>
            </a:r>
            <a:r>
              <a:rPr sz="1600" b="0" dirty="0" err="1">
                <a:solidFill>
                  <a:srgbClr val="475569"/>
                </a:solidFill>
                <a:latin typeface="Arial"/>
              </a:rPr>
              <a:t>quát</a:t>
            </a:r>
            <a:r>
              <a:rPr sz="1600" b="0" dirty="0">
                <a:solidFill>
                  <a:srgbClr val="475569"/>
                </a:solidFill>
                <a:latin typeface="Arial"/>
              </a:rPr>
              <a:t>.</a:t>
            </a:r>
          </a:p>
        </p:txBody>
      </p:sp>
      <p:sp>
        <p:nvSpPr>
          <p:cNvPr id="21" name="TextBox 20"/>
          <p:cNvSpPr txBox="1"/>
          <p:nvPr/>
        </p:nvSpPr>
        <p:spPr>
          <a:xfrm>
            <a:off x="914400" y="5257800"/>
            <a:ext cx="10332720" cy="548640"/>
          </a:xfrm>
          <a:prstGeom prst="rect">
            <a:avLst/>
          </a:prstGeom>
          <a:noFill/>
        </p:spPr>
        <p:txBody>
          <a:bodyPr wrap="square" anchor="ctr">
            <a:spAutoFit/>
          </a:bodyPr>
          <a:lstStyle/>
          <a:p>
            <a:pPr algn="ctr"/>
            <a:r>
              <a:rPr sz="1250" b="0">
                <a:solidFill>
                  <a:srgbClr val="475569"/>
                </a:solidFill>
                <a:latin typeface="Arial"/>
              </a:rPr>
              <a:t>Muốn chứng minh riêng hiệu quả của luật cần thêm văn bản dài hơn 240, annotation độc lập và thí nghiệm bỏ luật để so sánh.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Box 1"/>
          <p:cNvSpPr txBox="1"/>
          <p:nvPr/>
        </p:nvSpPr>
        <p:spPr>
          <a:xfrm>
            <a:off x="530352" y="256032"/>
            <a:ext cx="10972800" cy="457200"/>
          </a:xfrm>
          <a:prstGeom prst="rect">
            <a:avLst/>
          </a:prstGeom>
          <a:noFill/>
        </p:spPr>
        <p:txBody>
          <a:bodyPr wrap="square" anchor="ctr">
            <a:spAutoFit/>
          </a:bodyPr>
          <a:lstStyle/>
          <a:p>
            <a:pPr algn="l"/>
            <a:r>
              <a:rPr sz="2800" b="1">
                <a:solidFill>
                  <a:srgbClr val="0F172A"/>
                </a:solidFill>
                <a:latin typeface="Arial"/>
              </a:rPr>
              <a:t>6. Kết luận</a:t>
            </a:r>
          </a:p>
        </p:txBody>
      </p:sp>
      <p:sp>
        <p:nvSpPr>
          <p:cNvPr id="3" name="TextBox 2"/>
          <p:cNvSpPr txBox="1"/>
          <p:nvPr/>
        </p:nvSpPr>
        <p:spPr>
          <a:xfrm>
            <a:off x="548640" y="749808"/>
            <a:ext cx="10972800" cy="310896"/>
          </a:xfrm>
          <a:prstGeom prst="rect">
            <a:avLst/>
          </a:prstGeom>
          <a:noFill/>
        </p:spPr>
        <p:txBody>
          <a:bodyPr wrap="square" anchor="ctr">
            <a:spAutoFit/>
          </a:bodyPr>
          <a:lstStyle/>
          <a:p>
            <a:pPr algn="l"/>
            <a:r>
              <a:rPr sz="1300" b="0">
                <a:solidFill>
                  <a:srgbClr val="475569"/>
                </a:solidFill>
                <a:latin typeface="Arial"/>
              </a:rPr>
              <a:t>Phương pháp có điểm mạnh rõ, nhưng cũng có giới hạn rõ</a:t>
            </a:r>
          </a:p>
        </p:txBody>
      </p:sp>
      <p:sp>
        <p:nvSpPr>
          <p:cNvPr id="4" name="Rounded Rectangle 3"/>
          <p:cNvSpPr/>
          <p:nvPr/>
        </p:nvSpPr>
        <p:spPr>
          <a:xfrm>
            <a:off x="603504" y="1115568"/>
            <a:ext cx="1417320"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33856"/>
            <a:ext cx="1298448" cy="173736"/>
          </a:xfrm>
          <a:prstGeom prst="rect">
            <a:avLst/>
          </a:prstGeom>
          <a:noFill/>
        </p:spPr>
        <p:txBody>
          <a:bodyPr wrap="square" anchor="ctr">
            <a:spAutoFit/>
          </a:bodyPr>
          <a:lstStyle/>
          <a:p>
            <a:pPr algn="ctr"/>
            <a:r>
              <a:rPr sz="1050" b="1">
                <a:solidFill>
                  <a:srgbClr val="0F766E"/>
                </a:solidFill>
                <a:latin typeface="Arial"/>
              </a:rPr>
              <a:t>KẾT LUẬN</a:t>
            </a:r>
          </a:p>
        </p:txBody>
      </p:sp>
      <p:sp>
        <p:nvSpPr>
          <p:cNvPr id="6" name="TextBox 5"/>
          <p:cNvSpPr txBox="1"/>
          <p:nvPr/>
        </p:nvSpPr>
        <p:spPr>
          <a:xfrm>
            <a:off x="11658600" y="6369130"/>
            <a:ext cx="457200" cy="246221"/>
          </a:xfrm>
          <a:prstGeom prst="rect">
            <a:avLst/>
          </a:prstGeom>
          <a:noFill/>
        </p:spPr>
        <p:txBody>
          <a:bodyPr wrap="square" anchor="ctr">
            <a:spAutoFit/>
          </a:bodyPr>
          <a:lstStyle/>
          <a:p>
            <a:pPr algn="r"/>
            <a:r>
              <a:rPr sz="1000" b="0">
                <a:solidFill>
                  <a:srgbClr val="475569"/>
                </a:solidFill>
                <a:latin typeface="Arial"/>
              </a:rPr>
              <a:t>19</a:t>
            </a:r>
          </a:p>
        </p:txBody>
      </p:sp>
      <p:sp>
        <p:nvSpPr>
          <p:cNvPr id="7" name="Rounded Rectangle 6"/>
          <p:cNvSpPr/>
          <p:nvPr/>
        </p:nvSpPr>
        <p:spPr>
          <a:xfrm>
            <a:off x="685800" y="1600200"/>
            <a:ext cx="347472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00200"/>
            <a:ext cx="73152" cy="1828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09928"/>
            <a:ext cx="3154679" cy="256032"/>
          </a:xfrm>
          <a:prstGeom prst="rect">
            <a:avLst/>
          </a:prstGeom>
          <a:noFill/>
        </p:spPr>
        <p:txBody>
          <a:bodyPr wrap="square" anchor="ctr">
            <a:spAutoFit/>
          </a:bodyPr>
          <a:lstStyle/>
          <a:p>
            <a:pPr algn="l"/>
            <a:r>
              <a:rPr sz="1300" b="1">
                <a:solidFill>
                  <a:srgbClr val="0F172A"/>
                </a:solidFill>
                <a:latin typeface="Arial"/>
              </a:rPr>
              <a:t>Điểm làm tốt</a:t>
            </a:r>
          </a:p>
        </p:txBody>
      </p:sp>
      <p:sp>
        <p:nvSpPr>
          <p:cNvPr id="10" name="TextBox 9"/>
          <p:cNvSpPr txBox="1"/>
          <p:nvPr/>
        </p:nvSpPr>
        <p:spPr>
          <a:xfrm>
            <a:off x="886968" y="2075688"/>
            <a:ext cx="3154679" cy="1243584"/>
          </a:xfrm>
          <a:prstGeom prst="rect">
            <a:avLst/>
          </a:prstGeom>
          <a:noFill/>
        </p:spPr>
        <p:txBody>
          <a:bodyPr wrap="square" anchor="t">
            <a:spAutoFit/>
          </a:bodyPr>
          <a:lstStyle/>
          <a:p>
            <a:pPr algn="l"/>
            <a:r>
              <a:rPr sz="1300" b="0">
                <a:solidFill>
                  <a:srgbClr val="475569"/>
                </a:solidFill>
                <a:latin typeface="Arial"/>
              </a:rPr>
              <a:t>• Giữ trọn câu bằng chứng tốt hơn trong benchmark hiện tại.
• Tốt hơn Max–Min ở context gốc.
• Có cơ chế xét độ dài, chuyển ý và liên kết tiếng Việt.</a:t>
            </a:r>
          </a:p>
        </p:txBody>
      </p:sp>
      <p:sp>
        <p:nvSpPr>
          <p:cNvPr id="11" name="Rounded Rectangle 10"/>
          <p:cNvSpPr/>
          <p:nvPr/>
        </p:nvSpPr>
        <p:spPr>
          <a:xfrm>
            <a:off x="4370832" y="1600200"/>
            <a:ext cx="347472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600200"/>
            <a:ext cx="73152" cy="18288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709928"/>
            <a:ext cx="3154679" cy="256032"/>
          </a:xfrm>
          <a:prstGeom prst="rect">
            <a:avLst/>
          </a:prstGeom>
          <a:noFill/>
        </p:spPr>
        <p:txBody>
          <a:bodyPr wrap="square" anchor="ctr">
            <a:spAutoFit/>
          </a:bodyPr>
          <a:lstStyle/>
          <a:p>
            <a:pPr algn="l"/>
            <a:r>
              <a:rPr sz="1300" b="1">
                <a:solidFill>
                  <a:srgbClr val="0F172A"/>
                </a:solidFill>
                <a:latin typeface="Arial"/>
              </a:rPr>
              <a:t>Điểm chưa tốt</a:t>
            </a:r>
          </a:p>
        </p:txBody>
      </p:sp>
      <p:sp>
        <p:nvSpPr>
          <p:cNvPr id="14" name="TextBox 13"/>
          <p:cNvSpPr txBox="1"/>
          <p:nvPr/>
        </p:nvSpPr>
        <p:spPr>
          <a:xfrm>
            <a:off x="4572000" y="2075688"/>
            <a:ext cx="3154679" cy="1243584"/>
          </a:xfrm>
          <a:prstGeom prst="rect">
            <a:avLst/>
          </a:prstGeom>
          <a:noFill/>
        </p:spPr>
        <p:txBody>
          <a:bodyPr wrap="square" anchor="t">
            <a:spAutoFit/>
          </a:bodyPr>
          <a:lstStyle/>
          <a:p>
            <a:pPr algn="l"/>
            <a:r>
              <a:rPr sz="1300" b="0">
                <a:solidFill>
                  <a:srgbClr val="475569"/>
                </a:solidFill>
                <a:latin typeface="Arial"/>
              </a:rPr>
              <a:t>• Chunk thường quá lớn.
• Lấy nhiều context hơn.
• Kém Max–Min trên văn bản ghép dài.
• Nhiều chunk vượt giới hạn 128 token của embedding.</a:t>
            </a:r>
          </a:p>
        </p:txBody>
      </p:sp>
      <p:sp>
        <p:nvSpPr>
          <p:cNvPr id="15" name="Rounded Rectangle 14"/>
          <p:cNvSpPr/>
          <p:nvPr/>
        </p:nvSpPr>
        <p:spPr>
          <a:xfrm>
            <a:off x="8055864" y="1600200"/>
            <a:ext cx="347472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55864" y="1600200"/>
            <a:ext cx="73152" cy="1828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2" y="1709928"/>
            <a:ext cx="3154679" cy="256032"/>
          </a:xfrm>
          <a:prstGeom prst="rect">
            <a:avLst/>
          </a:prstGeom>
          <a:noFill/>
        </p:spPr>
        <p:txBody>
          <a:bodyPr wrap="square" anchor="ctr">
            <a:spAutoFit/>
          </a:bodyPr>
          <a:lstStyle/>
          <a:p>
            <a:pPr algn="l"/>
            <a:r>
              <a:rPr sz="1300" b="1">
                <a:solidFill>
                  <a:srgbClr val="0F172A"/>
                </a:solidFill>
                <a:latin typeface="Arial"/>
              </a:rPr>
              <a:t>Kết luận chính</a:t>
            </a:r>
          </a:p>
        </p:txBody>
      </p:sp>
      <p:sp>
        <p:nvSpPr>
          <p:cNvPr id="18" name="TextBox 17"/>
          <p:cNvSpPr txBox="1"/>
          <p:nvPr/>
        </p:nvSpPr>
        <p:spPr>
          <a:xfrm>
            <a:off x="8257032" y="2075688"/>
            <a:ext cx="3154679" cy="1243584"/>
          </a:xfrm>
          <a:prstGeom prst="rect">
            <a:avLst/>
          </a:prstGeom>
          <a:noFill/>
        </p:spPr>
        <p:txBody>
          <a:bodyPr wrap="square" anchor="t">
            <a:spAutoFit/>
          </a:bodyPr>
          <a:lstStyle/>
          <a:p>
            <a:pPr algn="l"/>
            <a:r>
              <a:rPr sz="1300" b="0">
                <a:solidFill>
                  <a:srgbClr val="475569"/>
                </a:solidFill>
                <a:latin typeface="Arial"/>
              </a:rPr>
              <a:t>Không có phương pháp thắng trong mọi trường hợp. Hiệu quả phụ thuộc độ dài tài liệu và sự cân bằng giữa “giữ đủ ngữ cảnh” với “giữ chunk đủ tập trung”.</a:t>
            </a:r>
          </a:p>
        </p:txBody>
      </p:sp>
      <p:sp>
        <p:nvSpPr>
          <p:cNvPr id="19" name="Rounded Rectangle 18"/>
          <p:cNvSpPr/>
          <p:nvPr/>
        </p:nvSpPr>
        <p:spPr>
          <a:xfrm>
            <a:off x="914400" y="3977639"/>
            <a:ext cx="1028700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4400" y="3977639"/>
            <a:ext cx="73152" cy="13258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5568" y="4087368"/>
            <a:ext cx="9966960" cy="256032"/>
          </a:xfrm>
          <a:prstGeom prst="rect">
            <a:avLst/>
          </a:prstGeom>
          <a:noFill/>
        </p:spPr>
        <p:txBody>
          <a:bodyPr wrap="square" anchor="ctr">
            <a:spAutoFit/>
          </a:bodyPr>
          <a:lstStyle/>
          <a:p>
            <a:pPr algn="l"/>
            <a:r>
              <a:rPr sz="1300" b="1">
                <a:solidFill>
                  <a:srgbClr val="0F172A"/>
                </a:solidFill>
                <a:latin typeface="Arial"/>
              </a:rPr>
              <a:t>Hướng hoàn thiện</a:t>
            </a:r>
          </a:p>
        </p:txBody>
      </p:sp>
      <p:sp>
        <p:nvSpPr>
          <p:cNvPr id="22" name="TextBox 21"/>
          <p:cNvSpPr txBox="1"/>
          <p:nvPr/>
        </p:nvSpPr>
        <p:spPr>
          <a:xfrm>
            <a:off x="1115568" y="4453127"/>
            <a:ext cx="9966960" cy="584775"/>
          </a:xfrm>
          <a:prstGeom prst="rect">
            <a:avLst/>
          </a:prstGeom>
          <a:noFill/>
        </p:spPr>
        <p:txBody>
          <a:bodyPr wrap="square" anchor="t">
            <a:spAutoFit/>
          </a:bodyPr>
          <a:lstStyle/>
          <a:p>
            <a:pPr algn="l"/>
            <a:r>
              <a:rPr sz="1600" b="0" dirty="0" err="1">
                <a:solidFill>
                  <a:srgbClr val="475569"/>
                </a:solidFill>
                <a:latin typeface="Arial"/>
              </a:rPr>
              <a:t>Giới</a:t>
            </a:r>
            <a:r>
              <a:rPr sz="1600" b="0" dirty="0">
                <a:solidFill>
                  <a:srgbClr val="475569"/>
                </a:solidFill>
                <a:latin typeface="Arial"/>
              </a:rPr>
              <a:t> </a:t>
            </a:r>
            <a:r>
              <a:rPr sz="1600" b="0" dirty="0" err="1">
                <a:solidFill>
                  <a:srgbClr val="475569"/>
                </a:solidFill>
                <a:latin typeface="Arial"/>
              </a:rPr>
              <a:t>hạn</a:t>
            </a:r>
            <a:r>
              <a:rPr sz="1600" b="0" dirty="0">
                <a:solidFill>
                  <a:srgbClr val="475569"/>
                </a:solidFill>
                <a:latin typeface="Arial"/>
              </a:rPr>
              <a:t> context </a:t>
            </a:r>
            <a:r>
              <a:rPr sz="1600" b="0" dirty="0" err="1">
                <a:solidFill>
                  <a:srgbClr val="475569"/>
                </a:solidFill>
                <a:latin typeface="Arial"/>
              </a:rPr>
              <a:t>công</a:t>
            </a:r>
            <a:r>
              <a:rPr sz="1600" b="0" dirty="0">
                <a:solidFill>
                  <a:srgbClr val="475569"/>
                </a:solidFill>
                <a:latin typeface="Arial"/>
              </a:rPr>
              <a:t> </a:t>
            </a:r>
            <a:r>
              <a:rPr sz="1600" b="0" dirty="0" err="1">
                <a:solidFill>
                  <a:srgbClr val="475569"/>
                </a:solidFill>
                <a:latin typeface="Arial"/>
              </a:rPr>
              <a:t>bằng</a:t>
            </a:r>
            <a:r>
              <a:rPr sz="1600" b="0" dirty="0">
                <a:solidFill>
                  <a:srgbClr val="475569"/>
                </a:solidFill>
                <a:latin typeface="Arial"/>
              </a:rPr>
              <a:t> </a:t>
            </a:r>
            <a:r>
              <a:rPr sz="1600" b="0" dirty="0" err="1">
                <a:solidFill>
                  <a:srgbClr val="475569"/>
                </a:solidFill>
                <a:latin typeface="Arial"/>
              </a:rPr>
              <a:t>hơn</a:t>
            </a:r>
            <a:r>
              <a:rPr sz="1600" b="0" dirty="0">
                <a:solidFill>
                  <a:srgbClr val="475569"/>
                </a:solidFill>
                <a:latin typeface="Arial"/>
              </a:rPr>
              <a:t> • </a:t>
            </a:r>
            <a:r>
              <a:rPr sz="1600" b="0" dirty="0" err="1">
                <a:solidFill>
                  <a:srgbClr val="475569"/>
                </a:solidFill>
                <a:latin typeface="Arial"/>
              </a:rPr>
              <a:t>kiểm</a:t>
            </a:r>
            <a:r>
              <a:rPr sz="1600" b="0" dirty="0">
                <a:solidFill>
                  <a:srgbClr val="475569"/>
                </a:solidFill>
                <a:latin typeface="Arial"/>
              </a:rPr>
              <a:t> </a:t>
            </a:r>
            <a:r>
              <a:rPr sz="1600" b="0" dirty="0" err="1">
                <a:solidFill>
                  <a:srgbClr val="475569"/>
                </a:solidFill>
                <a:latin typeface="Arial"/>
              </a:rPr>
              <a:t>tra</a:t>
            </a:r>
            <a:r>
              <a:rPr sz="1600" b="0" dirty="0">
                <a:solidFill>
                  <a:srgbClr val="475569"/>
                </a:solidFill>
                <a:latin typeface="Arial"/>
              </a:rPr>
              <a:t> </a:t>
            </a:r>
            <a:r>
              <a:rPr sz="1600" b="0" dirty="0" err="1">
                <a:solidFill>
                  <a:srgbClr val="475569"/>
                </a:solidFill>
                <a:latin typeface="Arial"/>
              </a:rPr>
              <a:t>phần</a:t>
            </a:r>
            <a:r>
              <a:rPr sz="1600" b="0" dirty="0">
                <a:solidFill>
                  <a:srgbClr val="475569"/>
                </a:solidFill>
                <a:latin typeface="Arial"/>
              </a:rPr>
              <a:t> evidence </a:t>
            </a:r>
            <a:r>
              <a:rPr sz="1600" b="0" dirty="0" err="1">
                <a:solidFill>
                  <a:srgbClr val="475569"/>
                </a:solidFill>
                <a:latin typeface="Arial"/>
              </a:rPr>
              <a:t>bị</a:t>
            </a:r>
            <a:r>
              <a:rPr sz="1600" b="0" dirty="0">
                <a:solidFill>
                  <a:srgbClr val="475569"/>
                </a:solidFill>
                <a:latin typeface="Arial"/>
              </a:rPr>
              <a:t> </a:t>
            </a:r>
            <a:r>
              <a:rPr sz="1600" b="0" dirty="0" err="1">
                <a:solidFill>
                  <a:srgbClr val="475569"/>
                </a:solidFill>
                <a:latin typeface="Arial"/>
              </a:rPr>
              <a:t>cắt</a:t>
            </a:r>
            <a:r>
              <a:rPr sz="1600" b="0" dirty="0">
                <a:solidFill>
                  <a:srgbClr val="475569"/>
                </a:solidFill>
                <a:latin typeface="Arial"/>
              </a:rPr>
              <a:t> </a:t>
            </a:r>
            <a:r>
              <a:rPr sz="1600" b="0" dirty="0" err="1">
                <a:solidFill>
                  <a:srgbClr val="475569"/>
                </a:solidFill>
                <a:latin typeface="Arial"/>
              </a:rPr>
              <a:t>bởi</a:t>
            </a:r>
            <a:r>
              <a:rPr sz="1600" b="0" dirty="0">
                <a:solidFill>
                  <a:srgbClr val="475569"/>
                </a:solidFill>
                <a:latin typeface="Arial"/>
              </a:rPr>
              <a:t> tokenizer • </a:t>
            </a:r>
            <a:r>
              <a:rPr sz="1600" b="0" dirty="0" err="1">
                <a:solidFill>
                  <a:srgbClr val="475569"/>
                </a:solidFill>
                <a:latin typeface="Arial"/>
              </a:rPr>
              <a:t>xây</a:t>
            </a:r>
            <a:r>
              <a:rPr sz="1600" b="0" dirty="0">
                <a:solidFill>
                  <a:srgbClr val="475569"/>
                </a:solidFill>
                <a:latin typeface="Arial"/>
              </a:rPr>
              <a:t> </a:t>
            </a:r>
            <a:r>
              <a:rPr sz="1600" b="0" dirty="0" err="1">
                <a:solidFill>
                  <a:srgbClr val="475569"/>
                </a:solidFill>
                <a:latin typeface="Arial"/>
              </a:rPr>
              <a:t>bộ</a:t>
            </a:r>
            <a:r>
              <a:rPr sz="1600" b="0" dirty="0">
                <a:solidFill>
                  <a:srgbClr val="475569"/>
                </a:solidFill>
                <a:latin typeface="Arial"/>
              </a:rPr>
              <a:t> test dependency </a:t>
            </a:r>
            <a:r>
              <a:rPr sz="1600" b="0" dirty="0" err="1">
                <a:solidFill>
                  <a:srgbClr val="475569"/>
                </a:solidFill>
                <a:latin typeface="Arial"/>
              </a:rPr>
              <a:t>lớn</a:t>
            </a:r>
            <a:r>
              <a:rPr sz="1600" b="0" dirty="0">
                <a:solidFill>
                  <a:srgbClr val="475569"/>
                </a:solidFill>
                <a:latin typeface="Arial"/>
              </a:rPr>
              <a:t> </a:t>
            </a:r>
            <a:r>
              <a:rPr sz="1600" b="0" dirty="0" err="1">
                <a:solidFill>
                  <a:srgbClr val="475569"/>
                </a:solidFill>
                <a:latin typeface="Arial"/>
              </a:rPr>
              <a:t>hơn</a:t>
            </a:r>
            <a:r>
              <a:rPr sz="1600" b="0" dirty="0">
                <a:solidFill>
                  <a:srgbClr val="475569"/>
                </a:solidFill>
                <a:latin typeface="Arial"/>
              </a:rPr>
              <a:t> • ablation </a:t>
            </a:r>
            <a:r>
              <a:rPr sz="1600" b="0" dirty="0" err="1">
                <a:solidFill>
                  <a:srgbClr val="475569"/>
                </a:solidFill>
                <a:latin typeface="Arial"/>
              </a:rPr>
              <a:t>từng</a:t>
            </a:r>
            <a:r>
              <a:rPr sz="1600" b="0" dirty="0">
                <a:solidFill>
                  <a:srgbClr val="475569"/>
                </a:solidFill>
                <a:latin typeface="Arial"/>
              </a:rPr>
              <a:t> </a:t>
            </a:r>
            <a:r>
              <a:rPr sz="1600" b="0" dirty="0" err="1">
                <a:solidFill>
                  <a:srgbClr val="475569"/>
                </a:solidFill>
                <a:latin typeface="Arial"/>
              </a:rPr>
              <a:t>thành</a:t>
            </a:r>
            <a:r>
              <a:rPr sz="1600" b="0" dirty="0">
                <a:solidFill>
                  <a:srgbClr val="475569"/>
                </a:solidFill>
                <a:latin typeface="Arial"/>
              </a:rPr>
              <a:t> </a:t>
            </a:r>
            <a:r>
              <a:rPr sz="1600" b="0" dirty="0" err="1">
                <a:solidFill>
                  <a:srgbClr val="475569"/>
                </a:solidFill>
                <a:latin typeface="Arial"/>
              </a:rPr>
              <a:t>phần</a:t>
            </a:r>
            <a:r>
              <a:rPr sz="1600" b="0" dirty="0">
                <a:solidFill>
                  <a:srgbClr val="475569"/>
                </a:solidFill>
                <a:latin typeface="Arial"/>
              </a:rPr>
              <a:t> • </a:t>
            </a:r>
            <a:r>
              <a:rPr sz="1600" b="0" dirty="0" err="1">
                <a:solidFill>
                  <a:srgbClr val="475569"/>
                </a:solidFill>
                <a:latin typeface="Arial"/>
              </a:rPr>
              <a:t>đánh</a:t>
            </a:r>
            <a:r>
              <a:rPr sz="1600" b="0" dirty="0">
                <a:solidFill>
                  <a:srgbClr val="475569"/>
                </a:solidFill>
                <a:latin typeface="Arial"/>
              </a:rPr>
              <a:t> </a:t>
            </a:r>
            <a:r>
              <a:rPr sz="1600" b="0" dirty="0" err="1">
                <a:solidFill>
                  <a:srgbClr val="475569"/>
                </a:solidFill>
                <a:latin typeface="Arial"/>
              </a:rPr>
              <a:t>giá</a:t>
            </a:r>
            <a:r>
              <a:rPr sz="1600" b="0" dirty="0">
                <a:solidFill>
                  <a:srgbClr val="475569"/>
                </a:solidFill>
                <a:latin typeface="Arial"/>
              </a:rPr>
              <a:t> </a:t>
            </a:r>
            <a:r>
              <a:rPr sz="1600" b="0" dirty="0" err="1">
                <a:solidFill>
                  <a:srgbClr val="475569"/>
                </a:solidFill>
                <a:latin typeface="Arial"/>
              </a:rPr>
              <a:t>thêm</a:t>
            </a:r>
            <a:r>
              <a:rPr sz="1600" b="0" dirty="0">
                <a:solidFill>
                  <a:srgbClr val="475569"/>
                </a:solidFill>
                <a:latin typeface="Arial"/>
              </a:rPr>
              <a:t> </a:t>
            </a:r>
            <a:r>
              <a:rPr sz="1600" b="0" dirty="0" err="1">
                <a:solidFill>
                  <a:srgbClr val="475569"/>
                </a:solidFill>
                <a:latin typeface="Arial"/>
              </a:rPr>
              <a:t>với</a:t>
            </a:r>
            <a:r>
              <a:rPr sz="1600" b="0" dirty="0">
                <a:solidFill>
                  <a:srgbClr val="475569"/>
                </a:solidFill>
                <a:latin typeface="Arial"/>
              </a:rPr>
              <a:t> </a:t>
            </a:r>
            <a:r>
              <a:rPr sz="1600" b="0" dirty="0" err="1">
                <a:solidFill>
                  <a:srgbClr val="475569"/>
                </a:solidFill>
                <a:latin typeface="Arial"/>
              </a:rPr>
              <a:t>cùng</a:t>
            </a:r>
            <a:r>
              <a:rPr sz="1600" b="0" dirty="0">
                <a:solidFill>
                  <a:srgbClr val="475569"/>
                </a:solidFill>
                <a:latin typeface="Arial"/>
              </a:rPr>
              <a:t> </a:t>
            </a:r>
            <a:r>
              <a:rPr sz="1600" b="0" dirty="0" err="1">
                <a:solidFill>
                  <a:srgbClr val="475569"/>
                </a:solidFill>
                <a:latin typeface="Arial"/>
              </a:rPr>
              <a:t>một</a:t>
            </a:r>
            <a:r>
              <a:rPr sz="1600" b="0" dirty="0">
                <a:solidFill>
                  <a:srgbClr val="475569"/>
                </a:solidFill>
                <a:latin typeface="Arial"/>
              </a:rPr>
              <a:t> LLM.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Box 1"/>
          <p:cNvSpPr txBox="1"/>
          <p:nvPr/>
        </p:nvSpPr>
        <p:spPr>
          <a:xfrm>
            <a:off x="731520" y="1325880"/>
            <a:ext cx="10744200" cy="640080"/>
          </a:xfrm>
          <a:prstGeom prst="rect">
            <a:avLst/>
          </a:prstGeom>
          <a:noFill/>
        </p:spPr>
        <p:txBody>
          <a:bodyPr wrap="square" anchor="ctr">
            <a:spAutoFit/>
          </a:bodyPr>
          <a:lstStyle/>
          <a:p>
            <a:pPr algn="ctr"/>
            <a:r>
              <a:rPr sz="3000" b="1">
                <a:solidFill>
                  <a:srgbClr val="0F172A"/>
                </a:solidFill>
                <a:latin typeface="Arial"/>
              </a:rPr>
              <a:t>CẢM ƠN THẦY VÀ CÁC BẠN</a:t>
            </a:r>
          </a:p>
        </p:txBody>
      </p:sp>
      <p:sp>
        <p:nvSpPr>
          <p:cNvPr id="3" name="TextBox 2"/>
          <p:cNvSpPr txBox="1"/>
          <p:nvPr/>
        </p:nvSpPr>
        <p:spPr>
          <a:xfrm>
            <a:off x="1097280" y="2148840"/>
            <a:ext cx="10012680" cy="457200"/>
          </a:xfrm>
          <a:prstGeom prst="rect">
            <a:avLst/>
          </a:prstGeom>
          <a:noFill/>
        </p:spPr>
        <p:txBody>
          <a:bodyPr wrap="square" anchor="ctr">
            <a:spAutoFit/>
          </a:bodyPr>
          <a:lstStyle/>
          <a:p>
            <a:pPr algn="ctr"/>
            <a:r>
              <a:rPr sz="2000" b="1">
                <a:solidFill>
                  <a:srgbClr val="0F766E"/>
                </a:solidFill>
                <a:latin typeface="Arial"/>
              </a:rPr>
              <a:t>ĐÃ LẮNG NGHE PHẦN TRÌNH BÀY</a:t>
            </a:r>
          </a:p>
        </p:txBody>
      </p:sp>
      <p:sp>
        <p:nvSpPr>
          <p:cNvPr id="4" name="Rectangle 3"/>
          <p:cNvSpPr/>
          <p:nvPr/>
        </p:nvSpPr>
        <p:spPr>
          <a:xfrm>
            <a:off x="4754880" y="2834640"/>
            <a:ext cx="26517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3246120"/>
            <a:ext cx="9372600" cy="548640"/>
          </a:xfrm>
          <a:prstGeom prst="rect">
            <a:avLst/>
          </a:prstGeom>
          <a:noFill/>
        </p:spPr>
        <p:txBody>
          <a:bodyPr wrap="square" anchor="ctr">
            <a:spAutoFit/>
          </a:bodyPr>
          <a:lstStyle/>
          <a:p>
            <a:pPr algn="ctr"/>
            <a:r>
              <a:rPr sz="2200" b="1">
                <a:solidFill>
                  <a:srgbClr val="0F172A"/>
                </a:solidFill>
                <a:latin typeface="Arial"/>
              </a:rPr>
              <a:t>Câu hỏi &amp; Trao đổi</a:t>
            </a:r>
          </a:p>
        </p:txBody>
      </p:sp>
      <p:sp>
        <p:nvSpPr>
          <p:cNvPr id="6" name="TextBox 5"/>
          <p:cNvSpPr txBox="1"/>
          <p:nvPr/>
        </p:nvSpPr>
        <p:spPr>
          <a:xfrm>
            <a:off x="1417320" y="3977639"/>
            <a:ext cx="9372600" cy="731520"/>
          </a:xfrm>
          <a:prstGeom prst="rect">
            <a:avLst/>
          </a:prstGeom>
          <a:noFill/>
        </p:spPr>
        <p:txBody>
          <a:bodyPr wrap="square" anchor="ctr">
            <a:spAutoFit/>
          </a:bodyPr>
          <a:lstStyle/>
          <a:p>
            <a:pPr algn="ctr"/>
            <a:r>
              <a:rPr sz="1500" b="0">
                <a:solidFill>
                  <a:srgbClr val="475569"/>
                </a:solidFill>
                <a:latin typeface="Arial"/>
              </a:rPr>
              <a:t>Đề tài: Cải tiến phân đoạn văn bản tiếng Việt dựa trên ngữ nghĩa
nhằm hạn chế mất thông tin tại ranh giới chunk</a:t>
            </a:r>
          </a:p>
        </p:txBody>
      </p:sp>
      <p:sp>
        <p:nvSpPr>
          <p:cNvPr id="7" name="TextBox 6"/>
          <p:cNvSpPr txBox="1"/>
          <p:nvPr/>
        </p:nvSpPr>
        <p:spPr>
          <a:xfrm>
            <a:off x="11658599" y="6369130"/>
            <a:ext cx="447675" cy="246221"/>
          </a:xfrm>
          <a:prstGeom prst="rect">
            <a:avLst/>
          </a:prstGeom>
          <a:noFill/>
        </p:spPr>
        <p:txBody>
          <a:bodyPr wrap="square" anchor="ctr">
            <a:spAutoFit/>
          </a:bodyPr>
          <a:lstStyle/>
          <a:p>
            <a:pPr algn="r"/>
            <a:r>
              <a:rPr sz="1000" b="0">
                <a:solidFill>
                  <a:srgbClr val="475569"/>
                </a:solidFill>
                <a:latin typeface="Arial"/>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2811</Words>
  <Application>Microsoft Office PowerPoint</Application>
  <PresentationFormat>Widescreen</PresentationFormat>
  <Paragraphs>364</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Cải tiến phân đoạn văn bản tiếng Việt dựa trên ngữ nghĩa</dc:title>
  <dc:subject>Vietnamese semantic chunking for RAG</dc:subject>
  <dc:creator>OpenAI</dc:creator>
  <cp:lastModifiedBy>Nguyen Bien</cp:lastModifiedBy>
  <cp:revision>2</cp:revision>
  <dcterms:created xsi:type="dcterms:W3CDTF">2026-10-30T06:59:18Z</dcterms:created>
  <dcterms:modified xsi:type="dcterms:W3CDTF">2026-10-30T08:09:21Z</dcterms:modified>
</cp:coreProperties>
</file>